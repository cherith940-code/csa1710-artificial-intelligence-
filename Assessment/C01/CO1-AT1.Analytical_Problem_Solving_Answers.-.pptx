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200" y="-43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2616097" y="1410725"/>
            <a:ext cx="2397760" cy="4819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1985"/>
              </a:lnSpc>
              <a:spcBef>
                <a:spcPts val="130"/>
              </a:spcBef>
            </a:pPr>
            <a:r>
              <a:rPr sz="1700" dirty="0">
                <a:latin typeface="Book Antiqua"/>
                <a:cs typeface="Book Antiqua"/>
              </a:rPr>
              <a:t>SIMATS</a:t>
            </a:r>
            <a:r>
              <a:rPr sz="1700" spc="35" dirty="0">
                <a:latin typeface="Book Antiqua"/>
                <a:cs typeface="Book Antiqua"/>
              </a:rPr>
              <a:t> </a:t>
            </a:r>
            <a:r>
              <a:rPr sz="1700" spc="-25" dirty="0">
                <a:latin typeface="Book Antiqua"/>
                <a:cs typeface="Book Antiqua"/>
              </a:rPr>
              <a:t>ENGINEERING</a:t>
            </a:r>
            <a:endParaRPr sz="1700">
              <a:latin typeface="Book Antiqua"/>
              <a:cs typeface="Book Antiqua"/>
            </a:endParaRPr>
          </a:p>
          <a:p>
            <a:pPr marR="16510" algn="ctr">
              <a:lnSpc>
                <a:spcPts val="1565"/>
              </a:lnSpc>
            </a:pPr>
            <a:r>
              <a:rPr sz="1350" dirty="0">
                <a:latin typeface="Times New Roman"/>
                <a:cs typeface="Times New Roman"/>
              </a:rPr>
              <a:t>ASSESSMENT</a:t>
            </a:r>
            <a:r>
              <a:rPr sz="1350" spc="325" dirty="0">
                <a:latin typeface="Times New Roman"/>
                <a:cs typeface="Times New Roman"/>
              </a:rPr>
              <a:t> </a:t>
            </a:r>
            <a:r>
              <a:rPr sz="1350" spc="75" dirty="0">
                <a:latin typeface="Times New Roman"/>
                <a:cs typeface="Times New Roman"/>
              </a:rPr>
              <a:t>TOOL</a:t>
            </a:r>
            <a:r>
              <a:rPr sz="1350" spc="114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990" y="2334130"/>
            <a:ext cx="121094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latin typeface="Arial"/>
                <a:cs typeface="Arial"/>
              </a:rPr>
              <a:t>COURBE</a:t>
            </a:r>
            <a:r>
              <a:rPr sz="1150" spc="235" dirty="0">
                <a:latin typeface="Arial"/>
                <a:cs typeface="Arial"/>
              </a:rPr>
              <a:t> </a:t>
            </a:r>
            <a:r>
              <a:rPr sz="1150" spc="-10" dirty="0">
                <a:latin typeface="Arial"/>
                <a:cs typeface="Arial"/>
              </a:rPr>
              <a:t>NAME: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97788" y="2334130"/>
            <a:ext cx="148717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55" dirty="0">
                <a:latin typeface="Arial"/>
                <a:cs typeface="Arial"/>
              </a:rPr>
              <a:t>Artificial</a:t>
            </a:r>
            <a:r>
              <a:rPr sz="1150" spc="60" dirty="0">
                <a:latin typeface="Arial"/>
                <a:cs typeface="Arial"/>
              </a:rPr>
              <a:t> </a:t>
            </a:r>
            <a:r>
              <a:rPr sz="1150" spc="-10" dirty="0">
                <a:latin typeface="Arial"/>
                <a:cs typeface="Arial"/>
              </a:rPr>
              <a:t>Intelligence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00014" y="2327849"/>
            <a:ext cx="174053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Arial"/>
                <a:cs typeface="Arial"/>
              </a:rPr>
              <a:t>COURBE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CODE: </a:t>
            </a:r>
            <a:r>
              <a:rPr sz="1200" spc="-10" dirty="0">
                <a:latin typeface="Arial"/>
                <a:cs typeface="Arial"/>
              </a:rPr>
              <a:t>C9A17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3191" y="3036808"/>
            <a:ext cx="5704840" cy="0"/>
          </a:xfrm>
          <a:custGeom>
            <a:avLst/>
            <a:gdLst/>
            <a:ahLst/>
            <a:cxnLst/>
            <a:rect l="l" t="t" r="r" b="b"/>
            <a:pathLst>
              <a:path w="5704840">
                <a:moveTo>
                  <a:pt x="0" y="0"/>
                </a:moveTo>
                <a:lnTo>
                  <a:pt x="5704347" y="0"/>
                </a:lnTo>
              </a:path>
            </a:pathLst>
          </a:custGeom>
          <a:ln w="211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3339" y="3347990"/>
            <a:ext cx="5863590" cy="1131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Times New Roman"/>
                <a:cs typeface="Times New Roman"/>
              </a:rPr>
              <a:t>COURSE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COVERED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imes New Roman"/>
              <a:cs typeface="Times New Roman"/>
            </a:endParaRPr>
          </a:p>
          <a:p>
            <a:pPr marL="63500" marR="55880" indent="6985">
              <a:lnSpc>
                <a:spcPts val="1350"/>
              </a:lnSpc>
            </a:pPr>
            <a:r>
              <a:rPr sz="1150" i="1" dirty="0">
                <a:latin typeface="Times New Roman"/>
                <a:cs typeface="Times New Roman"/>
              </a:rPr>
              <a:t>COIL</a:t>
            </a:r>
            <a:r>
              <a:rPr sz="1150" i="1" spc="1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Apply</a:t>
            </a:r>
            <a:r>
              <a:rPr sz="1150" spc="2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</a:t>
            </a:r>
            <a:r>
              <a:rPr sz="1150" spc="310" dirty="0">
                <a:latin typeface="Times New Roman"/>
                <a:cs typeface="Times New Roman"/>
              </a:rPr>
              <a:t> </a:t>
            </a:r>
            <a:r>
              <a:rPr sz="1150" spc="95" dirty="0">
                <a:latin typeface="Times New Roman"/>
                <a:cs typeface="Times New Roman"/>
              </a:rPr>
              <a:t>hasirs</a:t>
            </a:r>
            <a:r>
              <a:rPr sz="1150" spc="175" dirty="0">
                <a:latin typeface="Times New Roman"/>
                <a:cs typeface="Times New Roman"/>
              </a:rPr>
              <a:t> </a:t>
            </a:r>
            <a:r>
              <a:rPr sz="1150" spc="85" dirty="0">
                <a:latin typeface="Times New Roman"/>
                <a:cs typeface="Times New Roman"/>
              </a:rPr>
              <a:t>such</a:t>
            </a:r>
            <a:r>
              <a:rPr sz="1150" spc="300" dirty="0">
                <a:latin typeface="Times New Roman"/>
                <a:cs typeface="Times New Roman"/>
              </a:rPr>
              <a:t> </a:t>
            </a:r>
            <a:r>
              <a:rPr sz="1150" spc="75" dirty="0">
                <a:latin typeface="Times New Roman"/>
                <a:cs typeface="Times New Roman"/>
              </a:rPr>
              <a:t>as</a:t>
            </a:r>
            <a:r>
              <a:rPr sz="1150" spc="39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intelli</a:t>
            </a:r>
            <a:r>
              <a:rPr sz="1725" baseline="-9661" dirty="0">
                <a:latin typeface="Times New Roman"/>
                <a:cs typeface="Times New Roman"/>
              </a:rPr>
              <a:t>0</a:t>
            </a:r>
            <a:r>
              <a:rPr sz="1150" dirty="0">
                <a:latin typeface="Times New Roman"/>
                <a:cs typeface="Times New Roman"/>
              </a:rPr>
              <a:t>ent</a:t>
            </a:r>
            <a:r>
              <a:rPr sz="1150" spc="370" dirty="0">
                <a:latin typeface="Times New Roman"/>
                <a:cs typeface="Times New Roman"/>
              </a:rPr>
              <a:t> </a:t>
            </a:r>
            <a:r>
              <a:rPr sz="1150" spc="85" dirty="0">
                <a:latin typeface="Times New Roman"/>
                <a:cs typeface="Times New Roman"/>
              </a:rPr>
              <a:t>agents</a:t>
            </a:r>
            <a:r>
              <a:rPr sz="1150" spc="270" dirty="0">
                <a:latin typeface="Times New Roman"/>
                <a:cs typeface="Times New Roman"/>
              </a:rPr>
              <a:t> </a:t>
            </a:r>
            <a:r>
              <a:rPr sz="1150" spc="55" dirty="0">
                <a:latin typeface="Times New Roman"/>
                <a:cs typeface="Times New Roman"/>
              </a:rPr>
              <a:t>and</a:t>
            </a:r>
            <a:r>
              <a:rPr sz="1150" spc="434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uninformed</a:t>
            </a:r>
            <a:r>
              <a:rPr sz="1150" spc="270" dirty="0">
                <a:latin typeface="Times New Roman"/>
                <a:cs typeface="Times New Roman"/>
              </a:rPr>
              <a:t> </a:t>
            </a:r>
            <a:r>
              <a:rPr sz="1150" spc="90" dirty="0">
                <a:latin typeface="Times New Roman"/>
                <a:cs typeface="Times New Roman"/>
              </a:rPr>
              <a:t>search</a:t>
            </a:r>
            <a:r>
              <a:rPr sz="1150" spc="415" dirty="0">
                <a:latin typeface="Times New Roman"/>
                <a:cs typeface="Times New Roman"/>
              </a:rPr>
              <a:t> </a:t>
            </a:r>
            <a:r>
              <a:rPr sz="1150" spc="65" dirty="0">
                <a:latin typeface="Times New Roman"/>
                <a:cs typeface="Times New Roman"/>
              </a:rPr>
              <a:t>methods</a:t>
            </a:r>
            <a:r>
              <a:rPr sz="1150" spc="32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to </a:t>
            </a:r>
            <a:r>
              <a:rPr sz="1150" spc="55" dirty="0">
                <a:latin typeface="Times New Roman"/>
                <a:cs typeface="Times New Roman"/>
              </a:rPr>
              <a:t>solve</a:t>
            </a:r>
            <a:r>
              <a:rPr sz="1150" spc="4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problems</a:t>
            </a:r>
            <a:r>
              <a:rPr sz="1150" spc="30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effectively.</a:t>
            </a:r>
            <a:r>
              <a:rPr sz="1150" spc="225" dirty="0">
                <a:latin typeface="Times New Roman"/>
                <a:cs typeface="Times New Roman"/>
              </a:rPr>
              <a:t>  </a:t>
            </a:r>
            <a:r>
              <a:rPr sz="1150" i="1" spc="-10" dirty="0">
                <a:latin typeface="Times New Roman"/>
                <a:cs typeface="Times New Roman"/>
              </a:rPr>
              <a:t>(BL8I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5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100" i="1" spc="135" dirty="0">
                <a:latin typeface="Times New Roman"/>
                <a:cs typeface="Times New Roman"/>
              </a:rPr>
              <a:t>Assessment</a:t>
            </a:r>
            <a:r>
              <a:rPr sz="1100" i="1" spc="2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Tool</a:t>
            </a:r>
            <a:r>
              <a:rPr sz="1100" i="1" spc="190" dirty="0">
                <a:latin typeface="Times New Roman"/>
                <a:cs typeface="Times New Roman"/>
              </a:rPr>
              <a:t> </a:t>
            </a:r>
            <a:r>
              <a:rPr sz="1100" i="1" spc="95" dirty="0">
                <a:latin typeface="Times New Roman"/>
                <a:cs typeface="Times New Roman"/>
              </a:rPr>
              <a:t>Weightage:</a:t>
            </a:r>
            <a:r>
              <a:rPr sz="1100" i="1" spc="10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35"/fi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3191" y="4634864"/>
            <a:ext cx="5704840" cy="0"/>
          </a:xfrm>
          <a:custGeom>
            <a:avLst/>
            <a:gdLst/>
            <a:ahLst/>
            <a:cxnLst/>
            <a:rect l="l" t="t" r="r" b="b"/>
            <a:pathLst>
              <a:path w="5704840">
                <a:moveTo>
                  <a:pt x="0" y="0"/>
                </a:moveTo>
                <a:lnTo>
                  <a:pt x="5704347" y="0"/>
                </a:lnTo>
              </a:path>
            </a:pathLst>
          </a:custGeom>
          <a:ln w="211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25365" y="4941021"/>
            <a:ext cx="109791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85" dirty="0">
                <a:latin typeface="Trebuchet MS"/>
                <a:cs typeface="Trebuchet MS"/>
              </a:rPr>
              <a:t>QUESTIONS: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40" dirty="0">
                <a:latin typeface="Trebuchet MS"/>
                <a:cs typeface="Trebuchet MS"/>
              </a:rPr>
              <a:t>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15837" y="4939765"/>
            <a:ext cx="1257300" cy="3873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270">
              <a:lnSpc>
                <a:spcPts val="1310"/>
              </a:lnSpc>
              <a:spcBef>
                <a:spcPts val="335"/>
              </a:spcBef>
            </a:pPr>
            <a:r>
              <a:rPr sz="1250" dirty="0">
                <a:latin typeface="Arial"/>
                <a:cs typeface="Arial"/>
              </a:rPr>
              <a:t>Duration</a:t>
            </a:r>
            <a:r>
              <a:rPr sz="1250" spc="-25" dirty="0">
                <a:latin typeface="Arial"/>
                <a:cs typeface="Arial"/>
              </a:rPr>
              <a:t> </a:t>
            </a:r>
            <a:r>
              <a:rPr sz="1250" spc="-114" dirty="0">
                <a:latin typeface="Arial"/>
                <a:cs typeface="Arial"/>
              </a:rPr>
              <a:t>•</a:t>
            </a:r>
            <a:r>
              <a:rPr sz="1250" spc="-40" dirty="0">
                <a:latin typeface="Arial"/>
                <a:cs typeface="Arial"/>
              </a:rPr>
              <a:t> </a:t>
            </a:r>
            <a:r>
              <a:rPr sz="1250" dirty="0">
                <a:latin typeface="Arial"/>
                <a:cs typeface="Arial"/>
              </a:rPr>
              <a:t>1</a:t>
            </a:r>
            <a:r>
              <a:rPr sz="1250" spc="145" dirty="0">
                <a:latin typeface="Arial"/>
                <a:cs typeface="Arial"/>
              </a:rPr>
              <a:t> </a:t>
            </a:r>
            <a:r>
              <a:rPr sz="1250" spc="-20" dirty="0">
                <a:latin typeface="Arial"/>
                <a:cs typeface="Arial"/>
              </a:rPr>
              <a:t>Hour </a:t>
            </a:r>
            <a:r>
              <a:rPr sz="1250" dirty="0">
                <a:latin typeface="Arial"/>
                <a:cs typeface="Arial"/>
              </a:rPr>
              <a:t>Total</a:t>
            </a:r>
            <a:r>
              <a:rPr sz="1250" spc="30" dirty="0">
                <a:latin typeface="Arial"/>
                <a:cs typeface="Arial"/>
              </a:rPr>
              <a:t> </a:t>
            </a:r>
            <a:r>
              <a:rPr sz="1250" spc="-10" dirty="0">
                <a:latin typeface="Arial"/>
                <a:cs typeface="Arial"/>
              </a:rPr>
              <a:t>Marks:</a:t>
            </a:r>
            <a:r>
              <a:rPr sz="1250" spc="-195" dirty="0">
                <a:latin typeface="Arial"/>
                <a:cs typeface="Arial"/>
              </a:rPr>
              <a:t> </a:t>
            </a:r>
            <a:r>
              <a:rPr sz="1250" spc="-25" dirty="0">
                <a:latin typeface="Arial"/>
                <a:cs typeface="Arial"/>
              </a:rPr>
              <a:t>50</a:t>
            </a:r>
            <a:endParaRPr sz="1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58099" y="5334579"/>
            <a:ext cx="2089150" cy="70231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1019"/>
              </a:spcBef>
            </a:pPr>
            <a:r>
              <a:rPr sz="1250" spc="65" dirty="0">
                <a:latin typeface="Times New Roman"/>
                <a:cs typeface="Times New Roman"/>
              </a:rPr>
              <a:t>Annexue</a:t>
            </a:r>
            <a:r>
              <a:rPr sz="1250" spc="70" dirty="0">
                <a:latin typeface="Times New Roman"/>
                <a:cs typeface="Times New Roman"/>
              </a:rPr>
              <a:t> </a:t>
            </a:r>
            <a:r>
              <a:rPr sz="1250" spc="-50" dirty="0">
                <a:latin typeface="Times New Roman"/>
                <a:cs typeface="Times New Roman"/>
              </a:rPr>
              <a:t>A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500" u="heavy" spc="-20" dirty="0">
                <a:uFill>
                  <a:solidFill>
                    <a:srgbClr val="484848"/>
                  </a:solidFill>
                </a:uFill>
                <a:latin typeface="Times New Roman"/>
                <a:cs typeface="Times New Roman"/>
              </a:rPr>
              <a:t>Analytical</a:t>
            </a:r>
            <a:r>
              <a:rPr sz="1500" u="heavy" dirty="0">
                <a:uFill>
                  <a:solidFill>
                    <a:srgbClr val="48484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u="heavy" spc="-10" dirty="0">
                <a:uFill>
                  <a:solidFill>
                    <a:srgbClr val="484848"/>
                  </a:solidFill>
                </a:uFill>
                <a:latin typeface="Times New Roman"/>
                <a:cs typeface="Times New Roman"/>
              </a:rPr>
              <a:t>Problem</a:t>
            </a:r>
            <a:r>
              <a:rPr sz="1500" u="heavy" spc="-15" dirty="0">
                <a:uFill>
                  <a:solidFill>
                    <a:srgbClr val="48484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u="heavy" spc="-25" dirty="0">
                <a:uFill>
                  <a:solidFill>
                    <a:srgbClr val="484848"/>
                  </a:solidFill>
                </a:uFill>
                <a:latin typeface="Times New Roman"/>
                <a:cs typeface="Times New Roman"/>
              </a:rPr>
              <a:t>Solving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3191" y="6703291"/>
            <a:ext cx="5704840" cy="0"/>
          </a:xfrm>
          <a:custGeom>
            <a:avLst/>
            <a:gdLst/>
            <a:ahLst/>
            <a:cxnLst/>
            <a:rect l="l" t="t" r="r" b="b"/>
            <a:pathLst>
              <a:path w="5704840">
                <a:moveTo>
                  <a:pt x="0" y="0"/>
                </a:moveTo>
                <a:lnTo>
                  <a:pt x="5704347" y="0"/>
                </a:lnTo>
              </a:path>
            </a:pathLst>
          </a:custGeom>
          <a:ln w="21106">
            <a:solidFill>
              <a:srgbClr val="28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240" y="7065617"/>
            <a:ext cx="1084820" cy="140709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1042633" y="7538501"/>
            <a:ext cx="1518920" cy="0"/>
          </a:xfrm>
          <a:custGeom>
            <a:avLst/>
            <a:gdLst/>
            <a:ahLst/>
            <a:cxnLst/>
            <a:rect l="l" t="t" r="r" b="b"/>
            <a:pathLst>
              <a:path w="1518920">
                <a:moveTo>
                  <a:pt x="0" y="0"/>
                </a:moveTo>
                <a:lnTo>
                  <a:pt x="1518748" y="0"/>
                </a:lnTo>
              </a:path>
            </a:pathLst>
          </a:custGeom>
          <a:ln w="21106">
            <a:solidFill>
              <a:srgbClr val="70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34151" y="7407339"/>
            <a:ext cx="5735955" cy="482600"/>
            <a:chOff x="934151" y="7407339"/>
            <a:chExt cx="5735955" cy="4826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151" y="7407339"/>
              <a:ext cx="5735487" cy="1407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151" y="7578201"/>
              <a:ext cx="5554684" cy="31157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4151" y="8080733"/>
            <a:ext cx="1556918" cy="1507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B561BE-452A-96BC-9681-77DF99EB520E}"/>
              </a:ext>
            </a:extLst>
          </p:cNvPr>
          <p:cNvSpPr txBox="1"/>
          <p:nvPr/>
        </p:nvSpPr>
        <p:spPr>
          <a:xfrm>
            <a:off x="1080116" y="7307669"/>
            <a:ext cx="20948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A . Charith </a:t>
            </a:r>
            <a:r>
              <a:rPr lang="en-IN" sz="900"/>
              <a:t>Reddy </a:t>
            </a:r>
            <a:endParaRPr lang="en-IN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32" y="616207"/>
            <a:ext cx="5815330" cy="30905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83515" algn="ctr">
              <a:lnSpc>
                <a:spcPct val="100000"/>
              </a:lnSpc>
              <a:spcBef>
                <a:spcPts val="420"/>
              </a:spcBef>
            </a:pPr>
            <a:r>
              <a:rPr sz="2000" dirty="0">
                <a:latin typeface="Times New Roman"/>
                <a:cs typeface="Times New Roman"/>
              </a:rPr>
              <a:t>Analytical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Solving</a:t>
            </a:r>
            <a:endParaRPr sz="200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190"/>
              </a:spcBef>
            </a:pPr>
            <a:r>
              <a:rPr sz="1200" b="1" dirty="0">
                <a:latin typeface="Times New Roman"/>
                <a:cs typeface="Times New Roman"/>
              </a:rPr>
              <a:t>Assessment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Complete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Solutions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(CSA1710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Artificial</a:t>
            </a:r>
            <a:r>
              <a:rPr sz="1200" b="1" spc="-10" dirty="0">
                <a:latin typeface="Times New Roman"/>
                <a:cs typeface="Times New Roman"/>
              </a:rPr>
              <a:t> Intelligence)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Question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Water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Jug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Problem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(4-gallon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3-</a:t>
            </a:r>
            <a:r>
              <a:rPr sz="1400" b="1" dirty="0">
                <a:latin typeface="Times New Roman"/>
                <a:cs typeface="Times New Roman"/>
              </a:rPr>
              <a:t>gallon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jugs)</a:t>
            </a:r>
            <a:endParaRPr sz="1400">
              <a:latin typeface="Times New Roman"/>
              <a:cs typeface="Times New Roman"/>
            </a:endParaRPr>
          </a:p>
          <a:p>
            <a:pPr marL="166370" indent="-153670">
              <a:lnSpc>
                <a:spcPct val="100000"/>
              </a:lnSpc>
              <a:spcBef>
                <a:spcPts val="805"/>
              </a:spcBef>
              <a:buClr>
                <a:srgbClr val="2A5B88"/>
              </a:buClr>
              <a:buFont typeface="Arial"/>
              <a:buAutoNum type="arabicPeriod"/>
              <a:tabLst>
                <a:tab pos="166370" algn="l"/>
              </a:tabLst>
            </a:pPr>
            <a:r>
              <a:rPr sz="1100" b="1" dirty="0">
                <a:latin typeface="Arial"/>
                <a:cs typeface="Arial"/>
              </a:rPr>
              <a:t>Problem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understanding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00" b="1" dirty="0">
                <a:latin typeface="Arial"/>
                <a:cs typeface="Arial"/>
              </a:rPr>
              <a:t>State: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(x,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y)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water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4-gallon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jug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(0 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4)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water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3-gallon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jug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(0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3).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00" b="1" dirty="0">
                <a:latin typeface="Arial"/>
                <a:cs typeface="Arial"/>
              </a:rPr>
              <a:t>Initial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state: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(0,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0).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Goal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state: </a:t>
            </a:r>
            <a:r>
              <a:rPr sz="1000" dirty="0">
                <a:latin typeface="Arial"/>
                <a:cs typeface="Arial"/>
              </a:rPr>
              <a:t>(2,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y)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(here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4-</a:t>
            </a:r>
            <a:r>
              <a:rPr sz="1000" dirty="0">
                <a:latin typeface="Arial"/>
                <a:cs typeface="Arial"/>
              </a:rPr>
              <a:t>gallon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jug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holds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exactly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2).</a:t>
            </a:r>
            <a:endParaRPr sz="1000">
              <a:latin typeface="Arial"/>
              <a:cs typeface="Arial"/>
            </a:endParaRPr>
          </a:p>
          <a:p>
            <a:pPr marL="12700" marR="14604">
              <a:lnSpc>
                <a:spcPct val="117000"/>
              </a:lnSpc>
            </a:pPr>
            <a:r>
              <a:rPr sz="1000" b="1" spc="-10" dirty="0">
                <a:latin typeface="Arial"/>
                <a:cs typeface="Arial"/>
              </a:rPr>
              <a:t>Assumptions: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jug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pump,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emptied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onto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ground,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poured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other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jug; </a:t>
            </a:r>
            <a:r>
              <a:rPr sz="1000" dirty="0">
                <a:latin typeface="Arial"/>
                <a:cs typeface="Arial"/>
              </a:rPr>
              <a:t>there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measuring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device,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pour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ends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source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empty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target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full.</a:t>
            </a:r>
            <a:endParaRPr sz="10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spcBef>
                <a:spcPts val="990"/>
              </a:spcBef>
              <a:buClr>
                <a:srgbClr val="2A5B88"/>
              </a:buClr>
              <a:buFont typeface="Arial"/>
              <a:buAutoNum type="arabicPeriod" startAt="2"/>
              <a:tabLst>
                <a:tab pos="166370" algn="l"/>
              </a:tabLst>
            </a:pPr>
            <a:r>
              <a:rPr sz="1100" b="1" dirty="0">
                <a:latin typeface="Arial"/>
                <a:cs typeface="Arial"/>
              </a:rPr>
              <a:t>Method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selection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7000"/>
              </a:lnSpc>
              <a:spcBef>
                <a:spcPts val="570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problem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modelled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state-</a:t>
            </a:r>
            <a:r>
              <a:rPr sz="1000" dirty="0">
                <a:latin typeface="Arial"/>
                <a:cs typeface="Arial"/>
              </a:rPr>
              <a:t>space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search.</a:t>
            </a:r>
            <a:r>
              <a:rPr sz="1000" spc="-10" dirty="0">
                <a:latin typeface="Arial"/>
                <a:cs typeface="Arial"/>
              </a:rPr>
              <a:t> Breadth-</a:t>
            </a:r>
            <a:r>
              <a:rPr sz="1000" dirty="0">
                <a:latin typeface="Arial"/>
                <a:cs typeface="Arial"/>
              </a:rPr>
              <a:t>First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Search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(BFS)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chosen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because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every </a:t>
            </a:r>
            <a:r>
              <a:rPr sz="1000" dirty="0">
                <a:latin typeface="Arial"/>
                <a:cs typeface="Arial"/>
              </a:rPr>
              <a:t>action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equal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BFS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complete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returns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shortest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actions.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100" b="1" dirty="0">
                <a:latin typeface="Arial"/>
                <a:cs typeface="Arial"/>
              </a:rPr>
              <a:t>Production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rules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(operators)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6500" y="3789298"/>
          <a:ext cx="6024245" cy="1939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Rule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Condition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1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(x,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(4,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Fill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4-gal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jug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4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2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(x,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(x,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3)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Fill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3-gal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jug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(x,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(0,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Empty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4-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jug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4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(x,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(x,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0)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Empty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3-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jug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5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(x,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(4,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(4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x))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Pour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3-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into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4-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until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4-gal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full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 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&gt;=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53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6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(x,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(x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(3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3)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Pour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4-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into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3-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until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3-gal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full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 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&gt;=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7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(x,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(x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0)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Pour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all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3-gal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into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4-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gal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 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&lt;=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8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(x,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(0,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y)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Pour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all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4-gal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into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3-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gal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 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&lt;=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3132" y="5823584"/>
            <a:ext cx="35413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2A5B88"/>
                </a:solidFill>
                <a:latin typeface="Arial"/>
                <a:cs typeface="Arial"/>
              </a:rPr>
              <a:t>3.</a:t>
            </a:r>
            <a:r>
              <a:rPr sz="1100" b="1" spc="-25" dirty="0">
                <a:solidFill>
                  <a:srgbClr val="2A5B88"/>
                </a:solidFill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Solution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process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(one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shortest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solution,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6</a:t>
            </a:r>
            <a:r>
              <a:rPr sz="1100" b="1" spc="-10" dirty="0">
                <a:latin typeface="Arial"/>
                <a:cs typeface="Arial"/>
              </a:rPr>
              <a:t> actions)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12596" y="6107556"/>
            <a:ext cx="5934710" cy="208915"/>
            <a:chOff x="812596" y="6107556"/>
            <a:chExt cx="5934710" cy="208915"/>
          </a:xfrm>
        </p:grpSpPr>
        <p:sp>
          <p:nvSpPr>
            <p:cNvPr id="6" name="object 6"/>
            <p:cNvSpPr/>
            <p:nvPr/>
          </p:nvSpPr>
          <p:spPr>
            <a:xfrm>
              <a:off x="812596" y="6107556"/>
              <a:ext cx="533400" cy="208915"/>
            </a:xfrm>
            <a:custGeom>
              <a:avLst/>
              <a:gdLst/>
              <a:ahLst/>
              <a:cxnLst/>
              <a:rect l="l" t="t" r="r" b="b"/>
              <a:pathLst>
                <a:path w="533400" h="208914">
                  <a:moveTo>
                    <a:pt x="533400" y="0"/>
                  </a:moveTo>
                  <a:lnTo>
                    <a:pt x="0" y="0"/>
                  </a:lnTo>
                  <a:lnTo>
                    <a:pt x="0" y="208787"/>
                  </a:lnTo>
                  <a:lnTo>
                    <a:pt x="533400" y="208787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8796" y="6147180"/>
              <a:ext cx="224154" cy="125095"/>
            </a:xfrm>
            <a:custGeom>
              <a:avLst/>
              <a:gdLst/>
              <a:ahLst/>
              <a:cxnLst/>
              <a:rect l="l" t="t" r="r" b="b"/>
              <a:pathLst>
                <a:path w="224155" h="125095">
                  <a:moveTo>
                    <a:pt x="224028" y="0"/>
                  </a:moveTo>
                  <a:lnTo>
                    <a:pt x="0" y="0"/>
                  </a:lnTo>
                  <a:lnTo>
                    <a:pt x="0" y="124967"/>
                  </a:lnTo>
                  <a:lnTo>
                    <a:pt x="224028" y="124967"/>
                  </a:lnTo>
                  <a:lnTo>
                    <a:pt x="224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53566" y="6107556"/>
              <a:ext cx="4134485" cy="208915"/>
            </a:xfrm>
            <a:custGeom>
              <a:avLst/>
              <a:gdLst/>
              <a:ahLst/>
              <a:cxnLst/>
              <a:rect l="l" t="t" r="r" b="b"/>
              <a:pathLst>
                <a:path w="4134485" h="208914">
                  <a:moveTo>
                    <a:pt x="4133977" y="0"/>
                  </a:moveTo>
                  <a:lnTo>
                    <a:pt x="0" y="0"/>
                  </a:lnTo>
                  <a:lnTo>
                    <a:pt x="0" y="208787"/>
                  </a:lnTo>
                  <a:lnTo>
                    <a:pt x="4133977" y="208787"/>
                  </a:lnTo>
                  <a:lnTo>
                    <a:pt x="4133977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29766" y="6147180"/>
              <a:ext cx="327660" cy="125095"/>
            </a:xfrm>
            <a:custGeom>
              <a:avLst/>
              <a:gdLst/>
              <a:ahLst/>
              <a:cxnLst/>
              <a:rect l="l" t="t" r="r" b="b"/>
              <a:pathLst>
                <a:path w="327660" h="125095">
                  <a:moveTo>
                    <a:pt x="327659" y="0"/>
                  </a:moveTo>
                  <a:lnTo>
                    <a:pt x="0" y="0"/>
                  </a:lnTo>
                  <a:lnTo>
                    <a:pt x="0" y="124967"/>
                  </a:lnTo>
                  <a:lnTo>
                    <a:pt x="327659" y="124967"/>
                  </a:lnTo>
                  <a:lnTo>
                    <a:pt x="327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93766" y="6107556"/>
              <a:ext cx="1253490" cy="208915"/>
            </a:xfrm>
            <a:custGeom>
              <a:avLst/>
              <a:gdLst/>
              <a:ahLst/>
              <a:cxnLst/>
              <a:rect l="l" t="t" r="r" b="b"/>
              <a:pathLst>
                <a:path w="1253490" h="208914">
                  <a:moveTo>
                    <a:pt x="1253032" y="0"/>
                  </a:moveTo>
                  <a:lnTo>
                    <a:pt x="0" y="0"/>
                  </a:lnTo>
                  <a:lnTo>
                    <a:pt x="0" y="208787"/>
                  </a:lnTo>
                  <a:lnTo>
                    <a:pt x="1253032" y="208787"/>
                  </a:lnTo>
                  <a:lnTo>
                    <a:pt x="1253032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9966" y="6147180"/>
              <a:ext cx="919480" cy="125095"/>
            </a:xfrm>
            <a:custGeom>
              <a:avLst/>
              <a:gdLst/>
              <a:ahLst/>
              <a:cxnLst/>
              <a:rect l="l" t="t" r="r" b="b"/>
              <a:pathLst>
                <a:path w="919479" h="125095">
                  <a:moveTo>
                    <a:pt x="919276" y="0"/>
                  </a:moveTo>
                  <a:lnTo>
                    <a:pt x="0" y="0"/>
                  </a:lnTo>
                  <a:lnTo>
                    <a:pt x="0" y="124967"/>
                  </a:lnTo>
                  <a:lnTo>
                    <a:pt x="919276" y="124967"/>
                  </a:lnTo>
                  <a:lnTo>
                    <a:pt x="9192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06500" y="6099936"/>
          <a:ext cx="6022975" cy="1725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2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Step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Action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State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(4-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gal,</a:t>
                      </a:r>
                      <a:r>
                        <a:rPr sz="8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3-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gal)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Start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(0,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0)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1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Fill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3-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gallon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jug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pump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(0,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3)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2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Pour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3-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gallon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jug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into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4-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gallon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jug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(3,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0)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Fill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3-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gallon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jug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again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(3,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3)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4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Pour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3-gal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jug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into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4-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jug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until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full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(only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gallon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fits)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(4,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2)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53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5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Empty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4-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gallon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jug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onto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ground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(0,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2)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6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Pour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3-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gallon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jug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(2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gallons)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into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4-gallon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jug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b="1" dirty="0">
                          <a:latin typeface="Arial"/>
                          <a:cs typeface="Arial"/>
                        </a:rPr>
                        <a:t>(2,</a:t>
                      </a:r>
                      <a:r>
                        <a:rPr sz="85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latin typeface="Arial"/>
                          <a:cs typeface="Arial"/>
                        </a:rPr>
                        <a:t>0)</a:t>
                      </a:r>
                      <a:r>
                        <a:rPr sz="85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0" dirty="0">
                          <a:latin typeface="Arial"/>
                          <a:cs typeface="Arial"/>
                        </a:rPr>
                        <a:t>GOAL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783132" y="7845704"/>
            <a:ext cx="5966460" cy="1685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9395">
              <a:lnSpc>
                <a:spcPct val="115999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Alternative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solution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(also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6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actions):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(0,0)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(4,0)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(1,3)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(1,0)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(0,1)</a:t>
            </a:r>
            <a:r>
              <a:rPr sz="1000" spc="-10" dirty="0">
                <a:latin typeface="Arial"/>
                <a:cs typeface="Arial"/>
              </a:rPr>
              <a:t> -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(4,1)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(2,3).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Here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4-</a:t>
            </a:r>
            <a:r>
              <a:rPr sz="1000" dirty="0">
                <a:latin typeface="Arial"/>
                <a:cs typeface="Arial"/>
              </a:rPr>
              <a:t>gallon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jug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also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ends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exactly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gallons.</a:t>
            </a:r>
            <a:endParaRPr sz="10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spcBef>
                <a:spcPts val="990"/>
              </a:spcBef>
              <a:buClr>
                <a:srgbClr val="2A5B88"/>
              </a:buClr>
              <a:buFont typeface="Arial"/>
              <a:buAutoNum type="arabicPeriod" startAt="4"/>
              <a:tabLst>
                <a:tab pos="166370" algn="l"/>
              </a:tabLst>
            </a:pPr>
            <a:r>
              <a:rPr sz="1100" b="1" dirty="0">
                <a:latin typeface="Arial"/>
                <a:cs typeface="Arial"/>
              </a:rPr>
              <a:t>Accuracy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interpretation</a:t>
            </a:r>
            <a:endParaRPr sz="11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775"/>
              </a:spcBef>
              <a:buChar char="-"/>
              <a:tabLst>
                <a:tab pos="187960" algn="l"/>
              </a:tabLst>
            </a:pPr>
            <a:r>
              <a:rPr sz="1000" dirty="0">
                <a:latin typeface="Arial"/>
                <a:cs typeface="Arial"/>
              </a:rPr>
              <a:t>Check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solution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1: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after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step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total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water 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gallons;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step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moves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gallon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(4,2)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holds 4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+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190500">
              <a:lnSpc>
                <a:spcPct val="100000"/>
              </a:lnSpc>
              <a:spcBef>
                <a:spcPts val="200"/>
              </a:spcBef>
            </a:pPr>
            <a:r>
              <a:rPr sz="1000" dirty="0">
                <a:latin typeface="Arial"/>
                <a:cs typeface="Arial"/>
              </a:rPr>
              <a:t>=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6.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Throwing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away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gallons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leaves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 moved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4-gallon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jug.</a:t>
            </a:r>
            <a:endParaRPr sz="1000">
              <a:latin typeface="Arial"/>
              <a:cs typeface="Arial"/>
            </a:endParaRPr>
          </a:p>
          <a:p>
            <a:pPr marL="189230" marR="47625" lvl="1" indent="-111760">
              <a:lnSpc>
                <a:spcPct val="115999"/>
              </a:lnSpc>
              <a:spcBef>
                <a:spcPts val="219"/>
              </a:spcBef>
              <a:buChar char="-"/>
              <a:tabLst>
                <a:tab pos="20447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key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idea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(4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3)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2: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filling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3-</a:t>
            </a:r>
            <a:r>
              <a:rPr sz="1000" dirty="0">
                <a:latin typeface="Arial"/>
                <a:cs typeface="Arial"/>
              </a:rPr>
              <a:t>gallon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jug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twice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topping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up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4-</a:t>
            </a:r>
            <a:r>
              <a:rPr sz="1000" dirty="0">
                <a:latin typeface="Arial"/>
                <a:cs typeface="Arial"/>
              </a:rPr>
              <a:t>gallon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jug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leaves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 	</a:t>
            </a:r>
            <a:r>
              <a:rPr sz="1000" dirty="0">
                <a:latin typeface="Arial"/>
                <a:cs typeface="Arial"/>
              </a:rPr>
              <a:t>remainder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exactly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gallons.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395"/>
              </a:spcBef>
              <a:buChar char="-"/>
              <a:tabLst>
                <a:tab pos="187960" algn="l"/>
              </a:tabLst>
            </a:pPr>
            <a:r>
              <a:rPr sz="1000" dirty="0">
                <a:latin typeface="Arial"/>
                <a:cs typeface="Arial"/>
              </a:rPr>
              <a:t>Because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BFS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explores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level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level,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solution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fewer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actions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exists.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32" y="699007"/>
            <a:ext cx="5953760" cy="358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Question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2: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Mars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Rover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-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PEAS</a:t>
            </a:r>
            <a:r>
              <a:rPr sz="1400" b="1" spc="-10" dirty="0">
                <a:latin typeface="Arial"/>
                <a:cs typeface="Arial"/>
              </a:rPr>
              <a:t> Analysis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Arial"/>
                <a:cs typeface="Arial"/>
              </a:rPr>
              <a:t>Problem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understanding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7000"/>
              </a:lnSpc>
              <a:spcBef>
                <a:spcPts val="56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Mars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Rover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autonomous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robotic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moves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across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Martian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surface,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selects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rocks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and </a:t>
            </a:r>
            <a:r>
              <a:rPr sz="1000" dirty="0">
                <a:latin typeface="Arial"/>
                <a:cs typeface="Arial"/>
              </a:rPr>
              <a:t>soil,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analyses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them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onboard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instruments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sends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results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Earth.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described</a:t>
            </a:r>
            <a:r>
              <a:rPr sz="1000" spc="-20" dirty="0">
                <a:latin typeface="Arial"/>
                <a:cs typeface="Arial"/>
              </a:rPr>
              <a:t> with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PEAS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framework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(Performance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measure,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Environment,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Actuators,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Sensors).</a:t>
            </a:r>
            <a:endParaRPr sz="1000">
              <a:latin typeface="Arial"/>
              <a:cs typeface="Arial"/>
            </a:endParaRPr>
          </a:p>
          <a:p>
            <a:pPr marL="180975" indent="-168275">
              <a:lnSpc>
                <a:spcPct val="100000"/>
              </a:lnSpc>
              <a:spcBef>
                <a:spcPts val="995"/>
              </a:spcBef>
              <a:buClr>
                <a:srgbClr val="2A5B88"/>
              </a:buClr>
              <a:buFont typeface="Arial"/>
              <a:buAutoNum type="romanLcParenBoth"/>
              <a:tabLst>
                <a:tab pos="180975" algn="l"/>
              </a:tabLst>
            </a:pPr>
            <a:r>
              <a:rPr sz="1100" b="1" dirty="0">
                <a:latin typeface="Arial"/>
                <a:cs typeface="Arial"/>
              </a:rPr>
              <a:t>Percepts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this </a:t>
            </a:r>
            <a:r>
              <a:rPr sz="1100" b="1" spc="-10" dirty="0">
                <a:latin typeface="Arial"/>
                <a:cs typeface="Arial"/>
              </a:rPr>
              <a:t>agent</a:t>
            </a:r>
            <a:endParaRPr sz="11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770"/>
              </a:spcBef>
              <a:buFont typeface="Arial"/>
              <a:buChar char="-"/>
              <a:tabLst>
                <a:tab pos="187960" algn="l"/>
              </a:tabLst>
            </a:pPr>
            <a:r>
              <a:rPr sz="1000" b="1" dirty="0">
                <a:latin typeface="Arial"/>
                <a:cs typeface="Arial"/>
              </a:rPr>
              <a:t>Vision: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stereo/panoramic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camera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images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terrain,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rocks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soil;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hazard-avoidance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camera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images.</a:t>
            </a:r>
            <a:endParaRPr sz="1000">
              <a:latin typeface="Arial"/>
              <a:cs typeface="Arial"/>
            </a:endParaRPr>
          </a:p>
          <a:p>
            <a:pPr marL="189230" marR="389890" lvl="1" indent="-111760">
              <a:lnSpc>
                <a:spcPct val="115999"/>
              </a:lnSpc>
              <a:spcBef>
                <a:spcPts val="215"/>
              </a:spcBef>
              <a:buFont typeface="Arial"/>
              <a:buChar char="-"/>
              <a:tabLst>
                <a:tab pos="204470" algn="l"/>
              </a:tabLst>
            </a:pPr>
            <a:r>
              <a:rPr sz="1000" b="1" dirty="0">
                <a:latin typeface="Arial"/>
                <a:cs typeface="Arial"/>
              </a:rPr>
              <a:t>Scientific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instruments: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spectrometer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readings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(chemical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mineral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composition),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X-ray/laser 	</a:t>
            </a:r>
            <a:r>
              <a:rPr sz="1000" dirty="0">
                <a:latin typeface="Arial"/>
                <a:cs typeface="Arial"/>
              </a:rPr>
              <a:t>readings,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moisture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soil-</a:t>
            </a:r>
            <a:r>
              <a:rPr sz="1000" dirty="0">
                <a:latin typeface="Arial"/>
                <a:cs typeface="Arial"/>
              </a:rPr>
              <a:t>property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data.</a:t>
            </a:r>
            <a:endParaRPr sz="1000">
              <a:latin typeface="Arial"/>
              <a:cs typeface="Arial"/>
            </a:endParaRPr>
          </a:p>
          <a:p>
            <a:pPr marL="189230" marR="176530" lvl="1" indent="-111760">
              <a:lnSpc>
                <a:spcPct val="117000"/>
              </a:lnSpc>
              <a:spcBef>
                <a:spcPts val="195"/>
              </a:spcBef>
              <a:buFont typeface="Arial"/>
              <a:buChar char="-"/>
              <a:tabLst>
                <a:tab pos="204470" algn="l"/>
              </a:tabLst>
            </a:pPr>
            <a:r>
              <a:rPr sz="1000" b="1" dirty="0">
                <a:latin typeface="Arial"/>
                <a:cs typeface="Arial"/>
              </a:rPr>
              <a:t>Navigation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and</a:t>
            </a:r>
            <a:r>
              <a:rPr sz="1000" b="1" spc="-10" dirty="0">
                <a:latin typeface="Arial"/>
                <a:cs typeface="Arial"/>
              </a:rPr>
              <a:t> self-</a:t>
            </a:r>
            <a:r>
              <a:rPr sz="1000" b="1" dirty="0">
                <a:latin typeface="Arial"/>
                <a:cs typeface="Arial"/>
              </a:rPr>
              <a:t>state: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wheel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encoders,</a:t>
            </a:r>
            <a:r>
              <a:rPr sz="1000" spc="-10" dirty="0">
                <a:latin typeface="Arial"/>
                <a:cs typeface="Arial"/>
              </a:rPr>
              <a:t> gyroscope/inertial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unit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(tilt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slope),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position/heading 	</a:t>
            </a:r>
            <a:r>
              <a:rPr sz="1000" dirty="0">
                <a:latin typeface="Arial"/>
                <a:cs typeface="Arial"/>
              </a:rPr>
              <a:t>estimate,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wheel-</a:t>
            </a:r>
            <a:r>
              <a:rPr sz="1000" dirty="0">
                <a:latin typeface="Arial"/>
                <a:cs typeface="Arial"/>
              </a:rPr>
              <a:t>slip and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motor-</a:t>
            </a:r>
            <a:r>
              <a:rPr sz="1000" dirty="0">
                <a:latin typeface="Arial"/>
                <a:cs typeface="Arial"/>
              </a:rPr>
              <a:t>current </a:t>
            </a:r>
            <a:r>
              <a:rPr sz="1000" spc="-10" dirty="0">
                <a:latin typeface="Arial"/>
                <a:cs typeface="Arial"/>
              </a:rPr>
              <a:t>signals.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385"/>
              </a:spcBef>
              <a:buFont typeface="Arial"/>
              <a:buChar char="-"/>
              <a:tabLst>
                <a:tab pos="187960" algn="l"/>
              </a:tabLst>
            </a:pPr>
            <a:r>
              <a:rPr sz="1000" b="1" dirty="0">
                <a:latin typeface="Arial"/>
                <a:cs typeface="Arial"/>
              </a:rPr>
              <a:t>Environmental: </a:t>
            </a:r>
            <a:r>
              <a:rPr sz="1000" dirty="0">
                <a:latin typeface="Arial"/>
                <a:cs typeface="Arial"/>
              </a:rPr>
              <a:t>temperature,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wind,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dust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radiation levels,</a:t>
            </a:r>
            <a:r>
              <a:rPr sz="1000" spc="-10" dirty="0">
                <a:latin typeface="Arial"/>
                <a:cs typeface="Arial"/>
              </a:rPr>
              <a:t> sunlight/solar-</a:t>
            </a:r>
            <a:r>
              <a:rPr sz="1000" dirty="0">
                <a:latin typeface="Arial"/>
                <a:cs typeface="Arial"/>
              </a:rPr>
              <a:t>panel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output.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395"/>
              </a:spcBef>
              <a:buFont typeface="Arial"/>
              <a:buChar char="-"/>
              <a:tabLst>
                <a:tab pos="187960" algn="l"/>
              </a:tabLst>
            </a:pPr>
            <a:r>
              <a:rPr sz="1000" b="1" dirty="0">
                <a:latin typeface="Arial"/>
                <a:cs typeface="Arial"/>
              </a:rPr>
              <a:t>Internal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status: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battery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level,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component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temperature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health,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memory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storage.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409"/>
              </a:spcBef>
              <a:buFont typeface="Arial"/>
              <a:buChar char="-"/>
              <a:tabLst>
                <a:tab pos="187960" algn="l"/>
              </a:tabLst>
            </a:pPr>
            <a:r>
              <a:rPr sz="1000" b="1" spc="-10" dirty="0">
                <a:latin typeface="Arial"/>
                <a:cs typeface="Arial"/>
              </a:rPr>
              <a:t>Communication: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commands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updated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targets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received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Earth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(via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orbiters).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100" b="1" dirty="0">
                <a:solidFill>
                  <a:srgbClr val="2A5B88"/>
                </a:solidFill>
                <a:latin typeface="Arial"/>
                <a:cs typeface="Arial"/>
              </a:rPr>
              <a:t>(ii)</a:t>
            </a:r>
            <a:r>
              <a:rPr sz="1100" b="1" spc="-40" dirty="0">
                <a:solidFill>
                  <a:srgbClr val="2A5B88"/>
                </a:solidFill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Characterization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operating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environment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6500" y="4362322"/>
          <a:ext cx="6024245" cy="2424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1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Property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Reason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Observability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Partially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observable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113664">
                        <a:lnSpc>
                          <a:spcPct val="108200"/>
                        </a:lnSpc>
                        <a:spcBef>
                          <a:spcPts val="204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camera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sees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only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limited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area;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sub-surface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far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terrain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are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unknown.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Agents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Single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agent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183515">
                        <a:lnSpc>
                          <a:spcPct val="108200"/>
                        </a:lnSpc>
                        <a:spcBef>
                          <a:spcPts val="204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Only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rover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acts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(human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operators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Earth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only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give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high-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level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goals).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Determinism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Stochastic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233679">
                        <a:lnSpc>
                          <a:spcPct val="108200"/>
                        </a:lnSpc>
                        <a:spcBef>
                          <a:spcPts val="204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Wheel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slip,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sand,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uncertain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sensor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readings mean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actions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do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always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give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expected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result.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Episodic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Sequential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Sequential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238760">
                        <a:lnSpc>
                          <a:spcPct val="108200"/>
                        </a:lnSpc>
                        <a:spcBef>
                          <a:spcPts val="204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Current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moves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affect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later</a:t>
                      </a:r>
                      <a:r>
                        <a:rPr sz="8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options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(energy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used,</a:t>
                      </a:r>
                      <a:r>
                        <a:rPr sz="8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position,</a:t>
                      </a:r>
                      <a:r>
                        <a:rPr sz="8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sample collected).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Static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Dynamic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Dynamic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99695">
                        <a:lnSpc>
                          <a:spcPct val="108200"/>
                        </a:lnSpc>
                        <a:spcBef>
                          <a:spcPts val="204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Dust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storms,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changing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light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temperature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occur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while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rover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deciding.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Discrete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Continuous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Continuous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Position,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speed,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temperature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sensor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values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vary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continuously.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Unknown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Largely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unknown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Terrain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fully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mapped;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rover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must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learn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while</a:t>
                      </a:r>
                      <a:r>
                        <a:rPr sz="85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exploring.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3132" y="6879716"/>
            <a:ext cx="5911215" cy="2769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105"/>
              </a:spcBef>
              <a:buClr>
                <a:srgbClr val="2A5B88"/>
              </a:buClr>
              <a:buFont typeface="Arial"/>
              <a:buAutoNum type="romanLcParenBoth" startAt="3"/>
              <a:tabLst>
                <a:tab pos="257810" algn="l"/>
              </a:tabLst>
            </a:pPr>
            <a:r>
              <a:rPr sz="1100" b="1" dirty="0">
                <a:latin typeface="Arial"/>
                <a:cs typeface="Arial"/>
              </a:rPr>
              <a:t>Actions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agent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can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take</a:t>
            </a:r>
            <a:r>
              <a:rPr sz="1100" b="1" spc="-10" dirty="0">
                <a:latin typeface="Arial"/>
                <a:cs typeface="Arial"/>
              </a:rPr>
              <a:t> (actuators)</a:t>
            </a:r>
            <a:endParaRPr sz="11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780"/>
              </a:spcBef>
              <a:buChar char="-"/>
              <a:tabLst>
                <a:tab pos="187960" algn="l"/>
              </a:tabLst>
            </a:pPr>
            <a:r>
              <a:rPr sz="1000" dirty="0">
                <a:latin typeface="Arial"/>
                <a:cs typeface="Arial"/>
              </a:rPr>
              <a:t>Drive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forward/backward,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turn,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climb,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stop,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select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path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around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obstacles.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400"/>
              </a:spcBef>
              <a:buChar char="-"/>
              <a:tabLst>
                <a:tab pos="187960" algn="l"/>
              </a:tabLst>
            </a:pPr>
            <a:r>
              <a:rPr sz="1000" dirty="0">
                <a:latin typeface="Arial"/>
                <a:cs typeface="Arial"/>
              </a:rPr>
              <a:t>Move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robotic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arm;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scoop,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drill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scrape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soil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rock;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place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sample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analysis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instrument.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395"/>
              </a:spcBef>
              <a:buChar char="-"/>
              <a:tabLst>
                <a:tab pos="187960" algn="l"/>
              </a:tabLst>
            </a:pPr>
            <a:r>
              <a:rPr sz="1000" dirty="0">
                <a:latin typeface="Arial"/>
                <a:cs typeface="Arial"/>
              </a:rPr>
              <a:t>Rotate/tilt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mast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camera;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capture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images;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switch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instruments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 </a:t>
            </a:r>
            <a:r>
              <a:rPr sz="1000" spc="-20" dirty="0">
                <a:latin typeface="Arial"/>
                <a:cs typeface="Arial"/>
              </a:rPr>
              <a:t>off.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400"/>
              </a:spcBef>
              <a:buChar char="-"/>
              <a:tabLst>
                <a:tab pos="187960" algn="l"/>
              </a:tabLst>
            </a:pPr>
            <a:r>
              <a:rPr sz="1000" dirty="0">
                <a:latin typeface="Arial"/>
                <a:cs typeface="Arial"/>
              </a:rPr>
              <a:t>Transmit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Earth/orbiter;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receive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store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commands.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395"/>
              </a:spcBef>
              <a:buChar char="-"/>
              <a:tabLst>
                <a:tab pos="187960" algn="l"/>
              </a:tabLst>
            </a:pPr>
            <a:r>
              <a:rPr sz="1000" dirty="0">
                <a:latin typeface="Arial"/>
                <a:cs typeface="Arial"/>
              </a:rPr>
              <a:t>Manage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power: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recharge,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sleep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safe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mode,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adjust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solar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panels.</a:t>
            </a:r>
            <a:endParaRPr sz="10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1015"/>
              </a:spcBef>
              <a:buClr>
                <a:srgbClr val="2A5B88"/>
              </a:buClr>
              <a:buFont typeface="Arial"/>
              <a:buAutoNum type="romanLcParenBoth" startAt="4"/>
              <a:tabLst>
                <a:tab pos="259079" algn="l"/>
              </a:tabLst>
            </a:pPr>
            <a:r>
              <a:rPr sz="1100" b="1" dirty="0">
                <a:latin typeface="Arial"/>
                <a:cs typeface="Arial"/>
              </a:rPr>
              <a:t>Performance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measure</a:t>
            </a:r>
            <a:endParaRPr sz="1100">
              <a:latin typeface="Arial"/>
              <a:cs typeface="Arial"/>
            </a:endParaRPr>
          </a:p>
          <a:p>
            <a:pPr marL="189230" marR="5080" lvl="1" indent="-111760">
              <a:lnSpc>
                <a:spcPct val="117000"/>
              </a:lnSpc>
              <a:spcBef>
                <a:spcPts val="570"/>
              </a:spcBef>
              <a:buFont typeface="Arial"/>
              <a:buChar char="-"/>
              <a:tabLst>
                <a:tab pos="204470" algn="l"/>
              </a:tabLst>
            </a:pPr>
            <a:r>
              <a:rPr sz="1000" b="1" dirty="0">
                <a:latin typeface="Arial"/>
                <a:cs typeface="Arial"/>
              </a:rPr>
              <a:t>Science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value: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quality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samples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analysed;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discovery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useful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evidence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(water,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organic 	compounds).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380"/>
              </a:spcBef>
              <a:buFont typeface="Arial"/>
              <a:buChar char="-"/>
              <a:tabLst>
                <a:tab pos="187960" algn="l"/>
              </a:tabLst>
            </a:pPr>
            <a:r>
              <a:rPr sz="1000" b="1" dirty="0">
                <a:latin typeface="Arial"/>
                <a:cs typeface="Arial"/>
              </a:rPr>
              <a:t>Data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return: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amount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valid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successfully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transmitted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Earth.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409"/>
              </a:spcBef>
              <a:buFont typeface="Arial"/>
              <a:buChar char="-"/>
              <a:tabLst>
                <a:tab pos="187960" algn="l"/>
              </a:tabLst>
            </a:pPr>
            <a:r>
              <a:rPr sz="1000" b="1" dirty="0">
                <a:latin typeface="Arial"/>
                <a:cs typeface="Arial"/>
              </a:rPr>
              <a:t>Coverage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and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efficiency: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explored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unit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energy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 </a:t>
            </a:r>
            <a:r>
              <a:rPr sz="1000" spc="-10" dirty="0">
                <a:latin typeface="Arial"/>
                <a:cs typeface="Arial"/>
              </a:rPr>
              <a:t>time.</a:t>
            </a:r>
            <a:endParaRPr sz="1000">
              <a:latin typeface="Arial"/>
              <a:cs typeface="Arial"/>
            </a:endParaRPr>
          </a:p>
          <a:p>
            <a:pPr marL="189230" marR="614680" lvl="1" indent="-111760">
              <a:lnSpc>
                <a:spcPct val="116199"/>
              </a:lnSpc>
              <a:spcBef>
                <a:spcPts val="215"/>
              </a:spcBef>
              <a:buFont typeface="Arial"/>
              <a:buChar char="-"/>
              <a:tabLst>
                <a:tab pos="204470" algn="l"/>
              </a:tabLst>
            </a:pPr>
            <a:r>
              <a:rPr sz="1000" b="1" dirty="0">
                <a:latin typeface="Arial"/>
                <a:cs typeface="Arial"/>
              </a:rPr>
              <a:t>Safety</a:t>
            </a:r>
            <a:r>
              <a:rPr sz="1000" b="1" spc="-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and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survival: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collisions,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falls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stuck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wheels;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mission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lifetime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battery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health 	maintained.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32" y="673760"/>
            <a:ext cx="5951855" cy="2689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9420">
              <a:lnSpc>
                <a:spcPct val="1172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A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combined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score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used,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example: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Performance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w1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(valuable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samples)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+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w2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(data </a:t>
            </a:r>
            <a:r>
              <a:rPr sz="1000" dirty="0">
                <a:latin typeface="Arial"/>
                <a:cs typeface="Arial"/>
              </a:rPr>
              <a:t>transmitted)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+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w3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(area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explored) -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w4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(energy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used)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w5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(risk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events).</a:t>
            </a:r>
            <a:endParaRPr sz="1000">
              <a:latin typeface="Arial"/>
              <a:cs typeface="Arial"/>
            </a:endParaRPr>
          </a:p>
          <a:p>
            <a:pPr marL="220979" indent="-208279">
              <a:lnSpc>
                <a:spcPct val="100000"/>
              </a:lnSpc>
              <a:spcBef>
                <a:spcPts val="990"/>
              </a:spcBef>
              <a:buClr>
                <a:srgbClr val="2A5B88"/>
              </a:buClr>
              <a:buFont typeface="Arial"/>
              <a:buAutoNum type="romanLcParenBoth" startAt="5"/>
              <a:tabLst>
                <a:tab pos="220979" algn="l"/>
              </a:tabLst>
            </a:pPr>
            <a:r>
              <a:rPr sz="1100" b="1" dirty="0">
                <a:latin typeface="Arial"/>
                <a:cs typeface="Arial"/>
              </a:rPr>
              <a:t>Most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suitable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agent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architecture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25" dirty="0">
                <a:latin typeface="Arial"/>
                <a:cs typeface="Arial"/>
              </a:rPr>
              <a:t> why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utility-</a:t>
            </a:r>
            <a:r>
              <a:rPr sz="1000" b="1" dirty="0">
                <a:latin typeface="Arial"/>
                <a:cs typeface="Arial"/>
              </a:rPr>
              <a:t>based,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learning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agent </a:t>
            </a:r>
            <a:r>
              <a:rPr sz="1000" dirty="0">
                <a:latin typeface="Arial"/>
                <a:cs typeface="Arial"/>
              </a:rPr>
              <a:t>built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hierarchical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(layered)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architecture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suitable.</a:t>
            </a:r>
            <a:endParaRPr sz="1000">
              <a:latin typeface="Arial"/>
              <a:cs typeface="Arial"/>
            </a:endParaRPr>
          </a:p>
          <a:p>
            <a:pPr marL="189230" marR="208915" lvl="1" indent="-111760">
              <a:lnSpc>
                <a:spcPct val="115999"/>
              </a:lnSpc>
              <a:spcBef>
                <a:spcPts val="515"/>
              </a:spcBef>
              <a:buFont typeface="Arial"/>
              <a:buChar char="-"/>
              <a:tabLst>
                <a:tab pos="204470" algn="l"/>
              </a:tabLst>
            </a:pPr>
            <a:r>
              <a:rPr sz="1000" b="1" dirty="0">
                <a:latin typeface="Arial"/>
                <a:cs typeface="Arial"/>
              </a:rPr>
              <a:t>Reflex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layer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(low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level):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immediate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responses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such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stopping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cliff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steep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tilt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sensed. 	</a:t>
            </a:r>
            <a:r>
              <a:rPr sz="1000" dirty="0">
                <a:latin typeface="Arial"/>
                <a:cs typeface="Arial"/>
              </a:rPr>
              <a:t>This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needed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because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radio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delay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Earth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several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minutes.</a:t>
            </a:r>
            <a:endParaRPr sz="1000">
              <a:latin typeface="Arial"/>
              <a:cs typeface="Arial"/>
            </a:endParaRPr>
          </a:p>
          <a:p>
            <a:pPr marL="187960" lvl="1" indent="-125095">
              <a:lnSpc>
                <a:spcPct val="100000"/>
              </a:lnSpc>
              <a:spcBef>
                <a:spcPts val="395"/>
              </a:spcBef>
              <a:buFont typeface="Arial"/>
              <a:buChar char="-"/>
              <a:tabLst>
                <a:tab pos="187960" algn="l"/>
              </a:tabLst>
            </a:pPr>
            <a:r>
              <a:rPr sz="1000" b="1" dirty="0">
                <a:latin typeface="Arial"/>
                <a:cs typeface="Arial"/>
              </a:rPr>
              <a:t>Goal/planning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layer: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plans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routes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target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rocks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using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search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(A*)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map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built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percepts.</a:t>
            </a:r>
            <a:endParaRPr sz="1000">
              <a:latin typeface="Arial"/>
              <a:cs typeface="Arial"/>
            </a:endParaRPr>
          </a:p>
          <a:p>
            <a:pPr marL="189230" marR="113030" lvl="1" indent="-111760">
              <a:lnSpc>
                <a:spcPct val="115999"/>
              </a:lnSpc>
              <a:spcBef>
                <a:spcPts val="215"/>
              </a:spcBef>
              <a:buFont typeface="Arial"/>
              <a:buChar char="-"/>
              <a:tabLst>
                <a:tab pos="204470" algn="l"/>
              </a:tabLst>
            </a:pPr>
            <a:r>
              <a:rPr sz="1000" b="1" dirty="0">
                <a:latin typeface="Arial"/>
                <a:cs typeface="Arial"/>
              </a:rPr>
              <a:t>Utility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layer: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trades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conflicting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science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vs.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energy,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risk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picks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best 	</a:t>
            </a:r>
            <a:r>
              <a:rPr sz="1000" dirty="0">
                <a:latin typeface="Arial"/>
                <a:cs typeface="Arial"/>
              </a:rPr>
              <a:t>action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among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many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good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ones.</a:t>
            </a:r>
            <a:endParaRPr sz="1000">
              <a:latin typeface="Arial"/>
              <a:cs typeface="Arial"/>
            </a:endParaRPr>
          </a:p>
          <a:p>
            <a:pPr marL="189230" marR="253365" lvl="1" indent="-111760">
              <a:lnSpc>
                <a:spcPct val="115999"/>
              </a:lnSpc>
              <a:spcBef>
                <a:spcPts val="204"/>
              </a:spcBef>
              <a:buFont typeface="Arial"/>
              <a:buChar char="-"/>
              <a:tabLst>
                <a:tab pos="204470" algn="l"/>
              </a:tabLst>
            </a:pPr>
            <a:r>
              <a:rPr sz="1000" b="1" dirty="0">
                <a:latin typeface="Arial"/>
                <a:cs typeface="Arial"/>
              </a:rPr>
              <a:t>Learning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element: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improves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terrain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classification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sample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selection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experience,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since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	</a:t>
            </a: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partially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observable,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stochastic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unknown.</a:t>
            </a:r>
            <a:endParaRPr sz="1000">
              <a:latin typeface="Arial"/>
              <a:cs typeface="Arial"/>
            </a:endParaRPr>
          </a:p>
          <a:p>
            <a:pPr marL="189230" marR="253365" lvl="1" indent="-111760">
              <a:lnSpc>
                <a:spcPct val="115999"/>
              </a:lnSpc>
              <a:spcBef>
                <a:spcPts val="204"/>
              </a:spcBef>
              <a:buChar char="-"/>
              <a:tabLst>
                <a:tab pos="204470" algn="l"/>
              </a:tabLst>
            </a:pPr>
            <a:r>
              <a:rPr sz="1000" dirty="0">
                <a:latin typeface="Arial"/>
                <a:cs typeface="Arial"/>
              </a:rPr>
              <a:t>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simple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reflex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model-</a:t>
            </a:r>
            <a:r>
              <a:rPr sz="1000" dirty="0">
                <a:latin typeface="Arial"/>
                <a:cs typeface="Arial"/>
              </a:rPr>
              <a:t>based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reflex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alone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enough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because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task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needs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foresight, 	</a:t>
            </a:r>
            <a:r>
              <a:rPr sz="1000" dirty="0">
                <a:latin typeface="Arial"/>
                <a:cs typeface="Arial"/>
              </a:rPr>
              <a:t>memory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map,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balancing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multiple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objectives.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32" y="636878"/>
            <a:ext cx="5904865" cy="207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58519">
              <a:lnSpc>
                <a:spcPct val="1301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Question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3: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8-</a:t>
            </a:r>
            <a:r>
              <a:rPr sz="1400" b="1" dirty="0">
                <a:latin typeface="Arial"/>
                <a:cs typeface="Arial"/>
              </a:rPr>
              <a:t>Queens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Problem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-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Search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Space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Problem Formulation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400">
              <a:latin typeface="Arial"/>
              <a:cs typeface="Arial"/>
            </a:endParaRPr>
          </a:p>
          <a:p>
            <a:pPr marL="166370" indent="-153670" algn="just">
              <a:lnSpc>
                <a:spcPct val="100000"/>
              </a:lnSpc>
              <a:buClr>
                <a:srgbClr val="2A5B88"/>
              </a:buClr>
              <a:buFont typeface="Arial"/>
              <a:buAutoNum type="arabicPeriod"/>
              <a:tabLst>
                <a:tab pos="166370" algn="l"/>
              </a:tabLst>
            </a:pPr>
            <a:r>
              <a:rPr sz="1100" b="1" dirty="0">
                <a:latin typeface="Arial"/>
                <a:cs typeface="Arial"/>
              </a:rPr>
              <a:t>Problem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understanding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116700"/>
              </a:lnSpc>
              <a:spcBef>
                <a:spcPts val="575"/>
              </a:spcBef>
            </a:pPr>
            <a:r>
              <a:rPr sz="1000" dirty="0">
                <a:latin typeface="Arial"/>
                <a:cs typeface="Arial"/>
              </a:rPr>
              <a:t>Two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queens attack each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other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they share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row,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column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diagonal.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valid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solution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therefore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has </a:t>
            </a:r>
            <a:r>
              <a:rPr sz="1000" dirty="0">
                <a:latin typeface="Arial"/>
                <a:cs typeface="Arial"/>
              </a:rPr>
              <a:t>exactly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queen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row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 each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column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two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queens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common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diagonal.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given </a:t>
            </a:r>
            <a:r>
              <a:rPr sz="1000" dirty="0">
                <a:latin typeface="Arial"/>
                <a:cs typeface="Arial"/>
              </a:rPr>
              <a:t>figure,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first-</a:t>
            </a:r>
            <a:r>
              <a:rPr sz="1000" dirty="0">
                <a:latin typeface="Arial"/>
                <a:cs typeface="Arial"/>
              </a:rPr>
              <a:t>column and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last-</a:t>
            </a:r>
            <a:r>
              <a:rPr sz="1000" dirty="0">
                <a:latin typeface="Arial"/>
                <a:cs typeface="Arial"/>
              </a:rPr>
              <a:t>column queens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diagonal (they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7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columns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apart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7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rows </a:t>
            </a:r>
            <a:r>
              <a:rPr sz="1000" dirty="0">
                <a:latin typeface="Arial"/>
                <a:cs typeface="Arial"/>
              </a:rPr>
              <a:t>apart),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configuration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fails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test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though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looks</a:t>
            </a:r>
            <a:r>
              <a:rPr sz="1000" spc="-10" dirty="0">
                <a:latin typeface="Arial"/>
                <a:cs typeface="Arial"/>
              </a:rPr>
              <a:t> complete.</a:t>
            </a:r>
            <a:endParaRPr sz="1000">
              <a:latin typeface="Arial"/>
              <a:cs typeface="Arial"/>
            </a:endParaRPr>
          </a:p>
          <a:p>
            <a:pPr marL="166370" indent="-153670" algn="just">
              <a:lnSpc>
                <a:spcPct val="100000"/>
              </a:lnSpc>
              <a:spcBef>
                <a:spcPts val="990"/>
              </a:spcBef>
              <a:buClr>
                <a:srgbClr val="2A5B88"/>
              </a:buClr>
              <a:buFont typeface="Arial"/>
              <a:buAutoNum type="arabicPeriod" startAt="2"/>
              <a:tabLst>
                <a:tab pos="166370" algn="l"/>
              </a:tabLst>
            </a:pPr>
            <a:r>
              <a:rPr sz="1100" b="1" dirty="0">
                <a:latin typeface="Arial"/>
                <a:cs typeface="Arial"/>
              </a:rPr>
              <a:t>Problem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formulation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(components)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6500" y="2795269"/>
          <a:ext cx="6024245" cy="19265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1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Definition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States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 marR="330200">
                        <a:lnSpc>
                          <a:spcPct val="108200"/>
                        </a:lnSpc>
                        <a:spcBef>
                          <a:spcPts val="209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arrangement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queens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board.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(Efficient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version: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queen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column,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queens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placed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left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right,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each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non-attacked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square.)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669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Initial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state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Empty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board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queens.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Actions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 marR="198755">
                        <a:lnSpc>
                          <a:spcPct val="108200"/>
                        </a:lnSpc>
                        <a:spcBef>
                          <a:spcPts val="204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Add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queen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leftmost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empty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column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row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attacked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queen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already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placed.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(Complete-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state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version: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move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queen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within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its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column.)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Transition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model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Result(s,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a)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returns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board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new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queen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added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chosen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square.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Goal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test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 marR="421640">
                        <a:lnSpc>
                          <a:spcPct val="108200"/>
                        </a:lnSpc>
                        <a:spcBef>
                          <a:spcPts val="204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queens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are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board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two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attack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each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other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(distinct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rows,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distinct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columns,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distinct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diagonals).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Path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cost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important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here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only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final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arrangement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matters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(each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placement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given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cost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1).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3132" y="4817490"/>
            <a:ext cx="19919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2A5B88"/>
                </a:solidFill>
                <a:latin typeface="Arial"/>
                <a:cs typeface="Arial"/>
              </a:rPr>
              <a:t>3.</a:t>
            </a:r>
            <a:r>
              <a:rPr sz="1100" b="1" spc="-20" dirty="0">
                <a:solidFill>
                  <a:srgbClr val="2A5B88"/>
                </a:solidFill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Exploring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search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space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6500" y="5093842"/>
          <a:ext cx="6024245" cy="1293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53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Formulation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Size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search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space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queens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64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squares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(combinations)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C(64,8)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about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4.4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10^9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Add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queens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one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square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(sequences)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64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63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...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57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about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1.8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x 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10^14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One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queen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column,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row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8^8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16,777,216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One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queen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row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column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(permutations)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8!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40,320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Incremental,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only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non-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attacked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squares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allowed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Only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2,057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states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83132" y="6403619"/>
            <a:ext cx="5947410" cy="1638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00965">
              <a:lnSpc>
                <a:spcPct val="116700"/>
              </a:lnSpc>
              <a:spcBef>
                <a:spcPts val="105"/>
              </a:spcBef>
            </a:pPr>
            <a:r>
              <a:rPr sz="1000" b="1" dirty="0">
                <a:latin typeface="Arial"/>
                <a:cs typeface="Arial"/>
              </a:rPr>
              <a:t>Strategies: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(a)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Depth-</a:t>
            </a:r>
            <a:r>
              <a:rPr sz="1000" b="1" dirty="0">
                <a:latin typeface="Arial"/>
                <a:cs typeface="Arial"/>
              </a:rPr>
              <a:t>first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search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with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backtracking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place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column 1,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column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 </a:t>
            </a:r>
            <a:r>
              <a:rPr sz="1000" dirty="0">
                <a:latin typeface="Arial"/>
                <a:cs typeface="Arial"/>
              </a:rPr>
              <a:t>safe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row,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on;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column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safe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row,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backtrack.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standard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efficient </a:t>
            </a:r>
            <a:r>
              <a:rPr sz="1000" dirty="0">
                <a:latin typeface="Arial"/>
                <a:cs typeface="Arial"/>
              </a:rPr>
              <a:t>systematic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method.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(b)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BFS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works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but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stores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many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partial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boards,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memory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large.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(c)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Local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search </a:t>
            </a:r>
            <a:r>
              <a:rPr sz="1000" dirty="0">
                <a:latin typeface="Arial"/>
                <a:cs typeface="Arial"/>
              </a:rPr>
              <a:t>(hill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climbing,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min-</a:t>
            </a:r>
            <a:r>
              <a:rPr sz="1000" dirty="0">
                <a:latin typeface="Arial"/>
                <a:cs typeface="Arial"/>
              </a:rPr>
              <a:t>conflicts,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simulated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annealing)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starts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8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queens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board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repeatedly </a:t>
            </a:r>
            <a:r>
              <a:rPr sz="1000" dirty="0">
                <a:latin typeface="Arial"/>
                <a:cs typeface="Arial"/>
              </a:rPr>
              <a:t>moves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reduce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 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attacking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pairs;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solves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very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large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quickly.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1100" b="1" dirty="0">
                <a:solidFill>
                  <a:srgbClr val="2A5B88"/>
                </a:solidFill>
                <a:latin typeface="Arial"/>
                <a:cs typeface="Arial"/>
              </a:rPr>
              <a:t>4.</a:t>
            </a:r>
            <a:r>
              <a:rPr sz="1100" b="1" spc="-20" dirty="0">
                <a:solidFill>
                  <a:srgbClr val="2A5B88"/>
                </a:solidFill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Solution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interpretation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7000"/>
              </a:lnSpc>
              <a:spcBef>
                <a:spcPts val="56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puzzle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92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solutions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(12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distinct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after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removing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rotations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reflections).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valid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solution </a:t>
            </a:r>
            <a:r>
              <a:rPr sz="1000" dirty="0">
                <a:latin typeface="Arial"/>
                <a:cs typeface="Arial"/>
              </a:rPr>
              <a:t>lists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row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 columns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8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(1,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5, 8, 6,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3, 7,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2, </a:t>
            </a:r>
            <a:r>
              <a:rPr sz="1000" b="1" spc="-25" dirty="0">
                <a:latin typeface="Arial"/>
                <a:cs typeface="Arial"/>
              </a:rPr>
              <a:t>4)</a:t>
            </a:r>
            <a:r>
              <a:rPr sz="1000" spc="-25" dirty="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92784" y="8113521"/>
          <a:ext cx="2673985" cy="1624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2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48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92784" y="697991"/>
          <a:ext cx="2673985" cy="971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2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4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83132" y="1696872"/>
            <a:ext cx="5761355" cy="737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5"/>
              </a:spcBef>
            </a:pPr>
            <a:r>
              <a:rPr sz="1000" b="1" spc="-10" dirty="0">
                <a:latin typeface="Arial"/>
                <a:cs typeface="Arial"/>
              </a:rPr>
              <a:t>Verification: </a:t>
            </a:r>
            <a:r>
              <a:rPr sz="1000" dirty="0">
                <a:latin typeface="Arial"/>
                <a:cs typeface="Arial"/>
              </a:rPr>
              <a:t>rows 1,5,8,6,3,7,2,4 are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different.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Row-minus-</a:t>
            </a:r>
            <a:r>
              <a:rPr sz="1000" dirty="0">
                <a:latin typeface="Arial"/>
                <a:cs typeface="Arial"/>
              </a:rPr>
              <a:t>column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(0,3,5,2,-2,1,-5,-</a:t>
            </a:r>
            <a:r>
              <a:rPr sz="1000" dirty="0">
                <a:latin typeface="Arial"/>
                <a:cs typeface="Arial"/>
              </a:rPr>
              <a:t>4)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all </a:t>
            </a:r>
            <a:r>
              <a:rPr sz="1000" dirty="0">
                <a:latin typeface="Arial"/>
                <a:cs typeface="Arial"/>
              </a:rPr>
              <a:t>different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row-plus-</a:t>
            </a:r>
            <a:r>
              <a:rPr sz="1000" dirty="0">
                <a:latin typeface="Arial"/>
                <a:cs typeface="Arial"/>
              </a:rPr>
              <a:t>column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(2,7,11,10,8,13,9,12)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different,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 two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queens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share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 </a:t>
            </a:r>
            <a:r>
              <a:rPr sz="1000" dirty="0">
                <a:latin typeface="Arial"/>
                <a:cs typeface="Arial"/>
              </a:rPr>
              <a:t>diagonal.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first-</a:t>
            </a:r>
            <a:r>
              <a:rPr sz="1000" dirty="0">
                <a:latin typeface="Arial"/>
                <a:cs typeface="Arial"/>
              </a:rPr>
              <a:t>column queen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(row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1)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last-</a:t>
            </a:r>
            <a:r>
              <a:rPr sz="1000" dirty="0">
                <a:latin typeface="Arial"/>
                <a:cs typeface="Arial"/>
              </a:rPr>
              <a:t>column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(row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4)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diagonal, </a:t>
            </a:r>
            <a:r>
              <a:rPr sz="1000" dirty="0">
                <a:latin typeface="Arial"/>
                <a:cs typeface="Arial"/>
              </a:rPr>
              <a:t>unlike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figure.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32" y="699007"/>
            <a:ext cx="5380355" cy="50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Question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4: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OLA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Cab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Booking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-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Type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Agent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Pseudocode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b="1" dirty="0">
                <a:solidFill>
                  <a:srgbClr val="2A5B88"/>
                </a:solidFill>
                <a:latin typeface="Arial"/>
                <a:cs typeface="Arial"/>
              </a:rPr>
              <a:t>1.</a:t>
            </a:r>
            <a:r>
              <a:rPr sz="1100" b="1" spc="-30" dirty="0">
                <a:solidFill>
                  <a:srgbClr val="2A5B88"/>
                </a:solidFill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Problem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understanding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6500" y="1291081"/>
          <a:ext cx="6024245" cy="1497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1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PEAS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Performance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Customer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satisfaction,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trip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comfort,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low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fare,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short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waiting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time/ETA,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safety,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successful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booking.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Environment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158115">
                        <a:lnSpc>
                          <a:spcPct val="108200"/>
                        </a:lnSpc>
                        <a:spcBef>
                          <a:spcPts val="215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OLA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app,</a:t>
                      </a:r>
                      <a:r>
                        <a:rPr sz="8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map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traffic</a:t>
                      </a:r>
                      <a:r>
                        <a:rPr sz="8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data,</a:t>
                      </a:r>
                      <a:r>
                        <a:rPr sz="8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available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drivers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cab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types,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fares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surge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pricing,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customer preferences.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Partially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observable,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 stochastic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(traffic,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driver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cancellations),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dynamic,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sequential.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Actuators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311785">
                        <a:lnSpc>
                          <a:spcPct val="108200"/>
                        </a:lnSpc>
                        <a:spcBef>
                          <a:spcPts val="204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Display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options, select/confirm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cab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type,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assign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driver,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show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route,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send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notifications, process payment.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10" dirty="0">
                          <a:latin typeface="Arial"/>
                          <a:cs typeface="Arial"/>
                        </a:rPr>
                        <a:t>Sensors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97155">
                        <a:lnSpc>
                          <a:spcPct val="108200"/>
                        </a:lnSpc>
                        <a:spcBef>
                          <a:spcPts val="204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Pickup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drop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location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(GPS),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user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selection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comfort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preference, traffic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data,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driver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location,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fare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estimate.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3132" y="2881630"/>
            <a:ext cx="5979160" cy="6562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00"/>
              </a:spcBef>
              <a:buClr>
                <a:srgbClr val="2A5B88"/>
              </a:buClr>
              <a:buFont typeface="Arial"/>
              <a:buAutoNum type="arabicPeriod" startAt="2"/>
              <a:tabLst>
                <a:tab pos="166370" algn="l"/>
              </a:tabLst>
            </a:pPr>
            <a:r>
              <a:rPr sz="1100" b="1" dirty="0">
                <a:latin typeface="Arial"/>
                <a:cs typeface="Arial"/>
              </a:rPr>
              <a:t>Type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10" dirty="0">
                <a:latin typeface="Arial"/>
                <a:cs typeface="Arial"/>
              </a:rPr>
              <a:t> agent</a:t>
            </a:r>
            <a:endParaRPr sz="1100">
              <a:latin typeface="Arial"/>
              <a:cs typeface="Arial"/>
            </a:endParaRPr>
          </a:p>
          <a:p>
            <a:pPr marL="12700" marR="24130">
              <a:lnSpc>
                <a:spcPct val="117000"/>
              </a:lnSpc>
              <a:spcBef>
                <a:spcPts val="575"/>
              </a:spcBef>
            </a:pP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utility-</a:t>
            </a:r>
            <a:r>
              <a:rPr sz="1000" b="1" dirty="0">
                <a:latin typeface="Arial"/>
                <a:cs typeface="Arial"/>
              </a:rPr>
              <a:t>based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agent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goal-</a:t>
            </a:r>
            <a:r>
              <a:rPr sz="1000" dirty="0">
                <a:latin typeface="Arial"/>
                <a:cs typeface="Arial"/>
              </a:rPr>
              <a:t>based agent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 utility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function) is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suitable.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reach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destination,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but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several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cab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types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it;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comfort,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price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waiting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time.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pure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00" spc="-10" dirty="0">
                <a:latin typeface="Arial"/>
                <a:cs typeface="Arial"/>
              </a:rPr>
              <a:t>goal-</a:t>
            </a:r>
            <a:r>
              <a:rPr sz="1000" dirty="0">
                <a:latin typeface="Arial"/>
                <a:cs typeface="Arial"/>
              </a:rPr>
              <a:t>based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only knows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"reached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/ not reached",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 it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cannot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choose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best option.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utility</a:t>
            </a:r>
            <a:endParaRPr sz="1000">
              <a:latin typeface="Arial"/>
              <a:cs typeface="Arial"/>
            </a:endParaRPr>
          </a:p>
          <a:p>
            <a:pPr marL="12700" marR="273050">
              <a:lnSpc>
                <a:spcPct val="115999"/>
              </a:lnSpc>
              <a:spcBef>
                <a:spcPts val="10"/>
              </a:spcBef>
            </a:pPr>
            <a:r>
              <a:rPr sz="1000" dirty="0">
                <a:latin typeface="Arial"/>
                <a:cs typeface="Arial"/>
              </a:rPr>
              <a:t>function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scores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cab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type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using 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customer's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comfort preference,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fare,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ETA, 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agent </a:t>
            </a:r>
            <a:r>
              <a:rPr sz="1000" dirty="0">
                <a:latin typeface="Arial"/>
                <a:cs typeface="Arial"/>
              </a:rPr>
              <a:t>picks 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highest-</a:t>
            </a:r>
            <a:r>
              <a:rPr sz="1000" dirty="0">
                <a:latin typeface="Arial"/>
                <a:cs typeface="Arial"/>
              </a:rPr>
              <a:t>utility </a:t>
            </a:r>
            <a:r>
              <a:rPr sz="1000" spc="-10" dirty="0">
                <a:latin typeface="Arial"/>
                <a:cs typeface="Arial"/>
              </a:rPr>
              <a:t>option.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7000"/>
              </a:lnSpc>
              <a:spcBef>
                <a:spcPts val="480"/>
              </a:spcBef>
            </a:pPr>
            <a:r>
              <a:rPr sz="1000" dirty="0">
                <a:latin typeface="Arial"/>
                <a:cs typeface="Arial"/>
              </a:rPr>
              <a:t>Utility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cab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type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c: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U(c) =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w1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Comfort(c)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w2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Fare(c)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w3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ETA(c)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+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w4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 Rating(c),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-10" dirty="0">
                <a:latin typeface="Arial"/>
                <a:cs typeface="Arial"/>
              </a:rPr>
              <a:t> w1..w4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weights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customer's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preferences.</a:t>
            </a:r>
            <a:endParaRPr sz="10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spcBef>
                <a:spcPts val="1005"/>
              </a:spcBef>
              <a:buClr>
                <a:srgbClr val="2A5B88"/>
              </a:buClr>
              <a:buFont typeface="Arial"/>
              <a:buAutoNum type="arabicPeriod" startAt="3"/>
              <a:tabLst>
                <a:tab pos="166370" algn="l"/>
              </a:tabLst>
            </a:pPr>
            <a:r>
              <a:rPr sz="1100" b="1" spc="-10" dirty="0">
                <a:latin typeface="Arial"/>
                <a:cs typeface="Arial"/>
              </a:rPr>
              <a:t>Pseudocode</a:t>
            </a:r>
            <a:endParaRPr sz="1100">
              <a:latin typeface="Arial"/>
              <a:cs typeface="Arial"/>
            </a:endParaRPr>
          </a:p>
          <a:p>
            <a:pPr marL="194945" marR="2668905" indent="-132715">
              <a:lnSpc>
                <a:spcPct val="107100"/>
              </a:lnSpc>
              <a:spcBef>
                <a:spcPts val="720"/>
              </a:spcBef>
            </a:pPr>
            <a:r>
              <a:rPr sz="850" dirty="0">
                <a:latin typeface="Courier New"/>
                <a:cs typeface="Courier New"/>
              </a:rPr>
              <a:t>function</a:t>
            </a:r>
            <a:r>
              <a:rPr sz="850" spc="-4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OLA-UTILITY-AGENT(percept)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returns</a:t>
            </a:r>
            <a:r>
              <a:rPr sz="850" spc="-4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action </a:t>
            </a:r>
            <a:r>
              <a:rPr sz="850" dirty="0">
                <a:latin typeface="Courier New"/>
                <a:cs typeface="Courier New"/>
              </a:rPr>
              <a:t>persistent:</a:t>
            </a:r>
            <a:r>
              <a:rPr sz="850" spc="-9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state,</a:t>
            </a:r>
            <a:r>
              <a:rPr sz="850" spc="-9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preferences,</a:t>
            </a:r>
            <a:r>
              <a:rPr sz="850" spc="-9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availableCabs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850">
              <a:latin typeface="Courier New"/>
              <a:cs typeface="Courier New"/>
            </a:endParaRPr>
          </a:p>
          <a:p>
            <a:pPr marL="194945" marR="1016000">
              <a:lnSpc>
                <a:spcPct val="107100"/>
              </a:lnSpc>
              <a:tabLst>
                <a:tab pos="2816860" algn="l"/>
              </a:tabLst>
            </a:pPr>
            <a:r>
              <a:rPr sz="850" dirty="0">
                <a:latin typeface="Courier New"/>
                <a:cs typeface="Courier New"/>
              </a:rPr>
              <a:t>state</a:t>
            </a:r>
            <a:r>
              <a:rPr sz="850" spc="-6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6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UPDATE-</a:t>
            </a:r>
            <a:r>
              <a:rPr sz="850" dirty="0">
                <a:latin typeface="Courier New"/>
                <a:cs typeface="Courier New"/>
              </a:rPr>
              <a:t>STATE(state,</a:t>
            </a:r>
            <a:r>
              <a:rPr sz="850" spc="-60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percept)</a:t>
            </a:r>
            <a:r>
              <a:rPr sz="850" dirty="0">
                <a:latin typeface="Courier New"/>
                <a:cs typeface="Courier New"/>
              </a:rPr>
              <a:t>	//</a:t>
            </a:r>
            <a:r>
              <a:rPr sz="850" spc="-6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pickup,</a:t>
            </a:r>
            <a:r>
              <a:rPr sz="850" spc="-5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drop,</a:t>
            </a:r>
            <a:r>
              <a:rPr sz="850" spc="-5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traffic,</a:t>
            </a:r>
            <a:r>
              <a:rPr sz="850" spc="-4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drivers </a:t>
            </a:r>
            <a:r>
              <a:rPr sz="850" dirty="0">
                <a:latin typeface="Courier New"/>
                <a:cs typeface="Courier New"/>
              </a:rPr>
              <a:t>source,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destination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state.pickup,</a:t>
            </a:r>
            <a:r>
              <a:rPr sz="850" spc="-4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state.drop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850">
              <a:latin typeface="Courier New"/>
              <a:cs typeface="Courier New"/>
            </a:endParaRPr>
          </a:p>
          <a:p>
            <a:pPr marL="457200" marR="3184525" indent="-262255">
              <a:lnSpc>
                <a:spcPct val="107100"/>
              </a:lnSpc>
            </a:pPr>
            <a:r>
              <a:rPr sz="850" dirty="0">
                <a:latin typeface="Courier New"/>
                <a:cs typeface="Courier New"/>
              </a:rPr>
              <a:t>if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source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or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destination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is</a:t>
            </a:r>
            <a:r>
              <a:rPr sz="850" spc="-4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invalid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spc="-20" dirty="0">
                <a:latin typeface="Courier New"/>
                <a:cs typeface="Courier New"/>
              </a:rPr>
              <a:t>then </a:t>
            </a:r>
            <a:r>
              <a:rPr sz="850" dirty="0">
                <a:latin typeface="Courier New"/>
                <a:cs typeface="Courier New"/>
              </a:rPr>
              <a:t>return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REQUEST-VALID-LOCATION()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850">
              <a:latin typeface="Courier New"/>
              <a:cs typeface="Courier New"/>
            </a:endParaRPr>
          </a:p>
          <a:p>
            <a:pPr marL="194945" marR="3184525">
              <a:lnSpc>
                <a:spcPct val="107100"/>
              </a:lnSpc>
            </a:pPr>
            <a:r>
              <a:rPr sz="850" dirty="0">
                <a:latin typeface="Courier New"/>
                <a:cs typeface="Courier New"/>
              </a:rPr>
              <a:t>availableCabs</a:t>
            </a:r>
            <a:r>
              <a:rPr sz="850" spc="-7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70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GET-NEARBY-CABS(source) </a:t>
            </a:r>
            <a:r>
              <a:rPr sz="850" dirty="0">
                <a:latin typeface="Courier New"/>
                <a:cs typeface="Courier New"/>
              </a:rPr>
              <a:t>if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availableCabs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is</a:t>
            </a:r>
            <a:r>
              <a:rPr sz="850" spc="-2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empty</a:t>
            </a:r>
            <a:r>
              <a:rPr sz="850" spc="-15" dirty="0">
                <a:latin typeface="Courier New"/>
                <a:cs typeface="Courier New"/>
              </a:rPr>
              <a:t> </a:t>
            </a:r>
            <a:r>
              <a:rPr sz="850" spc="-20" dirty="0">
                <a:latin typeface="Courier New"/>
                <a:cs typeface="Courier New"/>
              </a:rPr>
              <a:t>then</a:t>
            </a:r>
            <a:endParaRPr sz="850">
              <a:latin typeface="Courier New"/>
              <a:cs typeface="Courier New"/>
            </a:endParaRPr>
          </a:p>
          <a:p>
            <a:pPr marL="455930">
              <a:lnSpc>
                <a:spcPct val="100000"/>
              </a:lnSpc>
              <a:spcBef>
                <a:spcPts val="85"/>
              </a:spcBef>
            </a:pPr>
            <a:r>
              <a:rPr sz="850" dirty="0">
                <a:latin typeface="Courier New"/>
                <a:cs typeface="Courier New"/>
              </a:rPr>
              <a:t>return</a:t>
            </a:r>
            <a:r>
              <a:rPr sz="850" spc="-6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NOTIFY("No</a:t>
            </a:r>
            <a:r>
              <a:rPr sz="850" spc="-6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cabs</a:t>
            </a:r>
            <a:r>
              <a:rPr sz="850" spc="-6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available,</a:t>
            </a:r>
            <a:r>
              <a:rPr sz="850" spc="-6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try</a:t>
            </a:r>
            <a:r>
              <a:rPr sz="850" spc="-6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later")</a:t>
            </a:r>
            <a:endParaRPr sz="850">
              <a:latin typeface="Courier New"/>
              <a:cs typeface="Courier New"/>
            </a:endParaRPr>
          </a:p>
          <a:p>
            <a:pPr marL="194945" marR="2341245">
              <a:lnSpc>
                <a:spcPts val="2210"/>
              </a:lnSpc>
              <a:spcBef>
                <a:spcPts val="254"/>
              </a:spcBef>
            </a:pPr>
            <a:r>
              <a:rPr sz="850" dirty="0">
                <a:latin typeface="Courier New"/>
                <a:cs typeface="Courier New"/>
              </a:rPr>
              <a:t>distance,</a:t>
            </a:r>
            <a:r>
              <a:rPr sz="850" spc="-1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time</a:t>
            </a:r>
            <a:r>
              <a:rPr sz="850" spc="-1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10" dirty="0">
                <a:latin typeface="Courier New"/>
                <a:cs typeface="Courier New"/>
              </a:rPr>
              <a:t> </a:t>
            </a:r>
            <a:r>
              <a:rPr sz="850" spc="-20" dirty="0">
                <a:latin typeface="Courier New"/>
                <a:cs typeface="Courier New"/>
              </a:rPr>
              <a:t>ESTIMATE-</a:t>
            </a:r>
            <a:r>
              <a:rPr sz="850" spc="-10" dirty="0">
                <a:latin typeface="Courier New"/>
                <a:cs typeface="Courier New"/>
              </a:rPr>
              <a:t>ROUTE(source, destination) </a:t>
            </a:r>
            <a:r>
              <a:rPr sz="850" dirty="0">
                <a:latin typeface="Courier New"/>
                <a:cs typeface="Courier New"/>
              </a:rPr>
              <a:t>bestCab</a:t>
            </a:r>
            <a:r>
              <a:rPr sz="850" spc="-4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45" dirty="0">
                <a:latin typeface="Courier New"/>
                <a:cs typeface="Courier New"/>
              </a:rPr>
              <a:t> </a:t>
            </a:r>
            <a:r>
              <a:rPr sz="850" spc="-20" dirty="0">
                <a:latin typeface="Courier New"/>
                <a:cs typeface="Courier New"/>
              </a:rPr>
              <a:t>NULL</a:t>
            </a:r>
            <a:endParaRPr sz="850">
              <a:latin typeface="Courier New"/>
              <a:cs typeface="Courier New"/>
            </a:endParaRPr>
          </a:p>
          <a:p>
            <a:pPr marL="194945">
              <a:lnSpc>
                <a:spcPts val="819"/>
              </a:lnSpc>
            </a:pPr>
            <a:r>
              <a:rPr sz="850" dirty="0">
                <a:latin typeface="Courier New"/>
                <a:cs typeface="Courier New"/>
              </a:rPr>
              <a:t>bestUtility</a:t>
            </a:r>
            <a:r>
              <a:rPr sz="850" spc="-7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65" dirty="0">
                <a:latin typeface="Courier New"/>
                <a:cs typeface="Courier New"/>
              </a:rPr>
              <a:t> </a:t>
            </a:r>
            <a:r>
              <a:rPr sz="850" spc="-25" dirty="0">
                <a:latin typeface="Courier New"/>
                <a:cs typeface="Courier New"/>
              </a:rPr>
              <a:t>-</a:t>
            </a:r>
            <a:r>
              <a:rPr sz="850" spc="-10" dirty="0">
                <a:latin typeface="Courier New"/>
                <a:cs typeface="Courier New"/>
              </a:rPr>
              <a:t>infinity</a:t>
            </a:r>
            <a:endParaRPr sz="850">
              <a:latin typeface="Courier New"/>
              <a:cs typeface="Courier New"/>
            </a:endParaRPr>
          </a:p>
          <a:p>
            <a:pPr marL="457200" marR="2148205" indent="-262255">
              <a:lnSpc>
                <a:spcPct val="107400"/>
              </a:lnSpc>
              <a:spcBef>
                <a:spcPts val="10"/>
              </a:spcBef>
            </a:pPr>
            <a:r>
              <a:rPr sz="850" dirty="0">
                <a:latin typeface="Courier New"/>
                <a:cs typeface="Courier New"/>
              </a:rPr>
              <a:t>for</a:t>
            </a:r>
            <a:r>
              <a:rPr sz="850" spc="-5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each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cabType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in</a:t>
            </a:r>
            <a:r>
              <a:rPr sz="850" spc="-5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{mini,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micro,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sedan,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shared,</a:t>
            </a:r>
            <a:r>
              <a:rPr sz="850" spc="-5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prime}: </a:t>
            </a:r>
            <a:r>
              <a:rPr sz="850" dirty="0">
                <a:latin typeface="Courier New"/>
                <a:cs typeface="Courier New"/>
              </a:rPr>
              <a:t>if</a:t>
            </a:r>
            <a:r>
              <a:rPr sz="850" spc="-3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cabType</a:t>
            </a:r>
            <a:r>
              <a:rPr sz="850" spc="-3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is</a:t>
            </a:r>
            <a:r>
              <a:rPr sz="850" spc="-3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available:</a:t>
            </a:r>
            <a:endParaRPr sz="850">
              <a:latin typeface="Courier New"/>
              <a:cs typeface="Courier New"/>
            </a:endParaRPr>
          </a:p>
          <a:p>
            <a:pPr marL="719455" marR="1752600">
              <a:lnSpc>
                <a:spcPct val="107100"/>
              </a:lnSpc>
              <a:spcBef>
                <a:spcPts val="10"/>
              </a:spcBef>
            </a:pPr>
            <a:r>
              <a:rPr sz="850" dirty="0">
                <a:latin typeface="Courier New"/>
                <a:cs typeface="Courier New"/>
              </a:rPr>
              <a:t>fare</a:t>
            </a:r>
            <a:r>
              <a:rPr sz="850" spc="-4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3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CALCULATE-FARE(cabType,</a:t>
            </a:r>
            <a:r>
              <a:rPr sz="850" spc="-4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distance,</a:t>
            </a:r>
            <a:r>
              <a:rPr sz="850" spc="-3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time,</a:t>
            </a:r>
            <a:r>
              <a:rPr sz="850" spc="-50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surge) </a:t>
            </a:r>
            <a:r>
              <a:rPr sz="850" dirty="0">
                <a:latin typeface="Courier New"/>
                <a:cs typeface="Courier New"/>
              </a:rPr>
              <a:t>eta</a:t>
            </a:r>
            <a:r>
              <a:rPr sz="850" spc="38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10" dirty="0">
                <a:latin typeface="Courier New"/>
                <a:cs typeface="Courier New"/>
              </a:rPr>
              <a:t> ESTIMATE-ARRIVAL(cabType, source)</a:t>
            </a:r>
            <a:endParaRPr sz="850">
              <a:latin typeface="Courier New"/>
              <a:cs typeface="Courier New"/>
            </a:endParaRPr>
          </a:p>
          <a:p>
            <a:pPr marL="719455">
              <a:lnSpc>
                <a:spcPct val="100000"/>
              </a:lnSpc>
              <a:spcBef>
                <a:spcPts val="85"/>
              </a:spcBef>
            </a:pPr>
            <a:r>
              <a:rPr sz="850" dirty="0">
                <a:latin typeface="Courier New"/>
                <a:cs typeface="Courier New"/>
              </a:rPr>
              <a:t>comfort &lt;-</a:t>
            </a:r>
            <a:r>
              <a:rPr sz="850" spc="1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COMFORT-SCORE(cabType)</a:t>
            </a:r>
            <a:endParaRPr sz="850">
              <a:latin typeface="Courier New"/>
              <a:cs typeface="Courier New"/>
            </a:endParaRPr>
          </a:p>
          <a:p>
            <a:pPr marL="719455" marR="1687195">
              <a:lnSpc>
                <a:spcPct val="105900"/>
              </a:lnSpc>
              <a:spcBef>
                <a:spcPts val="25"/>
              </a:spcBef>
            </a:pPr>
            <a:r>
              <a:rPr sz="850" dirty="0">
                <a:latin typeface="Courier New"/>
                <a:cs typeface="Courier New"/>
              </a:rPr>
              <a:t>U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4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w1*comfort</a:t>
            </a:r>
            <a:r>
              <a:rPr sz="850" spc="-3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-</a:t>
            </a:r>
            <a:r>
              <a:rPr sz="850" spc="-3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w2*fare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-</a:t>
            </a:r>
            <a:r>
              <a:rPr sz="850" spc="-4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w3*eta</a:t>
            </a:r>
            <a:r>
              <a:rPr sz="850" spc="-4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+</a:t>
            </a:r>
            <a:r>
              <a:rPr sz="850" spc="-3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w4*RATING(cabType) </a:t>
            </a:r>
            <a:r>
              <a:rPr sz="850" dirty="0">
                <a:latin typeface="Courier New"/>
                <a:cs typeface="Courier New"/>
              </a:rPr>
              <a:t>if</a:t>
            </a:r>
            <a:r>
              <a:rPr sz="850" spc="-4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U</a:t>
            </a:r>
            <a:r>
              <a:rPr sz="850" spc="-3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&gt;</a:t>
            </a:r>
            <a:r>
              <a:rPr sz="850" spc="-4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bestUtility</a:t>
            </a:r>
            <a:r>
              <a:rPr sz="850" spc="-35" dirty="0">
                <a:latin typeface="Courier New"/>
                <a:cs typeface="Courier New"/>
              </a:rPr>
              <a:t> </a:t>
            </a:r>
            <a:r>
              <a:rPr sz="850" spc="-20" dirty="0">
                <a:latin typeface="Courier New"/>
                <a:cs typeface="Courier New"/>
              </a:rPr>
              <a:t>then</a:t>
            </a:r>
            <a:endParaRPr sz="850">
              <a:latin typeface="Courier New"/>
              <a:cs typeface="Courier New"/>
            </a:endParaRPr>
          </a:p>
          <a:p>
            <a:pPr marL="979805" marR="3831590">
              <a:lnSpc>
                <a:spcPct val="105900"/>
              </a:lnSpc>
              <a:spcBef>
                <a:spcPts val="35"/>
              </a:spcBef>
            </a:pPr>
            <a:r>
              <a:rPr sz="850" dirty="0">
                <a:latin typeface="Courier New"/>
                <a:cs typeface="Courier New"/>
              </a:rPr>
              <a:t>bestUtility</a:t>
            </a:r>
            <a:r>
              <a:rPr sz="850" spc="-6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60" dirty="0">
                <a:latin typeface="Courier New"/>
                <a:cs typeface="Courier New"/>
              </a:rPr>
              <a:t> </a:t>
            </a:r>
            <a:r>
              <a:rPr sz="850" spc="-50" dirty="0">
                <a:latin typeface="Courier New"/>
                <a:cs typeface="Courier New"/>
              </a:rPr>
              <a:t>U </a:t>
            </a:r>
            <a:r>
              <a:rPr sz="850" dirty="0">
                <a:latin typeface="Courier New"/>
                <a:cs typeface="Courier New"/>
              </a:rPr>
              <a:t>bestCab</a:t>
            </a:r>
            <a:r>
              <a:rPr sz="850" spc="-7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7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cabType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850">
              <a:latin typeface="Courier New"/>
              <a:cs typeface="Courier New"/>
            </a:endParaRPr>
          </a:p>
          <a:p>
            <a:pPr marL="194945" marR="1823720">
              <a:lnSpc>
                <a:spcPct val="107100"/>
              </a:lnSpc>
            </a:pPr>
            <a:r>
              <a:rPr sz="850" dirty="0">
                <a:latin typeface="Courier New"/>
                <a:cs typeface="Courier New"/>
              </a:rPr>
              <a:t>DISPLAY(all</a:t>
            </a:r>
            <a:r>
              <a:rPr sz="850" spc="-6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cab</a:t>
            </a:r>
            <a:r>
              <a:rPr sz="850" spc="-5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options</a:t>
            </a:r>
            <a:r>
              <a:rPr sz="850" spc="-6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with</a:t>
            </a:r>
            <a:r>
              <a:rPr sz="850" spc="-5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fare</a:t>
            </a:r>
            <a:r>
              <a:rPr sz="850" spc="-5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and</a:t>
            </a:r>
            <a:r>
              <a:rPr sz="850" spc="-6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ETA,</a:t>
            </a:r>
            <a:r>
              <a:rPr sz="850" spc="-5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highlight</a:t>
            </a:r>
            <a:r>
              <a:rPr sz="850" spc="-5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bestCab) </a:t>
            </a:r>
            <a:r>
              <a:rPr sz="850" dirty="0">
                <a:latin typeface="Courier New"/>
                <a:cs typeface="Courier New"/>
              </a:rPr>
              <a:t>choice</a:t>
            </a:r>
            <a:r>
              <a:rPr sz="850" spc="1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15" dirty="0">
                <a:latin typeface="Courier New"/>
                <a:cs typeface="Courier New"/>
              </a:rPr>
              <a:t> </a:t>
            </a:r>
            <a:r>
              <a:rPr sz="850" spc="-20" dirty="0">
                <a:latin typeface="Courier New"/>
                <a:cs typeface="Courier New"/>
              </a:rPr>
              <a:t>GET-CUSTOMER-</a:t>
            </a:r>
            <a:r>
              <a:rPr sz="850" spc="-10" dirty="0">
                <a:latin typeface="Courier New"/>
                <a:cs typeface="Courier New"/>
              </a:rPr>
              <a:t>CHOICE(default</a:t>
            </a:r>
            <a:r>
              <a:rPr sz="850" spc="1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=</a:t>
            </a:r>
            <a:r>
              <a:rPr sz="850" spc="1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bestCab)</a:t>
            </a:r>
            <a:endParaRPr sz="850">
              <a:latin typeface="Courier New"/>
              <a:cs typeface="Courier New"/>
            </a:endParaRPr>
          </a:p>
          <a:p>
            <a:pPr marL="194945">
              <a:lnSpc>
                <a:spcPct val="100000"/>
              </a:lnSpc>
              <a:spcBef>
                <a:spcPts val="85"/>
              </a:spcBef>
            </a:pPr>
            <a:r>
              <a:rPr sz="850" dirty="0">
                <a:latin typeface="Courier New"/>
                <a:cs typeface="Courier New"/>
              </a:rPr>
              <a:t>driver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&lt;-</a:t>
            </a:r>
            <a:r>
              <a:rPr sz="850" spc="-20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ASSIGN-</a:t>
            </a:r>
            <a:r>
              <a:rPr sz="850" dirty="0">
                <a:latin typeface="Courier New"/>
                <a:cs typeface="Courier New"/>
              </a:rPr>
              <a:t>DRIVER(choice,</a:t>
            </a:r>
            <a:r>
              <a:rPr sz="850" spc="-5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source)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850">
              <a:latin typeface="Courier New"/>
              <a:cs typeface="Courier New"/>
            </a:endParaRPr>
          </a:p>
          <a:p>
            <a:pPr marL="194945">
              <a:lnSpc>
                <a:spcPct val="100000"/>
              </a:lnSpc>
            </a:pPr>
            <a:r>
              <a:rPr sz="850" dirty="0">
                <a:latin typeface="Courier New"/>
                <a:cs typeface="Courier New"/>
              </a:rPr>
              <a:t>if</a:t>
            </a:r>
            <a:r>
              <a:rPr sz="850" spc="-2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driver</a:t>
            </a:r>
            <a:r>
              <a:rPr sz="850" spc="-1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accepts</a:t>
            </a:r>
            <a:r>
              <a:rPr sz="850" spc="-10" dirty="0">
                <a:latin typeface="Courier New"/>
                <a:cs typeface="Courier New"/>
              </a:rPr>
              <a:t> </a:t>
            </a:r>
            <a:r>
              <a:rPr sz="850" spc="-20" dirty="0">
                <a:latin typeface="Courier New"/>
                <a:cs typeface="Courier New"/>
              </a:rPr>
              <a:t>then</a:t>
            </a:r>
            <a:endParaRPr sz="850">
              <a:latin typeface="Courier New"/>
              <a:cs typeface="Courier New"/>
            </a:endParaRPr>
          </a:p>
          <a:p>
            <a:pPr marL="457200">
              <a:lnSpc>
                <a:spcPct val="100000"/>
              </a:lnSpc>
              <a:spcBef>
                <a:spcPts val="85"/>
              </a:spcBef>
            </a:pPr>
            <a:r>
              <a:rPr sz="850" dirty="0">
                <a:latin typeface="Courier New"/>
                <a:cs typeface="Courier New"/>
              </a:rPr>
              <a:t>return</a:t>
            </a:r>
            <a:r>
              <a:rPr sz="850" spc="-30" dirty="0">
                <a:latin typeface="Courier New"/>
                <a:cs typeface="Courier New"/>
              </a:rPr>
              <a:t> </a:t>
            </a:r>
            <a:r>
              <a:rPr sz="850" spc="-10" dirty="0">
                <a:latin typeface="Courier New"/>
                <a:cs typeface="Courier New"/>
              </a:rPr>
              <a:t>CONFIRM-</a:t>
            </a:r>
            <a:r>
              <a:rPr sz="850" dirty="0">
                <a:latin typeface="Courier New"/>
                <a:cs typeface="Courier New"/>
              </a:rPr>
              <a:t>BOOKING(choice,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driver,</a:t>
            </a:r>
            <a:r>
              <a:rPr sz="850" spc="-15" dirty="0">
                <a:latin typeface="Courier New"/>
                <a:cs typeface="Courier New"/>
              </a:rPr>
              <a:t> </a:t>
            </a:r>
            <a:r>
              <a:rPr sz="850" spc="-20" dirty="0">
                <a:latin typeface="Courier New"/>
                <a:cs typeface="Courier New"/>
              </a:rPr>
              <a:t>fare)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32" y="693216"/>
            <a:ext cx="5861685" cy="118808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170"/>
              </a:spcBef>
            </a:pPr>
            <a:r>
              <a:rPr sz="850" spc="-20" dirty="0">
                <a:latin typeface="Courier New"/>
                <a:cs typeface="Courier New"/>
              </a:rPr>
              <a:t>else</a:t>
            </a:r>
            <a:endParaRPr sz="850">
              <a:latin typeface="Courier New"/>
              <a:cs typeface="Courier New"/>
            </a:endParaRPr>
          </a:p>
          <a:p>
            <a:pPr marL="457200">
              <a:lnSpc>
                <a:spcPct val="100000"/>
              </a:lnSpc>
              <a:spcBef>
                <a:spcPts val="70"/>
              </a:spcBef>
            </a:pPr>
            <a:r>
              <a:rPr sz="850" dirty="0">
                <a:latin typeface="Courier New"/>
                <a:cs typeface="Courier New"/>
              </a:rPr>
              <a:t>remove</a:t>
            </a:r>
            <a:r>
              <a:rPr sz="850" spc="-3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choice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from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availableCabs;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repeat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from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selection</a:t>
            </a:r>
            <a:r>
              <a:rPr sz="850" spc="-25" dirty="0">
                <a:latin typeface="Courier New"/>
                <a:cs typeface="Courier New"/>
              </a:rPr>
              <a:t> </a:t>
            </a:r>
            <a:r>
              <a:rPr sz="850" spc="-20" dirty="0">
                <a:latin typeface="Courier New"/>
                <a:cs typeface="Courier New"/>
              </a:rPr>
              <a:t>step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100" b="1" dirty="0">
                <a:solidFill>
                  <a:srgbClr val="2A5B88"/>
                </a:solidFill>
                <a:latin typeface="Arial"/>
                <a:cs typeface="Arial"/>
              </a:rPr>
              <a:t>4.</a:t>
            </a:r>
            <a:r>
              <a:rPr sz="1100" b="1" spc="-10" dirty="0">
                <a:solidFill>
                  <a:srgbClr val="2A5B8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Interpretation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6500"/>
              </a:lnSpc>
              <a:spcBef>
                <a:spcPts val="57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senses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trip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request,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generates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available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cab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types,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scores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utility,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shows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ranked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options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lets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customer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confirm.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driver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declines,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re-</a:t>
            </a:r>
            <a:r>
              <a:rPr sz="1000" dirty="0">
                <a:latin typeface="Arial"/>
                <a:cs typeface="Arial"/>
              </a:rPr>
              <a:t>plans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next-</a:t>
            </a:r>
            <a:r>
              <a:rPr sz="1000" spc="-20" dirty="0">
                <a:latin typeface="Arial"/>
                <a:cs typeface="Arial"/>
              </a:rPr>
              <a:t>best </a:t>
            </a:r>
            <a:r>
              <a:rPr sz="1000" dirty="0">
                <a:latin typeface="Arial"/>
                <a:cs typeface="Arial"/>
              </a:rPr>
              <a:t>option,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shows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ability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handle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dynamic,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uncertain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environment.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132" y="699007"/>
            <a:ext cx="5436870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Question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5: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Uniform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Cost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Search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(UCS)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Delivery</a:t>
            </a:r>
            <a:r>
              <a:rPr sz="1400" b="1" spc="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Network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b="1" dirty="0">
                <a:solidFill>
                  <a:srgbClr val="2A5B88"/>
                </a:solidFill>
                <a:latin typeface="Arial"/>
                <a:cs typeface="Arial"/>
              </a:rPr>
              <a:t>1.</a:t>
            </a:r>
            <a:r>
              <a:rPr sz="1100" b="1" spc="-30" dirty="0">
                <a:solidFill>
                  <a:srgbClr val="2A5B88"/>
                </a:solidFill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Problem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understanding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00" dirty="0">
                <a:latin typeface="Arial"/>
                <a:cs typeface="Arial"/>
              </a:rPr>
              <a:t>Edges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graph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(directed,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fuel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+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time):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4788" y="1531873"/>
          <a:ext cx="5990590" cy="43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6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9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96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Edge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S-</a:t>
                      </a:r>
                      <a:r>
                        <a:rPr sz="8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S-</a:t>
                      </a:r>
                      <a:r>
                        <a:rPr sz="8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A-</a:t>
                      </a:r>
                      <a:r>
                        <a:rPr sz="8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A-</a:t>
                      </a:r>
                      <a:r>
                        <a:rPr sz="8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B-</a:t>
                      </a:r>
                      <a:r>
                        <a:rPr sz="8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C-</a:t>
                      </a:r>
                      <a:r>
                        <a:rPr sz="8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C-</a:t>
                      </a:r>
                      <a:r>
                        <a:rPr sz="8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D-</a:t>
                      </a:r>
                      <a:r>
                        <a:rPr sz="8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20" dirty="0">
                          <a:latin typeface="Arial"/>
                          <a:cs typeface="Arial"/>
                        </a:rPr>
                        <a:t>Cost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1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25" dirty="0">
                          <a:latin typeface="Arial"/>
                          <a:cs typeface="Arial"/>
                        </a:rPr>
                        <a:t>12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1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1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2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3132" y="2105913"/>
            <a:ext cx="5970905" cy="109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00"/>
              </a:spcBef>
              <a:buClr>
                <a:srgbClr val="2A5B88"/>
              </a:buClr>
              <a:buFont typeface="Arial"/>
              <a:buAutoNum type="arabicPeriod" startAt="2"/>
              <a:tabLst>
                <a:tab pos="166370" algn="l"/>
              </a:tabLst>
            </a:pPr>
            <a:r>
              <a:rPr sz="1100" b="1" dirty="0">
                <a:latin typeface="Arial"/>
                <a:cs typeface="Arial"/>
              </a:rPr>
              <a:t>Method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selection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7000"/>
              </a:lnSpc>
              <a:spcBef>
                <a:spcPts val="570"/>
              </a:spcBef>
            </a:pPr>
            <a:r>
              <a:rPr sz="1000" dirty="0">
                <a:latin typeface="Arial"/>
                <a:cs typeface="Arial"/>
              </a:rPr>
              <a:t>UCS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always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expands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frontier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node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lowest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path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cost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g(n)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using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priority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queue.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Since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costs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positive,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UCS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complete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and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optimal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exactly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least-</a:t>
            </a:r>
            <a:r>
              <a:rPr sz="1000" dirty="0">
                <a:latin typeface="Arial"/>
                <a:cs typeface="Arial"/>
              </a:rPr>
              <a:t>cost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routing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problem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requires.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test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applied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node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removed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queue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(not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when</a:t>
            </a:r>
            <a:r>
              <a:rPr sz="1000" spc="-10" dirty="0">
                <a:latin typeface="Arial"/>
                <a:cs typeface="Arial"/>
              </a:rPr>
              <a:t> generated).</a:t>
            </a:r>
            <a:endParaRPr sz="10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spcBef>
                <a:spcPts val="994"/>
              </a:spcBef>
              <a:buClr>
                <a:srgbClr val="2A5B88"/>
              </a:buClr>
              <a:buFont typeface="Arial"/>
              <a:buAutoNum type="arabicPeriod" startAt="3"/>
              <a:tabLst>
                <a:tab pos="166370" algn="l"/>
              </a:tabLst>
            </a:pPr>
            <a:r>
              <a:rPr sz="1100" b="1" dirty="0">
                <a:latin typeface="Arial"/>
                <a:cs typeface="Arial"/>
              </a:rPr>
              <a:t>Solution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process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6500" y="3283330"/>
          <a:ext cx="6024245" cy="178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96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Step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Node</a:t>
                      </a:r>
                      <a:r>
                        <a:rPr sz="85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expanded</a:t>
                      </a:r>
                      <a:r>
                        <a:rPr sz="85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(g)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Nodes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generated</a:t>
                      </a:r>
                      <a:r>
                        <a:rPr sz="8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850" b="1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updated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 marR="431800">
                        <a:lnSpc>
                          <a:spcPct val="108200"/>
                        </a:lnSpc>
                        <a:spcBef>
                          <a:spcPts val="204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Frontier</a:t>
                      </a: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(priority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queue,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ordered</a:t>
                      </a:r>
                      <a:r>
                        <a:rPr sz="8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85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1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S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(0)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1,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12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A(1),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G(12)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2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(1)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1+3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4,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1+1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2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C(2),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B(4),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G(12)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C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(2)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422909">
                        <a:lnSpc>
                          <a:spcPct val="109400"/>
                        </a:lnSpc>
                        <a:spcBef>
                          <a:spcPts val="195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2+1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2+2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(better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than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12,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so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updated)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D(3),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B(4),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G(4)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4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D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(3)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via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3+3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(worse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than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4,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ignored)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B(4),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G(4)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5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B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(4)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via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4+3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(worse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than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3,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ignored)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20" dirty="0">
                          <a:latin typeface="Arial"/>
                          <a:cs typeface="Arial"/>
                        </a:rPr>
                        <a:t>G(4)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spc="-50" dirty="0">
                          <a:latin typeface="Arial"/>
                          <a:cs typeface="Arial"/>
                        </a:rPr>
                        <a:t>6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G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(4)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Goal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passed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spc="-20" dirty="0">
                          <a:latin typeface="Arial"/>
                          <a:cs typeface="Arial"/>
                        </a:rPr>
                        <a:t> stop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-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83132" y="5090947"/>
            <a:ext cx="5805805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Order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of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expansion: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G.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(B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cost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4;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removed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first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because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was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inserted </a:t>
            </a:r>
            <a:r>
              <a:rPr sz="1000" dirty="0">
                <a:latin typeface="Arial"/>
                <a:cs typeface="Arial"/>
              </a:rPr>
              <a:t>earlier.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Choosing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first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gives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answer.)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100" b="1" dirty="0">
                <a:solidFill>
                  <a:srgbClr val="2A5B88"/>
                </a:solidFill>
                <a:latin typeface="Arial"/>
                <a:cs typeface="Arial"/>
              </a:rPr>
              <a:t>4.</a:t>
            </a:r>
            <a:r>
              <a:rPr sz="1100" b="1" spc="-25" dirty="0">
                <a:solidFill>
                  <a:srgbClr val="2A5B88"/>
                </a:solidFill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Accuracy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interpretation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000" b="1" dirty="0">
                <a:latin typeface="Arial"/>
                <a:cs typeface="Arial"/>
              </a:rPr>
              <a:t>Optimal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path: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</a:t>
            </a:r>
            <a:r>
              <a:rPr sz="1000" b="1" spc="-10" dirty="0">
                <a:latin typeface="Arial"/>
                <a:cs typeface="Arial"/>
              </a:rPr>
              <a:t> -</a:t>
            </a:r>
            <a:r>
              <a:rPr sz="1000" b="1" dirty="0">
                <a:latin typeface="Arial"/>
                <a:cs typeface="Arial"/>
              </a:rPr>
              <a:t>&gt;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</a:t>
            </a:r>
            <a:r>
              <a:rPr sz="1000" b="1" spc="-10" dirty="0">
                <a:latin typeface="Arial"/>
                <a:cs typeface="Arial"/>
              </a:rPr>
              <a:t> -</a:t>
            </a:r>
            <a:r>
              <a:rPr sz="1000" b="1" dirty="0">
                <a:latin typeface="Arial"/>
                <a:cs typeface="Arial"/>
              </a:rPr>
              <a:t>&gt;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 </a:t>
            </a:r>
            <a:r>
              <a:rPr sz="1000" b="1" spc="-10" dirty="0">
                <a:latin typeface="Arial"/>
                <a:cs typeface="Arial"/>
              </a:rPr>
              <a:t>-</a:t>
            </a:r>
            <a:r>
              <a:rPr sz="1000" b="1" dirty="0">
                <a:latin typeface="Arial"/>
                <a:cs typeface="Arial"/>
              </a:rPr>
              <a:t>&gt;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G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with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minimum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total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cost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=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+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+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=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4.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06500" y="6089269"/>
          <a:ext cx="6022975" cy="107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Path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1F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+ 1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850" b="1" spc="-10" dirty="0">
                          <a:latin typeface="Arial"/>
                          <a:cs typeface="Arial"/>
                        </a:rPr>
                        <a:t> (optimal)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C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+ 1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6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50" dirty="0">
                          <a:latin typeface="Arial"/>
                          <a:cs typeface="Arial"/>
                        </a:rPr>
                        <a:t>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+ 3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5" dirty="0">
                          <a:latin typeface="Arial"/>
                          <a:cs typeface="Arial"/>
                        </a:rPr>
                        <a:t>10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(direct)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50" spc="-25" dirty="0">
                          <a:latin typeface="Arial"/>
                          <a:cs typeface="Arial"/>
                        </a:rPr>
                        <a:t>12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999999"/>
                      </a:solidFill>
                      <a:prstDash val="solid"/>
                    </a:lnL>
                    <a:lnR w="6350">
                      <a:solidFill>
                        <a:srgbClr val="999999"/>
                      </a:solidFill>
                      <a:prstDash val="solid"/>
                    </a:lnR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83132" y="7185050"/>
            <a:ext cx="5906135" cy="913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direct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route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looks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shortest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edges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(1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edge)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but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expensive.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UCS </a:t>
            </a:r>
            <a:r>
              <a:rPr sz="1000" dirty="0">
                <a:latin typeface="Arial"/>
                <a:cs typeface="Arial"/>
              </a:rPr>
              <a:t>correctly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prefers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cheaper</a:t>
            </a:r>
            <a:r>
              <a:rPr sz="1000" spc="-10" dirty="0">
                <a:latin typeface="Arial"/>
                <a:cs typeface="Arial"/>
              </a:rPr>
              <a:t> multi-</a:t>
            </a:r>
            <a:r>
              <a:rPr sz="1000" dirty="0">
                <a:latin typeface="Arial"/>
                <a:cs typeface="Arial"/>
              </a:rPr>
              <a:t>hop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route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through 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saving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8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units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(about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67%)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compared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direct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route.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company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should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packages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along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-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G.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complexity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is </a:t>
            </a:r>
            <a:r>
              <a:rPr sz="1000" dirty="0">
                <a:latin typeface="Arial"/>
                <a:cs typeface="Arial"/>
              </a:rPr>
              <a:t>O(b^(1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+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floor(C*/e)))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space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complexity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same,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C*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optimal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cost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minimum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edge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cost.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3003</Words>
  <Application>Microsoft Office PowerPoint</Application>
  <PresentationFormat>Custom</PresentationFormat>
  <Paragraphs>292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Book Antiqua</vt:lpstr>
      <vt:lpstr>Calibri</vt:lpstr>
      <vt:lpstr>Courier New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Problem Solving - Answers</dc:title>
  <dc:subject>(unspecified)</dc:subject>
  <dc:creator>(anonymous)</dc:creator>
  <cp:lastModifiedBy>naga koushal</cp:lastModifiedBy>
  <cp:revision>1</cp:revision>
  <dcterms:created xsi:type="dcterms:W3CDTF">2026-10-11T09:54:34Z</dcterms:created>
  <dcterms:modified xsi:type="dcterms:W3CDTF">2026-10-11T10:05:27Z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2026-10-09T00:00:00Z</vt:filetime>
  </property>
  <property fmtid="{D5CDD505-2E9C-101B-9397-08002B2CF9AE}" pid="4" name="Creator">
    <vt:lpwstr>Microsoft® Word 2021</vt:lpwstr>
  </property>
  <property fmtid="{D5CDD505-2E9C-101B-9397-08002B2CF9AE}" pid="5" name="LastSaved">
    <vt:filetime>2026-10-11T00:00:00Z</vt:filetime>
  </property>
  <property fmtid="{D5CDD505-2E9C-101B-9397-08002B2CF9AE}" pid="6" name="Producer">
    <vt:lpwstr>Microsoft® Word 2021</vt:lpwstr>
  </property>
</Properties>
</file>