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7556500" cy="10693400"/>
  <p:notesSz cx="7556500" cy="10693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150" d="100"/>
          <a:sy n="150" d="100"/>
        </p:scale>
        <p:origin x="-72" y="-702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4954"/>
            <a:ext cx="6428422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88304"/>
            <a:ext cx="5293995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8142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4867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142" y="427736"/>
            <a:ext cx="6806565" cy="17109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59482"/>
            <a:ext cx="6806565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71369" y="9944862"/>
            <a:ext cx="2420112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814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525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12"/>
          <p:cNvSpPr txBox="1"/>
          <p:nvPr/>
        </p:nvSpPr>
        <p:spPr>
          <a:xfrm>
            <a:off x="2588200" y="1843034"/>
            <a:ext cx="2436495" cy="5111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2150"/>
              </a:lnSpc>
              <a:spcBef>
                <a:spcPts val="100"/>
              </a:spcBef>
            </a:pPr>
            <a:r>
              <a:rPr sz="1800" spc="-85" dirty="0">
                <a:latin typeface="Bookman Old Style"/>
                <a:cs typeface="Bookman Old Style"/>
              </a:rPr>
              <a:t>SIMATS</a:t>
            </a:r>
            <a:r>
              <a:rPr sz="1800" spc="-40" dirty="0">
                <a:latin typeface="Bookman Old Style"/>
                <a:cs typeface="Bookman Old Style"/>
              </a:rPr>
              <a:t> </a:t>
            </a:r>
            <a:r>
              <a:rPr sz="1800" spc="-114" dirty="0">
                <a:latin typeface="Bookman Old Style"/>
                <a:cs typeface="Bookman Old Style"/>
              </a:rPr>
              <a:t>ENGINEERING</a:t>
            </a:r>
            <a:endParaRPr sz="1800">
              <a:latin typeface="Bookman Old Style"/>
              <a:cs typeface="Bookman Old Style"/>
            </a:endParaRPr>
          </a:p>
          <a:p>
            <a:pPr marR="20955" algn="ctr">
              <a:lnSpc>
                <a:spcPts val="1670"/>
              </a:lnSpc>
            </a:pPr>
            <a:r>
              <a:rPr sz="1400" dirty="0">
                <a:latin typeface="Times New Roman"/>
                <a:cs typeface="Times New Roman"/>
              </a:rPr>
              <a:t>.4SSESSMEh</a:t>
            </a:r>
            <a:r>
              <a:rPr sz="1400" spc="60" dirty="0">
                <a:latin typeface="Times New Roman"/>
                <a:cs typeface="Times New Roman"/>
              </a:rPr>
              <a:t> </a:t>
            </a:r>
            <a:r>
              <a:rPr sz="1400" spc="50" dirty="0">
                <a:latin typeface="Times New Roman"/>
                <a:cs typeface="Times New Roman"/>
              </a:rPr>
              <a:t>T</a:t>
            </a:r>
            <a:r>
              <a:rPr sz="1400" spc="100" dirty="0">
                <a:latin typeface="Times New Roman"/>
                <a:cs typeface="Times New Roman"/>
              </a:rPr>
              <a:t> </a:t>
            </a:r>
            <a:r>
              <a:rPr sz="1400" spc="50" dirty="0">
                <a:latin typeface="Times New Roman"/>
                <a:cs typeface="Times New Roman"/>
              </a:rPr>
              <a:t>TOOL</a:t>
            </a:r>
            <a:r>
              <a:rPr sz="1400" spc="215" dirty="0">
                <a:latin typeface="Times New Roman"/>
                <a:cs typeface="Times New Roman"/>
              </a:rPr>
              <a:t> </a:t>
            </a:r>
            <a:r>
              <a:rPr sz="1400" spc="-50" dirty="0">
                <a:latin typeface="Times New Roman"/>
                <a:cs typeface="Times New Roman"/>
              </a:rPr>
              <a:t>2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09218" y="2857909"/>
            <a:ext cx="1204595" cy="216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spc="-40" dirty="0">
                <a:latin typeface="Arial"/>
                <a:cs typeface="Arial"/>
              </a:rPr>
              <a:t>COURSE</a:t>
            </a:r>
            <a:r>
              <a:rPr sz="1250" spc="-45" dirty="0">
                <a:latin typeface="Arial"/>
                <a:cs typeface="Arial"/>
              </a:rPr>
              <a:t> </a:t>
            </a:r>
            <a:r>
              <a:rPr sz="1250" spc="-10" dirty="0">
                <a:latin typeface="Arial"/>
                <a:cs typeface="Arial"/>
              </a:rPr>
              <a:t>NAME:</a:t>
            </a:r>
            <a:endParaRPr sz="125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281615" y="2857909"/>
            <a:ext cx="1501140" cy="216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spc="10" dirty="0">
                <a:latin typeface="Arial"/>
                <a:cs typeface="Arial"/>
              </a:rPr>
              <a:t>Artificial</a:t>
            </a:r>
            <a:r>
              <a:rPr sz="1250" spc="170" dirty="0">
                <a:latin typeface="Arial"/>
                <a:cs typeface="Arial"/>
              </a:rPr>
              <a:t> </a:t>
            </a:r>
            <a:r>
              <a:rPr sz="1250" spc="-10" dirty="0">
                <a:latin typeface="Arial"/>
                <a:cs typeface="Arial"/>
              </a:rPr>
              <a:t>Intelligence</a:t>
            </a:r>
            <a:endParaRPr sz="125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607369" y="2857909"/>
            <a:ext cx="1735455" cy="216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spc="95" dirty="0">
                <a:latin typeface="Trebuchet MS"/>
                <a:cs typeface="Trebuchet MS"/>
              </a:rPr>
              <a:t>COURSE</a:t>
            </a:r>
            <a:r>
              <a:rPr sz="1250" spc="35" dirty="0">
                <a:latin typeface="Trebuchet MS"/>
                <a:cs typeface="Trebuchet MS"/>
              </a:rPr>
              <a:t> </a:t>
            </a:r>
            <a:r>
              <a:rPr sz="1250" spc="65" dirty="0">
                <a:latin typeface="Trebuchet MS"/>
                <a:cs typeface="Trebuchet MS"/>
              </a:rPr>
              <a:t>CODE:</a:t>
            </a:r>
            <a:r>
              <a:rPr sz="1250" spc="-35" dirty="0">
                <a:latin typeface="Trebuchet MS"/>
                <a:cs typeface="Trebuchet MS"/>
              </a:rPr>
              <a:t> </a:t>
            </a:r>
            <a:r>
              <a:rPr sz="1250" spc="55" dirty="0">
                <a:latin typeface="Trebuchet MS"/>
                <a:cs typeface="Trebuchet MS"/>
              </a:rPr>
              <a:t>CSA17</a:t>
            </a:r>
            <a:endParaRPr sz="1250">
              <a:latin typeface="Trebuchet MS"/>
              <a:cs typeface="Trebuchet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14584" y="3636782"/>
            <a:ext cx="5753100" cy="0"/>
          </a:xfrm>
          <a:custGeom>
            <a:avLst/>
            <a:gdLst/>
            <a:ahLst/>
            <a:cxnLst/>
            <a:rect l="l" t="t" r="r" b="b"/>
            <a:pathLst>
              <a:path w="5753100">
                <a:moveTo>
                  <a:pt x="0" y="0"/>
                </a:moveTo>
                <a:lnTo>
                  <a:pt x="5752737" y="0"/>
                </a:lnTo>
              </a:path>
            </a:pathLst>
          </a:custGeom>
          <a:ln w="457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909534" y="3976938"/>
            <a:ext cx="5782945" cy="12236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Arial"/>
                <a:cs typeface="Arial"/>
              </a:rPr>
              <a:t>COURSE</a:t>
            </a:r>
            <a:r>
              <a:rPr sz="1200" spc="-60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OUTCOME</a:t>
            </a:r>
            <a:r>
              <a:rPr sz="1200" spc="-3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COVERED</a:t>
            </a:r>
            <a:endParaRPr sz="12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65"/>
              </a:spcBef>
            </a:pPr>
            <a:endParaRPr sz="1200" dirty="0">
              <a:latin typeface="Arial"/>
              <a:cs typeface="Arial"/>
            </a:endParaRPr>
          </a:p>
          <a:p>
            <a:pPr marL="14604" marR="5080" indent="4445">
              <a:lnSpc>
                <a:spcPts val="1440"/>
              </a:lnSpc>
            </a:pPr>
            <a:r>
              <a:rPr sz="1300" spc="-60" dirty="0">
                <a:latin typeface="Arial"/>
                <a:cs typeface="Arial"/>
              </a:rPr>
              <a:t>COT:</a:t>
            </a:r>
            <a:r>
              <a:rPr sz="1300" spc="-35" dirty="0">
                <a:latin typeface="Arial"/>
                <a:cs typeface="Arial"/>
              </a:rPr>
              <a:t> Apply</a:t>
            </a:r>
            <a:r>
              <a:rPr sz="1300" spc="-55" dirty="0"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01114F"/>
                </a:solidFill>
                <a:latin typeface="Arial"/>
                <a:cs typeface="Arial"/>
              </a:rPr>
              <a:t>AI</a:t>
            </a:r>
            <a:r>
              <a:rPr sz="1300" spc="-70" dirty="0">
                <a:solidFill>
                  <a:srgbClr val="01114F"/>
                </a:solidFill>
                <a:latin typeface="Arial"/>
                <a:cs typeface="Arial"/>
              </a:rPr>
              <a:t> </a:t>
            </a:r>
            <a:r>
              <a:rPr sz="1300" spc="-40" dirty="0">
                <a:latin typeface="Arial"/>
                <a:cs typeface="Arial"/>
              </a:rPr>
              <a:t>basics</a:t>
            </a:r>
            <a:r>
              <a:rPr sz="1300" spc="35" dirty="0">
                <a:latin typeface="Arial"/>
                <a:cs typeface="Arial"/>
              </a:rPr>
              <a:t> </a:t>
            </a:r>
            <a:r>
              <a:rPr sz="1300" spc="-40" dirty="0">
                <a:solidFill>
                  <a:srgbClr val="335D83"/>
                </a:solidFill>
                <a:latin typeface="Arial"/>
                <a:cs typeface="Arial"/>
              </a:rPr>
              <a:t>such</a:t>
            </a:r>
            <a:r>
              <a:rPr sz="1300" spc="25" dirty="0">
                <a:solidFill>
                  <a:srgbClr val="335D83"/>
                </a:solidFill>
                <a:latin typeface="Arial"/>
                <a:cs typeface="Arial"/>
              </a:rPr>
              <a:t> </a:t>
            </a:r>
            <a:r>
              <a:rPr sz="1300" spc="-25" dirty="0">
                <a:latin typeface="Arial"/>
                <a:cs typeface="Arial"/>
              </a:rPr>
              <a:t>as</a:t>
            </a:r>
            <a:r>
              <a:rPr sz="1300" spc="-30" dirty="0">
                <a:latin typeface="Arial"/>
                <a:cs typeface="Arial"/>
              </a:rPr>
              <a:t> </a:t>
            </a:r>
            <a:r>
              <a:rPr sz="1300" spc="-45" dirty="0">
                <a:solidFill>
                  <a:srgbClr val="000A42"/>
                </a:solidFill>
                <a:latin typeface="Arial"/>
                <a:cs typeface="Arial"/>
              </a:rPr>
              <a:t>intelligent</a:t>
            </a:r>
            <a:r>
              <a:rPr sz="1300" spc="105" dirty="0">
                <a:solidFill>
                  <a:srgbClr val="000A42"/>
                </a:solidFill>
                <a:latin typeface="Arial"/>
                <a:cs typeface="Arial"/>
              </a:rPr>
              <a:t> </a:t>
            </a:r>
            <a:r>
              <a:rPr sz="1300" spc="-50" dirty="0">
                <a:latin typeface="Arial"/>
                <a:cs typeface="Arial"/>
              </a:rPr>
              <a:t>agents</a:t>
            </a:r>
            <a:r>
              <a:rPr sz="1300" spc="85" dirty="0">
                <a:latin typeface="Arial"/>
                <a:cs typeface="Arial"/>
              </a:rPr>
              <a:t> </a:t>
            </a:r>
            <a:r>
              <a:rPr sz="1300" spc="-55" dirty="0">
                <a:latin typeface="Arial"/>
                <a:cs typeface="Arial"/>
              </a:rPr>
              <a:t>and</a:t>
            </a:r>
            <a:r>
              <a:rPr sz="1300" spc="-35" dirty="0">
                <a:latin typeface="Arial"/>
                <a:cs typeface="Arial"/>
              </a:rPr>
              <a:t> </a:t>
            </a:r>
            <a:r>
              <a:rPr sz="1300" spc="-55" dirty="0">
                <a:latin typeface="Arial"/>
                <a:cs typeface="Arial"/>
              </a:rPr>
              <a:t>uninformed</a:t>
            </a:r>
            <a:r>
              <a:rPr sz="1300" spc="85" dirty="0">
                <a:latin typeface="Arial"/>
                <a:cs typeface="Arial"/>
              </a:rPr>
              <a:t> </a:t>
            </a:r>
            <a:r>
              <a:rPr sz="1300" spc="-55" dirty="0">
                <a:latin typeface="Arial"/>
                <a:cs typeface="Arial"/>
              </a:rPr>
              <a:t>search</a:t>
            </a:r>
            <a:r>
              <a:rPr sz="1300" spc="-20" dirty="0">
                <a:latin typeface="Arial"/>
                <a:cs typeface="Arial"/>
              </a:rPr>
              <a:t> </a:t>
            </a:r>
            <a:r>
              <a:rPr sz="1300" spc="-55" dirty="0">
                <a:latin typeface="Arial"/>
                <a:cs typeface="Arial"/>
              </a:rPr>
              <a:t>methods</a:t>
            </a:r>
            <a:r>
              <a:rPr sz="1300" spc="10" dirty="0">
                <a:latin typeface="Arial"/>
                <a:cs typeface="Arial"/>
              </a:rPr>
              <a:t> </a:t>
            </a:r>
            <a:r>
              <a:rPr sz="1300" spc="-25" dirty="0">
                <a:solidFill>
                  <a:srgbClr val="1C4F85"/>
                </a:solidFill>
                <a:latin typeface="Arial"/>
                <a:cs typeface="Arial"/>
              </a:rPr>
              <a:t>to </a:t>
            </a:r>
            <a:r>
              <a:rPr sz="1300" spc="-75" dirty="0">
                <a:solidFill>
                  <a:srgbClr val="335D83"/>
                </a:solidFill>
                <a:latin typeface="Arial"/>
                <a:cs typeface="Arial"/>
              </a:rPr>
              <a:t>solve</a:t>
            </a:r>
            <a:r>
              <a:rPr sz="1300" spc="-20" dirty="0">
                <a:solidFill>
                  <a:srgbClr val="335D83"/>
                </a:solidFill>
                <a:latin typeface="Arial"/>
                <a:cs typeface="Arial"/>
              </a:rPr>
              <a:t> </a:t>
            </a:r>
            <a:r>
              <a:rPr sz="1300" spc="-60" dirty="0">
                <a:latin typeface="Arial"/>
                <a:cs typeface="Arial"/>
              </a:rPr>
              <a:t>problems</a:t>
            </a:r>
            <a:r>
              <a:rPr sz="1300" spc="55" dirty="0"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080808"/>
                </a:solidFill>
                <a:latin typeface="Arial"/>
                <a:cs typeface="Arial"/>
              </a:rPr>
              <a:t>effectively.(BL3)</a:t>
            </a:r>
            <a:endParaRPr sz="13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70"/>
              </a:spcBef>
            </a:pPr>
            <a:endParaRPr sz="1300" dirty="0">
              <a:latin typeface="Arial"/>
              <a:cs typeface="Arial"/>
            </a:endParaRPr>
          </a:p>
          <a:p>
            <a:pPr marL="15240">
              <a:lnSpc>
                <a:spcPct val="100000"/>
              </a:lnSpc>
            </a:pPr>
            <a:r>
              <a:rPr sz="1250" i="1" spc="-45" dirty="0">
                <a:latin typeface="Arial"/>
                <a:cs typeface="Arial"/>
              </a:rPr>
              <a:t>Assessment</a:t>
            </a:r>
            <a:r>
              <a:rPr sz="1250" i="1" spc="15" dirty="0">
                <a:latin typeface="Arial"/>
                <a:cs typeface="Arial"/>
              </a:rPr>
              <a:t> </a:t>
            </a:r>
            <a:r>
              <a:rPr sz="1250" i="1" spc="-55" dirty="0">
                <a:solidFill>
                  <a:srgbClr val="03236D"/>
                </a:solidFill>
                <a:latin typeface="Arial"/>
                <a:cs typeface="Arial"/>
              </a:rPr>
              <a:t>Tool</a:t>
            </a:r>
            <a:r>
              <a:rPr sz="1250" i="1" spc="-35" dirty="0">
                <a:solidFill>
                  <a:srgbClr val="03236D"/>
                </a:solidFill>
                <a:latin typeface="Arial"/>
                <a:cs typeface="Arial"/>
              </a:rPr>
              <a:t> </a:t>
            </a:r>
            <a:r>
              <a:rPr sz="1250" i="1" spc="-70" dirty="0">
                <a:latin typeface="Arial"/>
                <a:cs typeface="Arial"/>
              </a:rPr>
              <a:t>Weightage.’</a:t>
            </a:r>
            <a:r>
              <a:rPr sz="1250" i="1" spc="60" dirty="0">
                <a:latin typeface="Arial"/>
                <a:cs typeface="Arial"/>
              </a:rPr>
              <a:t> </a:t>
            </a:r>
            <a:r>
              <a:rPr sz="1250" i="1" spc="-25" dirty="0">
                <a:latin typeface="Arial"/>
                <a:cs typeface="Arial"/>
              </a:rPr>
              <a:t>G5%</a:t>
            </a:r>
            <a:endParaRPr sz="1250" dirty="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14584" y="5394204"/>
            <a:ext cx="5753100" cy="0"/>
          </a:xfrm>
          <a:custGeom>
            <a:avLst/>
            <a:gdLst/>
            <a:ahLst/>
            <a:cxnLst/>
            <a:rect l="l" t="t" r="r" b="b"/>
            <a:pathLst>
              <a:path w="5753100">
                <a:moveTo>
                  <a:pt x="0" y="0"/>
                </a:moveTo>
                <a:lnTo>
                  <a:pt x="5752737" y="0"/>
                </a:lnTo>
              </a:path>
            </a:pathLst>
          </a:custGeom>
          <a:ln w="3658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910304" y="5731059"/>
            <a:ext cx="1088390" cy="216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spc="-50" dirty="0">
                <a:latin typeface="Arial"/>
                <a:cs typeface="Arial"/>
              </a:rPr>
              <a:t>QUESTIONS:</a:t>
            </a:r>
            <a:r>
              <a:rPr sz="1250" spc="65" dirty="0">
                <a:latin typeface="Arial"/>
                <a:cs typeface="Arial"/>
              </a:rPr>
              <a:t> </a:t>
            </a:r>
            <a:r>
              <a:rPr sz="1250" spc="-50" dirty="0">
                <a:latin typeface="Arial"/>
                <a:cs typeface="Arial"/>
              </a:rPr>
              <a:t>3</a:t>
            </a:r>
            <a:endParaRPr sz="125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027147" y="5718357"/>
            <a:ext cx="1254760" cy="412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580"/>
              </a:lnSpc>
              <a:spcBef>
                <a:spcPts val="100"/>
              </a:spcBef>
            </a:pPr>
            <a:r>
              <a:rPr sz="1350" spc="-35" dirty="0">
                <a:latin typeface="Arial"/>
                <a:cs typeface="Arial"/>
              </a:rPr>
              <a:t>Duration</a:t>
            </a:r>
            <a:r>
              <a:rPr sz="1350" spc="-40" dirty="0">
                <a:latin typeface="Arial"/>
                <a:cs typeface="Arial"/>
              </a:rPr>
              <a:t> </a:t>
            </a:r>
            <a:r>
              <a:rPr sz="1350" dirty="0">
                <a:latin typeface="Arial"/>
                <a:cs typeface="Arial"/>
              </a:rPr>
              <a:t>:</a:t>
            </a:r>
            <a:r>
              <a:rPr sz="1350" spc="10" dirty="0">
                <a:latin typeface="Arial"/>
                <a:cs typeface="Arial"/>
              </a:rPr>
              <a:t> </a:t>
            </a:r>
            <a:r>
              <a:rPr sz="1350" spc="-10" dirty="0">
                <a:latin typeface="Arial"/>
                <a:cs typeface="Arial"/>
              </a:rPr>
              <a:t>1</a:t>
            </a:r>
            <a:r>
              <a:rPr sz="1350" spc="-120" dirty="0">
                <a:latin typeface="Arial"/>
                <a:cs typeface="Arial"/>
              </a:rPr>
              <a:t> </a:t>
            </a:r>
            <a:r>
              <a:rPr sz="1350" spc="-35" dirty="0">
                <a:latin typeface="Arial"/>
                <a:cs typeface="Arial"/>
              </a:rPr>
              <a:t>Hour</a:t>
            </a:r>
            <a:endParaRPr sz="1350">
              <a:latin typeface="Arial"/>
              <a:cs typeface="Arial"/>
            </a:endParaRPr>
          </a:p>
          <a:p>
            <a:pPr marL="13970">
              <a:lnSpc>
                <a:spcPts val="1460"/>
              </a:lnSpc>
            </a:pPr>
            <a:r>
              <a:rPr sz="1250" dirty="0">
                <a:latin typeface="Arial"/>
                <a:cs typeface="Arial"/>
              </a:rPr>
              <a:t>Total</a:t>
            </a:r>
            <a:r>
              <a:rPr sz="1250" spc="-60" dirty="0">
                <a:latin typeface="Arial"/>
                <a:cs typeface="Arial"/>
              </a:rPr>
              <a:t> </a:t>
            </a:r>
            <a:r>
              <a:rPr sz="1250" spc="-10" dirty="0">
                <a:latin typeface="Arial"/>
                <a:cs typeface="Arial"/>
              </a:rPr>
              <a:t>Marks:30</a:t>
            </a:r>
            <a:endParaRPr sz="125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469214" y="6281046"/>
            <a:ext cx="2644140" cy="625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39140">
              <a:lnSpc>
                <a:spcPct val="100000"/>
              </a:lnSpc>
              <a:spcBef>
                <a:spcPts val="100"/>
              </a:spcBef>
            </a:pPr>
            <a:r>
              <a:rPr sz="1300" spc="-75" dirty="0">
                <a:solidFill>
                  <a:srgbClr val="212121"/>
                </a:solidFill>
                <a:latin typeface="Arial"/>
                <a:cs typeface="Arial"/>
              </a:rPr>
              <a:t>Annexure</a:t>
            </a:r>
            <a:r>
              <a:rPr sz="1300" spc="4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300" spc="-50" dirty="0">
                <a:solidFill>
                  <a:srgbClr val="01114F"/>
                </a:solidFill>
                <a:latin typeface="Arial"/>
                <a:cs typeface="Arial"/>
              </a:rPr>
              <a:t>A</a:t>
            </a:r>
            <a:endParaRPr sz="1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60"/>
              </a:spcBef>
            </a:pPr>
            <a:r>
              <a:rPr sz="1500" u="sng" spc="-165" dirty="0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Constraint-</a:t>
            </a:r>
            <a:r>
              <a:rPr sz="1500" u="sng" spc="-185" dirty="0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Based</a:t>
            </a:r>
            <a:r>
              <a:rPr sz="1500" u="sng" spc="-55" dirty="0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 </a:t>
            </a:r>
            <a:r>
              <a:rPr sz="1500" u="sng" spc="-150" dirty="0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Problem</a:t>
            </a:r>
            <a:r>
              <a:rPr sz="1500" u="sng" spc="65" dirty="0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 </a:t>
            </a:r>
            <a:r>
              <a:rPr sz="1500" u="sng" spc="-105" dirty="0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Solving</a:t>
            </a:r>
            <a:endParaRPr sz="1500">
              <a:latin typeface="Bookman Old Style"/>
              <a:cs typeface="Bookman Old Style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14584" y="7473237"/>
            <a:ext cx="5753100" cy="0"/>
          </a:xfrm>
          <a:custGeom>
            <a:avLst/>
            <a:gdLst/>
            <a:ahLst/>
            <a:cxnLst/>
            <a:rect l="l" t="t" r="r" b="b"/>
            <a:pathLst>
              <a:path w="5753100">
                <a:moveTo>
                  <a:pt x="0" y="0"/>
                </a:moveTo>
                <a:lnTo>
                  <a:pt x="5752737" y="0"/>
                </a:lnTo>
              </a:path>
            </a:pathLst>
          </a:custGeom>
          <a:ln w="3658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2205" y="7872581"/>
            <a:ext cx="1093690" cy="152421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2205" y="8428920"/>
            <a:ext cx="4290924" cy="144800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29827" y="8619449"/>
            <a:ext cx="5563721" cy="1448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22205" y="8985260"/>
            <a:ext cx="1547172" cy="14480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3432FD4D-B5FD-EF28-0B60-6BDABE923768}"/>
              </a:ext>
            </a:extLst>
          </p:cNvPr>
          <p:cNvSpPr txBox="1"/>
          <p:nvPr/>
        </p:nvSpPr>
        <p:spPr>
          <a:xfrm>
            <a:off x="958849" y="8061347"/>
            <a:ext cx="525780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i="1" dirty="0"/>
              <a:t>I A . Charith Reddy /1965260111 certify that this submission is my original work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C8E624C-EFF7-3039-1618-0B1B93866859}"/>
              </a:ext>
            </a:extLst>
          </p:cNvPr>
          <p:cNvSpPr txBox="1"/>
          <p:nvPr/>
        </p:nvSpPr>
        <p:spPr>
          <a:xfrm>
            <a:off x="806450" y="9171213"/>
            <a:ext cx="18287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/>
              <a:t>A. Charith Reddy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01040" y="1387093"/>
            <a:ext cx="6158230" cy="9525"/>
          </a:xfrm>
          <a:custGeom>
            <a:avLst/>
            <a:gdLst/>
            <a:ahLst/>
            <a:cxnLst/>
            <a:rect l="l" t="t" r="r" b="b"/>
            <a:pathLst>
              <a:path w="6158230" h="9525">
                <a:moveTo>
                  <a:pt x="6158230" y="0"/>
                </a:moveTo>
                <a:lnTo>
                  <a:pt x="0" y="0"/>
                </a:lnTo>
                <a:lnTo>
                  <a:pt x="0" y="9144"/>
                </a:lnTo>
                <a:lnTo>
                  <a:pt x="6158230" y="9144"/>
                </a:lnTo>
                <a:lnTo>
                  <a:pt x="6158230" y="0"/>
                </a:lnTo>
                <a:close/>
              </a:path>
            </a:pathLst>
          </a:custGeom>
          <a:solidFill>
            <a:srgbClr val="1F386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06627" y="1104645"/>
            <a:ext cx="6030595" cy="38176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latin typeface="Times New Roman"/>
                <a:cs typeface="Times New Roman"/>
              </a:rPr>
              <a:t>Question</a:t>
            </a:r>
            <a:r>
              <a:rPr sz="1500" b="1" spc="-45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1:</a:t>
            </a:r>
            <a:r>
              <a:rPr sz="1500" b="1" spc="-35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Hospital</a:t>
            </a:r>
            <a:r>
              <a:rPr sz="1500" b="1" spc="-40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Shift</a:t>
            </a:r>
            <a:r>
              <a:rPr sz="1500" b="1" spc="-40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Assignment</a:t>
            </a:r>
            <a:r>
              <a:rPr sz="1500" b="1" spc="-40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(Backtracking</a:t>
            </a:r>
            <a:r>
              <a:rPr sz="1500" b="1" spc="-40" dirty="0">
                <a:latin typeface="Times New Roman"/>
                <a:cs typeface="Times New Roman"/>
              </a:rPr>
              <a:t> </a:t>
            </a:r>
            <a:r>
              <a:rPr sz="1500" b="1" spc="-10" dirty="0">
                <a:latin typeface="Times New Roman"/>
                <a:cs typeface="Times New Roman"/>
              </a:rPr>
              <a:t>Search)</a:t>
            </a:r>
            <a:endParaRPr sz="1500">
              <a:latin typeface="Times New Roman"/>
              <a:cs typeface="Times New Roman"/>
            </a:endParaRPr>
          </a:p>
          <a:p>
            <a:pPr marL="249554" lvl="1" indent="-236854">
              <a:lnSpc>
                <a:spcPct val="100000"/>
              </a:lnSpc>
              <a:spcBef>
                <a:spcPts val="1510"/>
              </a:spcBef>
              <a:buFont typeface="Times New Roman"/>
              <a:buAutoNum type="arabicPeriod"/>
              <a:tabLst>
                <a:tab pos="249554" algn="l"/>
              </a:tabLst>
            </a:pPr>
            <a:r>
              <a:rPr sz="1250" b="1" dirty="0">
                <a:latin typeface="Times New Roman"/>
                <a:cs typeface="Times New Roman"/>
              </a:rPr>
              <a:t>Problem</a:t>
            </a:r>
            <a:r>
              <a:rPr sz="1250" b="1" spc="-20" dirty="0">
                <a:latin typeface="Times New Roman"/>
                <a:cs typeface="Times New Roman"/>
              </a:rPr>
              <a:t> </a:t>
            </a:r>
            <a:r>
              <a:rPr sz="1250" b="1" spc="-10" dirty="0">
                <a:latin typeface="Times New Roman"/>
                <a:cs typeface="Times New Roman"/>
              </a:rPr>
              <a:t>formulation</a:t>
            </a:r>
            <a:r>
              <a:rPr sz="1250" b="1" spc="-15" dirty="0">
                <a:latin typeface="Times New Roman"/>
                <a:cs typeface="Times New Roman"/>
              </a:rPr>
              <a:t> </a:t>
            </a:r>
            <a:r>
              <a:rPr sz="1250" b="1" dirty="0">
                <a:latin typeface="Times New Roman"/>
                <a:cs typeface="Times New Roman"/>
              </a:rPr>
              <a:t>as</a:t>
            </a:r>
            <a:r>
              <a:rPr sz="1250" b="1" spc="-5" dirty="0">
                <a:latin typeface="Times New Roman"/>
                <a:cs typeface="Times New Roman"/>
              </a:rPr>
              <a:t> </a:t>
            </a:r>
            <a:r>
              <a:rPr sz="1250" b="1" dirty="0">
                <a:latin typeface="Times New Roman"/>
                <a:cs typeface="Times New Roman"/>
              </a:rPr>
              <a:t>a</a:t>
            </a:r>
            <a:r>
              <a:rPr sz="1250" b="1" spc="-15" dirty="0">
                <a:latin typeface="Times New Roman"/>
                <a:cs typeface="Times New Roman"/>
              </a:rPr>
              <a:t> </a:t>
            </a:r>
            <a:r>
              <a:rPr sz="1250" b="1" spc="-25" dirty="0">
                <a:latin typeface="Times New Roman"/>
                <a:cs typeface="Times New Roman"/>
              </a:rPr>
              <a:t>CSP</a:t>
            </a:r>
            <a:endParaRPr sz="1250">
              <a:latin typeface="Times New Roman"/>
              <a:cs typeface="Times New Roman"/>
            </a:endParaRPr>
          </a:p>
          <a:p>
            <a:pPr marL="354965" lvl="2" indent="-170180">
              <a:lnSpc>
                <a:spcPct val="100000"/>
              </a:lnSpc>
              <a:spcBef>
                <a:spcPts val="555"/>
              </a:spcBef>
              <a:buFont typeface="Times New Roman"/>
              <a:buChar char="•"/>
              <a:tabLst>
                <a:tab pos="354965" algn="l"/>
              </a:tabLst>
            </a:pPr>
            <a:r>
              <a:rPr sz="1100" b="1" dirty="0">
                <a:latin typeface="Times New Roman"/>
                <a:cs typeface="Times New Roman"/>
              </a:rPr>
              <a:t>Variables:</a:t>
            </a:r>
            <a:r>
              <a:rPr sz="1100" b="1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D1,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D2,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D3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(one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per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doctor).</a:t>
            </a:r>
            <a:endParaRPr sz="1100">
              <a:latin typeface="Times New Roman"/>
              <a:cs typeface="Times New Roman"/>
            </a:endParaRPr>
          </a:p>
          <a:p>
            <a:pPr marL="354965" lvl="2" indent="-170180">
              <a:lnSpc>
                <a:spcPct val="100000"/>
              </a:lnSpc>
              <a:spcBef>
                <a:spcPts val="434"/>
              </a:spcBef>
              <a:buFont typeface="Times New Roman"/>
              <a:buChar char="•"/>
              <a:tabLst>
                <a:tab pos="354965" algn="l"/>
              </a:tabLst>
            </a:pPr>
            <a:r>
              <a:rPr sz="1100" b="1" dirty="0">
                <a:latin typeface="Times New Roman"/>
                <a:cs typeface="Times New Roman"/>
              </a:rPr>
              <a:t>Domain</a:t>
            </a:r>
            <a:r>
              <a:rPr sz="1100" b="1" spc="-3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of</a:t>
            </a:r>
            <a:r>
              <a:rPr sz="1100" b="1" spc="-1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each</a:t>
            </a:r>
            <a:r>
              <a:rPr sz="1100" b="1" spc="-1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variable:</a:t>
            </a:r>
            <a:r>
              <a:rPr sz="1100" b="1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{Morning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(M),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Afternoon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(A),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Night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(N)},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ordered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&lt;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&lt;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N.</a:t>
            </a:r>
            <a:endParaRPr sz="1100">
              <a:latin typeface="Times New Roman"/>
              <a:cs typeface="Times New Roman"/>
            </a:endParaRPr>
          </a:p>
          <a:p>
            <a:pPr marL="354965" lvl="2" indent="-170180">
              <a:lnSpc>
                <a:spcPct val="100000"/>
              </a:lnSpc>
              <a:spcBef>
                <a:spcPts val="430"/>
              </a:spcBef>
              <a:buFont typeface="Times New Roman"/>
              <a:buChar char="•"/>
              <a:tabLst>
                <a:tab pos="354965" algn="l"/>
              </a:tabLst>
            </a:pPr>
            <a:r>
              <a:rPr sz="1100" b="1" spc="-10" dirty="0">
                <a:latin typeface="Times New Roman"/>
                <a:cs typeface="Times New Roman"/>
              </a:rPr>
              <a:t>Constraints:</a:t>
            </a:r>
            <a:endParaRPr sz="1100">
              <a:latin typeface="Times New Roman"/>
              <a:cs typeface="Times New Roman"/>
            </a:endParaRPr>
          </a:p>
          <a:p>
            <a:pPr marL="697865" lvl="3" indent="-170180">
              <a:lnSpc>
                <a:spcPct val="100000"/>
              </a:lnSpc>
              <a:spcBef>
                <a:spcPts val="445"/>
              </a:spcBef>
              <a:buChar char="–"/>
              <a:tabLst>
                <a:tab pos="697865" algn="l"/>
              </a:tabLst>
            </a:pPr>
            <a:r>
              <a:rPr sz="1100" dirty="0">
                <a:latin typeface="Times New Roman"/>
                <a:cs typeface="Times New Roman"/>
              </a:rPr>
              <a:t>C1: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D1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≠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Night</a:t>
            </a:r>
            <a:endParaRPr sz="1100">
              <a:latin typeface="Times New Roman"/>
              <a:cs typeface="Times New Roman"/>
            </a:endParaRPr>
          </a:p>
          <a:p>
            <a:pPr marL="697865" lvl="3" indent="-170180">
              <a:lnSpc>
                <a:spcPct val="100000"/>
              </a:lnSpc>
              <a:spcBef>
                <a:spcPts val="430"/>
              </a:spcBef>
              <a:buChar char="–"/>
              <a:tabLst>
                <a:tab pos="697865" algn="l"/>
              </a:tabLst>
            </a:pPr>
            <a:r>
              <a:rPr sz="1100" dirty="0">
                <a:latin typeface="Times New Roman"/>
                <a:cs typeface="Times New Roman"/>
              </a:rPr>
              <a:t>C2: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D2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must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work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before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D3,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i.e.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shift(D2)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&lt;</a:t>
            </a:r>
            <a:r>
              <a:rPr sz="1100" spc="-10" dirty="0">
                <a:latin typeface="Times New Roman"/>
                <a:cs typeface="Times New Roman"/>
              </a:rPr>
              <a:t> shift(D3)</a:t>
            </a:r>
            <a:endParaRPr sz="1100">
              <a:latin typeface="Times New Roman"/>
              <a:cs typeface="Times New Roman"/>
            </a:endParaRPr>
          </a:p>
          <a:p>
            <a:pPr marL="697865" lvl="3" indent="-170180">
              <a:lnSpc>
                <a:spcPct val="100000"/>
              </a:lnSpc>
              <a:spcBef>
                <a:spcPts val="434"/>
              </a:spcBef>
              <a:buChar char="–"/>
              <a:tabLst>
                <a:tab pos="697865" algn="l"/>
              </a:tabLst>
            </a:pPr>
            <a:r>
              <a:rPr sz="1100" dirty="0">
                <a:latin typeface="Times New Roman"/>
                <a:cs typeface="Times New Roman"/>
              </a:rPr>
              <a:t>C3: Only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one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doctor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per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shift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(All-</a:t>
            </a:r>
            <a:r>
              <a:rPr sz="1100" spc="-10" dirty="0">
                <a:latin typeface="Times New Roman"/>
                <a:cs typeface="Times New Roman"/>
              </a:rPr>
              <a:t>Different)</a:t>
            </a:r>
            <a:endParaRPr sz="1100">
              <a:latin typeface="Times New Roman"/>
              <a:cs typeface="Times New Roman"/>
            </a:endParaRPr>
          </a:p>
          <a:p>
            <a:pPr marL="697865" lvl="3" indent="-170180">
              <a:lnSpc>
                <a:spcPct val="100000"/>
              </a:lnSpc>
              <a:spcBef>
                <a:spcPts val="430"/>
              </a:spcBef>
              <a:buChar char="–"/>
              <a:tabLst>
                <a:tab pos="697865" algn="l"/>
              </a:tabLst>
            </a:pPr>
            <a:r>
              <a:rPr sz="1100" dirty="0">
                <a:latin typeface="Times New Roman"/>
                <a:cs typeface="Times New Roman"/>
              </a:rPr>
              <a:t>C4: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D3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≠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Morning</a:t>
            </a:r>
            <a:endParaRPr sz="1100">
              <a:latin typeface="Times New Roman"/>
              <a:cs typeface="Times New Roman"/>
            </a:endParaRPr>
          </a:p>
          <a:p>
            <a:pPr marL="697865" lvl="3" indent="-170180">
              <a:lnSpc>
                <a:spcPct val="100000"/>
              </a:lnSpc>
              <a:spcBef>
                <a:spcPts val="450"/>
              </a:spcBef>
              <a:buChar char="–"/>
              <a:tabLst>
                <a:tab pos="697865" algn="l"/>
              </a:tabLst>
            </a:pPr>
            <a:r>
              <a:rPr sz="1100" dirty="0">
                <a:latin typeface="Times New Roman"/>
                <a:cs typeface="Times New Roman"/>
              </a:rPr>
              <a:t>C5: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Every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doctor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gets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exactly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one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shift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(complete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assignment,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3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doctors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–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3</a:t>
            </a:r>
            <a:r>
              <a:rPr sz="1100" spc="-10" dirty="0">
                <a:latin typeface="Times New Roman"/>
                <a:cs typeface="Times New Roman"/>
              </a:rPr>
              <a:t> shifts)</a:t>
            </a:r>
            <a:endParaRPr sz="1100">
              <a:latin typeface="Times New Roman"/>
              <a:cs typeface="Times New Roman"/>
            </a:endParaRPr>
          </a:p>
          <a:p>
            <a:pPr marL="12700" marR="5080">
              <a:lnSpc>
                <a:spcPct val="110000"/>
              </a:lnSpc>
              <a:spcBef>
                <a:spcPts val="295"/>
              </a:spcBef>
            </a:pPr>
            <a:r>
              <a:rPr sz="1100" b="1" dirty="0">
                <a:latin typeface="Times New Roman"/>
                <a:cs typeface="Times New Roman"/>
              </a:rPr>
              <a:t>Node</a:t>
            </a:r>
            <a:r>
              <a:rPr sz="1100" b="1" spc="-1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consistency</a:t>
            </a:r>
            <a:r>
              <a:rPr sz="1100" b="1" spc="-2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(unary</a:t>
            </a:r>
            <a:r>
              <a:rPr sz="1100" b="1" spc="-1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constraints</a:t>
            </a:r>
            <a:r>
              <a:rPr sz="1100" b="1" spc="-1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applied</a:t>
            </a:r>
            <a:r>
              <a:rPr sz="1100" b="1" spc="-2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first):</a:t>
            </a:r>
            <a:r>
              <a:rPr sz="1100" b="1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C1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reduces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D1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{M,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A};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C4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reduces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D3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{A,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N}. </a:t>
            </a:r>
            <a:r>
              <a:rPr sz="1100" dirty="0">
                <a:latin typeface="Times New Roman"/>
                <a:cs typeface="Times New Roman"/>
              </a:rPr>
              <a:t>D2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keeps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{M,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A,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N}.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C2,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C3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C5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are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binary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/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global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constraints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that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are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checked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during</a:t>
            </a:r>
            <a:r>
              <a:rPr sz="1100" spc="-10" dirty="0">
                <a:latin typeface="Times New Roman"/>
                <a:cs typeface="Times New Roman"/>
              </a:rPr>
              <a:t> search.</a:t>
            </a:r>
            <a:endParaRPr sz="1100">
              <a:latin typeface="Times New Roman"/>
              <a:cs typeface="Times New Roman"/>
            </a:endParaRPr>
          </a:p>
          <a:p>
            <a:pPr marL="12700" marR="49530">
              <a:lnSpc>
                <a:spcPct val="110000"/>
              </a:lnSpc>
              <a:spcBef>
                <a:spcPts val="505"/>
              </a:spcBef>
            </a:pPr>
            <a:r>
              <a:rPr sz="1100" b="1" dirty="0">
                <a:latin typeface="Times New Roman"/>
                <a:cs typeface="Times New Roman"/>
              </a:rPr>
              <a:t>Search</a:t>
            </a:r>
            <a:r>
              <a:rPr sz="1100" b="1" spc="-2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settings:</a:t>
            </a:r>
            <a:r>
              <a:rPr sz="1100" b="1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variable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order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D1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→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D2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→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D3,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value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order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→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→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N,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depth-</a:t>
            </a:r>
            <a:r>
              <a:rPr sz="1100" dirty="0">
                <a:latin typeface="Times New Roman"/>
                <a:cs typeface="Times New Roman"/>
              </a:rPr>
              <a:t>first search.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After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every </a:t>
            </a:r>
            <a:r>
              <a:rPr sz="1100" dirty="0">
                <a:latin typeface="Times New Roman"/>
                <a:cs typeface="Times New Roman"/>
              </a:rPr>
              <a:t>assignment,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all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constraints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whose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variables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are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fully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assigned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are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checked;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if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one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fails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10" dirty="0">
                <a:latin typeface="Times New Roman"/>
                <a:cs typeface="Times New Roman"/>
              </a:rPr>
              <a:t> algorithm </a:t>
            </a:r>
            <a:r>
              <a:rPr sz="1100" dirty="0">
                <a:latin typeface="Times New Roman"/>
                <a:cs typeface="Times New Roman"/>
              </a:rPr>
              <a:t>backtracks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previous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choice.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100">
              <a:latin typeface="Times New Roman"/>
              <a:cs typeface="Times New Roman"/>
            </a:endParaRPr>
          </a:p>
          <a:p>
            <a:pPr marL="249554" lvl="1" indent="-236854">
              <a:lnSpc>
                <a:spcPct val="100000"/>
              </a:lnSpc>
              <a:buFont typeface="Times New Roman"/>
              <a:buAutoNum type="arabicPeriod" startAt="2"/>
              <a:tabLst>
                <a:tab pos="249554" algn="l"/>
              </a:tabLst>
            </a:pPr>
            <a:r>
              <a:rPr sz="1250" b="1" dirty="0">
                <a:latin typeface="Times New Roman"/>
                <a:cs typeface="Times New Roman"/>
              </a:rPr>
              <a:t>Backtracking</a:t>
            </a:r>
            <a:r>
              <a:rPr sz="1250" b="1" spc="-35" dirty="0">
                <a:latin typeface="Times New Roman"/>
                <a:cs typeface="Times New Roman"/>
              </a:rPr>
              <a:t> </a:t>
            </a:r>
            <a:r>
              <a:rPr sz="1250" b="1" dirty="0">
                <a:latin typeface="Times New Roman"/>
                <a:cs typeface="Times New Roman"/>
              </a:rPr>
              <a:t>trace</a:t>
            </a:r>
            <a:r>
              <a:rPr sz="1250" b="1" spc="-25" dirty="0">
                <a:latin typeface="Times New Roman"/>
                <a:cs typeface="Times New Roman"/>
              </a:rPr>
              <a:t> </a:t>
            </a:r>
            <a:r>
              <a:rPr sz="1250" b="1" dirty="0">
                <a:latin typeface="Times New Roman"/>
                <a:cs typeface="Times New Roman"/>
              </a:rPr>
              <a:t>with</a:t>
            </a:r>
            <a:r>
              <a:rPr sz="1250" b="1" spc="-35" dirty="0">
                <a:latin typeface="Times New Roman"/>
                <a:cs typeface="Times New Roman"/>
              </a:rPr>
              <a:t> </a:t>
            </a:r>
            <a:r>
              <a:rPr sz="1250" b="1" dirty="0">
                <a:latin typeface="Times New Roman"/>
                <a:cs typeface="Times New Roman"/>
              </a:rPr>
              <a:t>constraint</a:t>
            </a:r>
            <a:r>
              <a:rPr sz="1250" b="1" spc="-25" dirty="0">
                <a:latin typeface="Times New Roman"/>
                <a:cs typeface="Times New Roman"/>
              </a:rPr>
              <a:t> </a:t>
            </a:r>
            <a:r>
              <a:rPr sz="1250" b="1" spc="-10" dirty="0">
                <a:latin typeface="Times New Roman"/>
                <a:cs typeface="Times New Roman"/>
              </a:rPr>
              <a:t>checks</a:t>
            </a:r>
            <a:endParaRPr sz="1250">
              <a:latin typeface="Times New Roman"/>
              <a:cs typeface="Times New Roman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719327" y="4988686"/>
          <a:ext cx="6121399" cy="197675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33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81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539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58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2250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950" b="1" spc="-20" dirty="0">
                          <a:latin typeface="Times New Roman"/>
                          <a:cs typeface="Times New Roman"/>
                        </a:rPr>
                        <a:t>Step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1F3863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950" b="1" dirty="0">
                          <a:latin typeface="Times New Roman"/>
                          <a:cs typeface="Times New Roman"/>
                        </a:rPr>
                        <a:t>Partial</a:t>
                      </a:r>
                      <a:r>
                        <a:rPr sz="95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b="1" dirty="0">
                          <a:latin typeface="Times New Roman"/>
                          <a:cs typeface="Times New Roman"/>
                        </a:rPr>
                        <a:t>assignment</a:t>
                      </a:r>
                      <a:r>
                        <a:rPr sz="95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b="1" spc="-10" dirty="0">
                          <a:latin typeface="Times New Roman"/>
                          <a:cs typeface="Times New Roman"/>
                        </a:rPr>
                        <a:t>tried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1F3863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950" b="1" dirty="0">
                          <a:latin typeface="Times New Roman"/>
                          <a:cs typeface="Times New Roman"/>
                        </a:rPr>
                        <a:t>Constraint</a:t>
                      </a:r>
                      <a:r>
                        <a:rPr sz="950" b="1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b="1" spc="-10" dirty="0">
                          <a:latin typeface="Times New Roman"/>
                          <a:cs typeface="Times New Roman"/>
                        </a:rPr>
                        <a:t>checks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1F3863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950" b="1" spc="-10" dirty="0">
                          <a:latin typeface="Times New Roman"/>
                          <a:cs typeface="Times New Roman"/>
                        </a:rPr>
                        <a:t>Result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1F38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935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95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43815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950" dirty="0">
                          <a:latin typeface="Times New Roman"/>
                          <a:cs typeface="Times New Roman"/>
                        </a:rPr>
                        <a:t>D1</a:t>
                      </a:r>
                      <a:r>
                        <a:rPr sz="95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95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50" dirty="0">
                          <a:latin typeface="Times New Roman"/>
                          <a:cs typeface="Times New Roman"/>
                        </a:rPr>
                        <a:t>M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43815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950" dirty="0">
                          <a:latin typeface="Times New Roman"/>
                          <a:cs typeface="Times New Roman"/>
                        </a:rPr>
                        <a:t>C1:</a:t>
                      </a:r>
                      <a:r>
                        <a:rPr sz="9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9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≠</a:t>
                      </a:r>
                      <a:r>
                        <a:rPr sz="9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9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Segoe UI Symbol"/>
                          <a:cs typeface="Segoe UI Symbol"/>
                        </a:rPr>
                        <a:t>✔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No</a:t>
                      </a:r>
                      <a:r>
                        <a:rPr sz="9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other</a:t>
                      </a:r>
                      <a:r>
                        <a:rPr sz="9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variable</a:t>
                      </a:r>
                      <a:r>
                        <a:rPr sz="9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assigned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yet.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50165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950" dirty="0">
                          <a:latin typeface="Times New Roman"/>
                          <a:cs typeface="Times New Roman"/>
                        </a:rPr>
                        <a:t>Accept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→</a:t>
                      </a:r>
                      <a:r>
                        <a:rPr sz="9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go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10" dirty="0">
                          <a:latin typeface="Times New Roman"/>
                          <a:cs typeface="Times New Roman"/>
                        </a:rPr>
                        <a:t>deeper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43815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935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95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43815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FBE3D5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950" dirty="0">
                          <a:latin typeface="Times New Roman"/>
                          <a:cs typeface="Times New Roman"/>
                        </a:rPr>
                        <a:t>D1=M,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D2</a:t>
                      </a:r>
                      <a:r>
                        <a:rPr sz="95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50" dirty="0">
                          <a:latin typeface="Times New Roman"/>
                          <a:cs typeface="Times New Roman"/>
                        </a:rPr>
                        <a:t>M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43815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FBE3D5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950" dirty="0">
                          <a:latin typeface="Times New Roman"/>
                          <a:cs typeface="Times New Roman"/>
                        </a:rPr>
                        <a:t>C3:</a:t>
                      </a:r>
                      <a:r>
                        <a:rPr sz="9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Morning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already</a:t>
                      </a:r>
                      <a:r>
                        <a:rPr sz="95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used</a:t>
                      </a:r>
                      <a:r>
                        <a:rPr sz="95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by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D1 </a:t>
                      </a:r>
                      <a:r>
                        <a:rPr sz="950" spc="-50" dirty="0">
                          <a:latin typeface="Segoe UI Symbol"/>
                          <a:cs typeface="Segoe UI Symbol"/>
                        </a:rPr>
                        <a:t>✘</a:t>
                      </a:r>
                      <a:endParaRPr sz="950">
                        <a:latin typeface="Segoe UI Symbol"/>
                        <a:cs typeface="Segoe UI Symbol"/>
                      </a:endParaRPr>
                    </a:p>
                  </a:txBody>
                  <a:tcPr marL="0" marR="0" marT="50165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FBE3D5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950" dirty="0">
                          <a:latin typeface="Times New Roman"/>
                          <a:cs typeface="Times New Roman"/>
                        </a:rPr>
                        <a:t>Reject,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try</a:t>
                      </a:r>
                      <a:r>
                        <a:rPr sz="95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next</a:t>
                      </a:r>
                      <a:r>
                        <a:rPr sz="95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value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43815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FBE3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2270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894"/>
                        </a:spcBef>
                      </a:pPr>
                      <a:r>
                        <a:rPr sz="950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113664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894"/>
                        </a:spcBef>
                      </a:pPr>
                      <a:r>
                        <a:rPr sz="950" dirty="0">
                          <a:latin typeface="Times New Roman"/>
                          <a:cs typeface="Times New Roman"/>
                        </a:rPr>
                        <a:t>D1=M,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D2</a:t>
                      </a:r>
                      <a:r>
                        <a:rPr sz="95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50" dirty="0">
                          <a:latin typeface="Times New Roman"/>
                          <a:cs typeface="Times New Roman"/>
                        </a:rPr>
                        <a:t>A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113664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 marR="378460">
                        <a:lnSpc>
                          <a:spcPts val="1130"/>
                        </a:lnSpc>
                        <a:spcBef>
                          <a:spcPts val="450"/>
                        </a:spcBef>
                      </a:pPr>
                      <a:r>
                        <a:rPr sz="950" dirty="0">
                          <a:latin typeface="Times New Roman"/>
                          <a:cs typeface="Times New Roman"/>
                        </a:rPr>
                        <a:t>C3</a:t>
                      </a:r>
                      <a:r>
                        <a:rPr sz="9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Segoe UI Symbol"/>
                          <a:cs typeface="Segoe UI Symbol"/>
                        </a:rPr>
                        <a:t>✔</a:t>
                      </a:r>
                      <a:r>
                        <a:rPr sz="950" spc="-40" dirty="0"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(A</a:t>
                      </a:r>
                      <a:r>
                        <a:rPr sz="9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9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free).</a:t>
                      </a:r>
                      <a:r>
                        <a:rPr sz="9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C2</a:t>
                      </a:r>
                      <a:r>
                        <a:rPr sz="95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cannot</a:t>
                      </a:r>
                      <a:r>
                        <a:rPr sz="9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be</a:t>
                      </a:r>
                      <a:r>
                        <a:rPr sz="9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checked</a:t>
                      </a:r>
                      <a:r>
                        <a:rPr sz="95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yet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25" dirty="0">
                          <a:latin typeface="Times New Roman"/>
                          <a:cs typeface="Times New Roman"/>
                        </a:rPr>
                        <a:t>(D3 </a:t>
                      </a:r>
                      <a:r>
                        <a:rPr sz="950" spc="-10" dirty="0">
                          <a:latin typeface="Times New Roman"/>
                          <a:cs typeface="Times New Roman"/>
                        </a:rPr>
                        <a:t>unassigned).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5715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894"/>
                        </a:spcBef>
                      </a:pPr>
                      <a:r>
                        <a:rPr sz="950" dirty="0">
                          <a:latin typeface="Times New Roman"/>
                          <a:cs typeface="Times New Roman"/>
                        </a:rPr>
                        <a:t>Accept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→</a:t>
                      </a:r>
                      <a:r>
                        <a:rPr sz="9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go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10" dirty="0">
                          <a:latin typeface="Times New Roman"/>
                          <a:cs typeface="Times New Roman"/>
                        </a:rPr>
                        <a:t>deeper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113664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935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950" spc="-50" dirty="0">
                          <a:latin typeface="Times New Roman"/>
                          <a:cs typeface="Times New Roman"/>
                        </a:rPr>
                        <a:t>4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43815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FBE3D5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950" dirty="0">
                          <a:latin typeface="Times New Roman"/>
                          <a:cs typeface="Times New Roman"/>
                        </a:rPr>
                        <a:t>D1=M,</a:t>
                      </a:r>
                      <a:r>
                        <a:rPr sz="9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D2=A,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D3</a:t>
                      </a:r>
                      <a:r>
                        <a:rPr sz="9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50" dirty="0">
                          <a:latin typeface="Times New Roman"/>
                          <a:cs typeface="Times New Roman"/>
                        </a:rPr>
                        <a:t>M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43815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FBE3D5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950" dirty="0">
                          <a:latin typeface="Times New Roman"/>
                          <a:cs typeface="Times New Roman"/>
                        </a:rPr>
                        <a:t>C4: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D3</a:t>
                      </a:r>
                      <a:r>
                        <a:rPr sz="95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≠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Morning</a:t>
                      </a:r>
                      <a:r>
                        <a:rPr sz="95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Segoe UI Symbol"/>
                          <a:cs typeface="Segoe UI Symbol"/>
                        </a:rPr>
                        <a:t>✘</a:t>
                      </a:r>
                      <a:r>
                        <a:rPr sz="950" spc="-45" dirty="0"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(also</a:t>
                      </a:r>
                      <a:r>
                        <a:rPr sz="95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C3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25" dirty="0">
                          <a:latin typeface="Segoe UI Symbol"/>
                          <a:cs typeface="Segoe UI Symbol"/>
                        </a:rPr>
                        <a:t>✘</a:t>
                      </a:r>
                      <a:r>
                        <a:rPr sz="950" spc="-25" dirty="0">
                          <a:latin typeface="Times New Roman"/>
                          <a:cs typeface="Times New Roman"/>
                        </a:rPr>
                        <a:t>)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50165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FBE3D5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950" spc="-10" dirty="0">
                          <a:latin typeface="Times New Roman"/>
                          <a:cs typeface="Times New Roman"/>
                        </a:rPr>
                        <a:t>Reject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43815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FBE3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204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950" spc="-50" dirty="0">
                          <a:latin typeface="Times New Roman"/>
                          <a:cs typeface="Times New Roman"/>
                        </a:rPr>
                        <a:t>5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45085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FBE3D5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950" dirty="0">
                          <a:latin typeface="Times New Roman"/>
                          <a:cs typeface="Times New Roman"/>
                        </a:rPr>
                        <a:t>D1=M,</a:t>
                      </a:r>
                      <a:r>
                        <a:rPr sz="9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D2=A,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D3</a:t>
                      </a:r>
                      <a:r>
                        <a:rPr sz="9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50" dirty="0">
                          <a:latin typeface="Times New Roman"/>
                          <a:cs typeface="Times New Roman"/>
                        </a:rPr>
                        <a:t>A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45085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FBE3D5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950" dirty="0">
                          <a:latin typeface="Times New Roman"/>
                          <a:cs typeface="Times New Roman"/>
                        </a:rPr>
                        <a:t>C3:</a:t>
                      </a:r>
                      <a:r>
                        <a:rPr sz="9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Afternoon</a:t>
                      </a:r>
                      <a:r>
                        <a:rPr sz="95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already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used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by</a:t>
                      </a:r>
                      <a:r>
                        <a:rPr sz="95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D2</a:t>
                      </a:r>
                      <a:r>
                        <a:rPr sz="95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50" dirty="0">
                          <a:latin typeface="Segoe UI Symbol"/>
                          <a:cs typeface="Segoe UI Symbol"/>
                        </a:rPr>
                        <a:t>✘</a:t>
                      </a:r>
                      <a:endParaRPr sz="950">
                        <a:latin typeface="Segoe UI Symbol"/>
                        <a:cs typeface="Segoe UI Symbol"/>
                      </a:endParaRPr>
                    </a:p>
                  </a:txBody>
                  <a:tcPr marL="0" marR="0" marT="51435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FBE3D5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950" spc="-10" dirty="0">
                          <a:latin typeface="Times New Roman"/>
                          <a:cs typeface="Times New Roman"/>
                        </a:rPr>
                        <a:t>Reject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45085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FBE3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3225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980"/>
                        </a:spcBef>
                      </a:pPr>
                      <a:r>
                        <a:rPr sz="950" spc="-50" dirty="0">
                          <a:latin typeface="Times New Roman"/>
                          <a:cs typeface="Times New Roman"/>
                        </a:rPr>
                        <a:t>6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12446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E1EEDA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980"/>
                        </a:spcBef>
                      </a:pPr>
                      <a:r>
                        <a:rPr sz="950" dirty="0">
                          <a:latin typeface="Times New Roman"/>
                          <a:cs typeface="Times New Roman"/>
                        </a:rPr>
                        <a:t>D1=M,</a:t>
                      </a:r>
                      <a:r>
                        <a:rPr sz="9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D2=A,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D3</a:t>
                      </a:r>
                      <a:r>
                        <a:rPr sz="9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50" dirty="0">
                          <a:latin typeface="Times New Roman"/>
                          <a:cs typeface="Times New Roman"/>
                        </a:rPr>
                        <a:t>N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12446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E1EEDA"/>
                    </a:solidFill>
                  </a:tcPr>
                </a:tc>
                <a:tc>
                  <a:txBody>
                    <a:bodyPr/>
                    <a:lstStyle/>
                    <a:p>
                      <a:pPr marL="57785" marR="194945">
                        <a:lnSpc>
                          <a:spcPct val="110500"/>
                        </a:lnSpc>
                        <a:spcBef>
                          <a:spcPts val="275"/>
                        </a:spcBef>
                      </a:pPr>
                      <a:r>
                        <a:rPr sz="950" dirty="0">
                          <a:latin typeface="Times New Roman"/>
                          <a:cs typeface="Times New Roman"/>
                        </a:rPr>
                        <a:t>C1</a:t>
                      </a:r>
                      <a:r>
                        <a:rPr sz="95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Segoe UI Symbol"/>
                          <a:cs typeface="Segoe UI Symbol"/>
                        </a:rPr>
                        <a:t>✔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sz="95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C3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Segoe UI Symbol"/>
                          <a:cs typeface="Segoe UI Symbol"/>
                        </a:rPr>
                        <a:t>✔</a:t>
                      </a:r>
                      <a:r>
                        <a:rPr sz="950" spc="-35" dirty="0"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(M,</a:t>
                      </a:r>
                      <a:r>
                        <a:rPr sz="9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A,</a:t>
                      </a:r>
                      <a:r>
                        <a:rPr sz="95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9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all</a:t>
                      </a:r>
                      <a:r>
                        <a:rPr sz="9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different),</a:t>
                      </a:r>
                      <a:r>
                        <a:rPr sz="95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C4 </a:t>
                      </a:r>
                      <a:r>
                        <a:rPr sz="950" dirty="0">
                          <a:latin typeface="Segoe UI Symbol"/>
                          <a:cs typeface="Segoe UI Symbol"/>
                        </a:rPr>
                        <a:t>✔</a:t>
                      </a:r>
                      <a:r>
                        <a:rPr sz="950" spc="-35" dirty="0"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(N</a:t>
                      </a:r>
                      <a:r>
                        <a:rPr sz="9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≠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25" dirty="0">
                          <a:latin typeface="Times New Roman"/>
                          <a:cs typeface="Times New Roman"/>
                        </a:rPr>
                        <a:t>M),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C2</a:t>
                      </a:r>
                      <a:r>
                        <a:rPr sz="95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Segoe UI Symbol"/>
                          <a:cs typeface="Segoe UI Symbol"/>
                        </a:rPr>
                        <a:t>✔</a:t>
                      </a:r>
                      <a:r>
                        <a:rPr sz="950" spc="-35" dirty="0"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(A</a:t>
                      </a:r>
                      <a:r>
                        <a:rPr sz="9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&lt;</a:t>
                      </a:r>
                      <a:r>
                        <a:rPr sz="95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N),</a:t>
                      </a:r>
                      <a:r>
                        <a:rPr sz="95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C5</a:t>
                      </a:r>
                      <a:r>
                        <a:rPr sz="95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Segoe UI Symbol"/>
                          <a:cs typeface="Segoe UI Symbol"/>
                        </a:rPr>
                        <a:t>✔</a:t>
                      </a:r>
                      <a:r>
                        <a:rPr sz="950" spc="-35" dirty="0"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(all</a:t>
                      </a:r>
                      <a:r>
                        <a:rPr sz="950" spc="-10" dirty="0">
                          <a:latin typeface="Times New Roman"/>
                          <a:cs typeface="Times New Roman"/>
                        </a:rPr>
                        <a:t> assigned)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E1EEDA"/>
                    </a:solidFill>
                  </a:tcPr>
                </a:tc>
                <a:tc>
                  <a:txBody>
                    <a:bodyPr/>
                    <a:lstStyle/>
                    <a:p>
                      <a:pPr marL="57785" marR="150495">
                        <a:lnSpc>
                          <a:spcPts val="1090"/>
                        </a:lnSpc>
                        <a:spcBef>
                          <a:spcPts val="505"/>
                        </a:spcBef>
                      </a:pPr>
                      <a:r>
                        <a:rPr sz="950" dirty="0">
                          <a:latin typeface="Times New Roman"/>
                          <a:cs typeface="Times New Roman"/>
                        </a:rPr>
                        <a:t>GOAL</a:t>
                      </a:r>
                      <a:r>
                        <a:rPr sz="9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–</a:t>
                      </a:r>
                      <a:r>
                        <a:rPr sz="95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valid</a:t>
                      </a:r>
                      <a:r>
                        <a:rPr sz="950" spc="-10" dirty="0">
                          <a:latin typeface="Times New Roman"/>
                          <a:cs typeface="Times New Roman"/>
                        </a:rPr>
                        <a:t> schedule found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64135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E1EE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706627" y="7164704"/>
            <a:ext cx="4127500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b="1" dirty="0">
                <a:latin typeface="Times New Roman"/>
                <a:cs typeface="Times New Roman"/>
              </a:rPr>
              <a:t>Continuing</a:t>
            </a:r>
            <a:r>
              <a:rPr sz="1100" b="1" spc="-1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the</a:t>
            </a:r>
            <a:r>
              <a:rPr sz="1100" b="1" spc="-1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search</a:t>
            </a:r>
            <a:r>
              <a:rPr sz="1100" b="1" spc="-2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(to</a:t>
            </a:r>
            <a:r>
              <a:rPr sz="1100" b="1" spc="-3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confirm</a:t>
            </a:r>
            <a:r>
              <a:rPr sz="1100" b="1" spc="-1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all</a:t>
            </a:r>
            <a:r>
              <a:rPr sz="1100" b="1" spc="-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solutions</a:t>
            </a:r>
            <a:r>
              <a:rPr sz="1100" b="1" spc="-3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/</a:t>
            </a:r>
            <a:r>
              <a:rPr sz="1100" b="1" spc="-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show</a:t>
            </a:r>
            <a:r>
              <a:rPr sz="1100" b="1" spc="-5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backtracking):</a:t>
            </a:r>
            <a:endParaRPr sz="1100">
              <a:latin typeface="Times New Roman"/>
              <a:cs typeface="Times New Roman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719327" y="7433436"/>
          <a:ext cx="6121399" cy="239775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33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81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539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58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2250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950" b="1" spc="-20" dirty="0">
                          <a:latin typeface="Times New Roman"/>
                          <a:cs typeface="Times New Roman"/>
                        </a:rPr>
                        <a:t>Step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1F3863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950" b="1" dirty="0">
                          <a:latin typeface="Times New Roman"/>
                          <a:cs typeface="Times New Roman"/>
                        </a:rPr>
                        <a:t>Assignment</a:t>
                      </a:r>
                      <a:r>
                        <a:rPr sz="950" b="1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b="1" spc="-10" dirty="0">
                          <a:latin typeface="Times New Roman"/>
                          <a:cs typeface="Times New Roman"/>
                        </a:rPr>
                        <a:t>tried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1F3863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950" b="1" dirty="0">
                          <a:latin typeface="Times New Roman"/>
                          <a:cs typeface="Times New Roman"/>
                        </a:rPr>
                        <a:t>Constraint</a:t>
                      </a:r>
                      <a:r>
                        <a:rPr sz="950" b="1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b="1" spc="-10" dirty="0">
                          <a:latin typeface="Times New Roman"/>
                          <a:cs typeface="Times New Roman"/>
                        </a:rPr>
                        <a:t>checks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1F3863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950" b="1" spc="-10" dirty="0">
                          <a:latin typeface="Times New Roman"/>
                          <a:cs typeface="Times New Roman"/>
                        </a:rPr>
                        <a:t>Result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1F38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45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950" spc="-50" dirty="0">
                          <a:latin typeface="Times New Roman"/>
                          <a:cs typeface="Times New Roman"/>
                        </a:rPr>
                        <a:t>7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102235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ts val="1115"/>
                        </a:lnSpc>
                        <a:spcBef>
                          <a:spcPts val="260"/>
                        </a:spcBef>
                      </a:pPr>
                      <a:r>
                        <a:rPr sz="950" dirty="0">
                          <a:latin typeface="Times New Roman"/>
                          <a:cs typeface="Times New Roman"/>
                        </a:rPr>
                        <a:t>Backtrack</a:t>
                      </a:r>
                      <a:r>
                        <a:rPr sz="9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9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D2;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D1=M,</a:t>
                      </a:r>
                      <a:r>
                        <a:rPr sz="950" spc="-25" dirty="0">
                          <a:latin typeface="Times New Roman"/>
                          <a:cs typeface="Times New Roman"/>
                        </a:rPr>
                        <a:t> D2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57785">
                        <a:lnSpc>
                          <a:spcPts val="1115"/>
                        </a:lnSpc>
                      </a:pPr>
                      <a:r>
                        <a:rPr sz="95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95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50" dirty="0">
                          <a:latin typeface="Times New Roman"/>
                          <a:cs typeface="Times New Roman"/>
                        </a:rPr>
                        <a:t>N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850"/>
                        </a:spcBef>
                      </a:pPr>
                      <a:r>
                        <a:rPr sz="950" dirty="0">
                          <a:latin typeface="Times New Roman"/>
                          <a:cs typeface="Times New Roman"/>
                        </a:rPr>
                        <a:t>C3</a:t>
                      </a:r>
                      <a:r>
                        <a:rPr sz="95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Segoe UI Symbol"/>
                          <a:cs typeface="Segoe UI Symbol"/>
                        </a:rPr>
                        <a:t>✔</a:t>
                      </a:r>
                      <a:r>
                        <a:rPr sz="950" spc="-35" dirty="0"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(N</a:t>
                      </a:r>
                      <a:r>
                        <a:rPr sz="9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10" dirty="0">
                          <a:latin typeface="Times New Roman"/>
                          <a:cs typeface="Times New Roman"/>
                        </a:rPr>
                        <a:t>free)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10795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950" spc="-10" dirty="0">
                          <a:latin typeface="Times New Roman"/>
                          <a:cs typeface="Times New Roman"/>
                        </a:rPr>
                        <a:t>Accept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102235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935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950" spc="-50" dirty="0">
                          <a:latin typeface="Times New Roman"/>
                          <a:cs typeface="Times New Roman"/>
                        </a:rPr>
                        <a:t>8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43815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950" dirty="0">
                          <a:latin typeface="Times New Roman"/>
                          <a:cs typeface="Times New Roman"/>
                        </a:rPr>
                        <a:t>D1=M,</a:t>
                      </a:r>
                      <a:r>
                        <a:rPr sz="9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D2=N,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D3</a:t>
                      </a:r>
                      <a:r>
                        <a:rPr sz="9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50" dirty="0">
                          <a:latin typeface="Times New Roman"/>
                          <a:cs typeface="Times New Roman"/>
                        </a:rPr>
                        <a:t>M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43815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950" dirty="0">
                          <a:latin typeface="Times New Roman"/>
                          <a:cs typeface="Times New Roman"/>
                        </a:rPr>
                        <a:t>C4</a:t>
                      </a:r>
                      <a:r>
                        <a:rPr sz="95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50" dirty="0">
                          <a:latin typeface="Segoe UI Symbol"/>
                          <a:cs typeface="Segoe UI Symbol"/>
                        </a:rPr>
                        <a:t>✘</a:t>
                      </a:r>
                      <a:endParaRPr sz="950">
                        <a:latin typeface="Segoe UI Symbol"/>
                        <a:cs typeface="Segoe UI Symbol"/>
                      </a:endParaRPr>
                    </a:p>
                  </a:txBody>
                  <a:tcPr marL="0" marR="0" marT="4953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950" spc="-10" dirty="0">
                          <a:latin typeface="Times New Roman"/>
                          <a:cs typeface="Times New Roman"/>
                        </a:rPr>
                        <a:t>Reject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43815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680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950" spc="-50" dirty="0">
                          <a:latin typeface="Times New Roman"/>
                          <a:cs typeface="Times New Roman"/>
                        </a:rPr>
                        <a:t>9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103505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950" dirty="0">
                          <a:latin typeface="Times New Roman"/>
                          <a:cs typeface="Times New Roman"/>
                        </a:rPr>
                        <a:t>D1=M,</a:t>
                      </a:r>
                      <a:r>
                        <a:rPr sz="9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D2=N,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D3</a:t>
                      </a:r>
                      <a:r>
                        <a:rPr sz="9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50" dirty="0">
                          <a:latin typeface="Times New Roman"/>
                          <a:cs typeface="Times New Roman"/>
                        </a:rPr>
                        <a:t>A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103505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sz="950" dirty="0">
                          <a:latin typeface="Times New Roman"/>
                          <a:cs typeface="Times New Roman"/>
                        </a:rPr>
                        <a:t>C3</a:t>
                      </a:r>
                      <a:r>
                        <a:rPr sz="95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Segoe UI Symbol"/>
                          <a:cs typeface="Segoe UI Symbol"/>
                        </a:rPr>
                        <a:t>✔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sz="95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C4</a:t>
                      </a:r>
                      <a:r>
                        <a:rPr sz="9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Segoe UI Symbol"/>
                          <a:cs typeface="Segoe UI Symbol"/>
                        </a:rPr>
                        <a:t>✔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sz="95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but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C2: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9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&lt;</a:t>
                      </a:r>
                      <a:r>
                        <a:rPr sz="95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9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false </a:t>
                      </a:r>
                      <a:r>
                        <a:rPr sz="950" spc="-50" dirty="0">
                          <a:latin typeface="Segoe UI Symbol"/>
                          <a:cs typeface="Segoe UI Symbol"/>
                        </a:rPr>
                        <a:t>✘</a:t>
                      </a:r>
                      <a:endParaRPr sz="950">
                        <a:latin typeface="Segoe UI Symbol"/>
                        <a:cs typeface="Segoe UI Symbol"/>
                      </a:endParaRPr>
                    </a:p>
                  </a:txBody>
                  <a:tcPr marL="0" marR="0" marT="10922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ts val="1120"/>
                        </a:lnSpc>
                        <a:spcBef>
                          <a:spcPts val="260"/>
                        </a:spcBef>
                      </a:pPr>
                      <a:r>
                        <a:rPr sz="950" dirty="0">
                          <a:latin typeface="Times New Roman"/>
                          <a:cs typeface="Times New Roman"/>
                        </a:rPr>
                        <a:t>Reject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→</a:t>
                      </a:r>
                      <a:r>
                        <a:rPr sz="9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D3</a:t>
                      </a:r>
                      <a:r>
                        <a:rPr sz="9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10" dirty="0">
                          <a:latin typeface="Times New Roman"/>
                          <a:cs typeface="Times New Roman"/>
                        </a:rPr>
                        <a:t>exhausted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57785">
                        <a:lnSpc>
                          <a:spcPts val="1120"/>
                        </a:lnSpc>
                      </a:pPr>
                      <a:r>
                        <a:rPr sz="950" dirty="0">
                          <a:latin typeface="Times New Roman"/>
                          <a:cs typeface="Times New Roman"/>
                        </a:rPr>
                        <a:t>→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backtrack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95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25" dirty="0">
                          <a:latin typeface="Times New Roman"/>
                          <a:cs typeface="Times New Roman"/>
                        </a:rPr>
                        <a:t>D1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935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950" spc="-25" dirty="0">
                          <a:latin typeface="Times New Roman"/>
                          <a:cs typeface="Times New Roman"/>
                        </a:rPr>
                        <a:t>10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43815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950" dirty="0">
                          <a:latin typeface="Times New Roman"/>
                          <a:cs typeface="Times New Roman"/>
                        </a:rPr>
                        <a:t>D1</a:t>
                      </a:r>
                      <a:r>
                        <a:rPr sz="95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95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50" dirty="0">
                          <a:latin typeface="Times New Roman"/>
                          <a:cs typeface="Times New Roman"/>
                        </a:rPr>
                        <a:t>A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43815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950" dirty="0">
                          <a:latin typeface="Times New Roman"/>
                          <a:cs typeface="Times New Roman"/>
                        </a:rPr>
                        <a:t>C1:</a:t>
                      </a:r>
                      <a:r>
                        <a:rPr sz="95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95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≠</a:t>
                      </a:r>
                      <a:r>
                        <a:rPr sz="9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95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50" dirty="0">
                          <a:latin typeface="Segoe UI Symbol"/>
                          <a:cs typeface="Segoe UI Symbol"/>
                        </a:rPr>
                        <a:t>✔</a:t>
                      </a:r>
                      <a:endParaRPr sz="950">
                        <a:latin typeface="Segoe UI Symbol"/>
                        <a:cs typeface="Segoe UI Symbol"/>
                      </a:endParaRPr>
                    </a:p>
                  </a:txBody>
                  <a:tcPr marL="0" marR="0" marT="50165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950" spc="-10" dirty="0">
                          <a:latin typeface="Times New Roman"/>
                          <a:cs typeface="Times New Roman"/>
                        </a:rPr>
                        <a:t>Accept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43815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1935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950" spc="-25" dirty="0">
                          <a:latin typeface="Times New Roman"/>
                          <a:cs typeface="Times New Roman"/>
                        </a:rPr>
                        <a:t>11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43815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950" dirty="0">
                          <a:latin typeface="Times New Roman"/>
                          <a:cs typeface="Times New Roman"/>
                        </a:rPr>
                        <a:t>D1=A,</a:t>
                      </a:r>
                      <a:r>
                        <a:rPr sz="9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D2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95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50" dirty="0">
                          <a:latin typeface="Times New Roman"/>
                          <a:cs typeface="Times New Roman"/>
                        </a:rPr>
                        <a:t>M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43815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950" dirty="0">
                          <a:latin typeface="Times New Roman"/>
                          <a:cs typeface="Times New Roman"/>
                        </a:rPr>
                        <a:t>C3</a:t>
                      </a:r>
                      <a:r>
                        <a:rPr sz="95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50" dirty="0">
                          <a:latin typeface="Segoe UI Symbol"/>
                          <a:cs typeface="Segoe UI Symbol"/>
                        </a:rPr>
                        <a:t>✔</a:t>
                      </a:r>
                      <a:endParaRPr sz="950">
                        <a:latin typeface="Segoe UI Symbol"/>
                        <a:cs typeface="Segoe UI Symbol"/>
                      </a:endParaRPr>
                    </a:p>
                  </a:txBody>
                  <a:tcPr marL="0" marR="0" marT="4953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950" spc="-10" dirty="0">
                          <a:latin typeface="Times New Roman"/>
                          <a:cs typeface="Times New Roman"/>
                        </a:rPr>
                        <a:t>Accept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43815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3204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950" spc="-25" dirty="0">
                          <a:latin typeface="Times New Roman"/>
                          <a:cs typeface="Times New Roman"/>
                        </a:rPr>
                        <a:t>12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45085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950" dirty="0">
                          <a:latin typeface="Times New Roman"/>
                          <a:cs typeface="Times New Roman"/>
                        </a:rPr>
                        <a:t>D1=A,</a:t>
                      </a:r>
                      <a:r>
                        <a:rPr sz="9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D2=M,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D3</a:t>
                      </a:r>
                      <a:r>
                        <a:rPr sz="9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50" dirty="0">
                          <a:latin typeface="Times New Roman"/>
                          <a:cs typeface="Times New Roman"/>
                        </a:rPr>
                        <a:t>M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45085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950" dirty="0">
                          <a:latin typeface="Times New Roman"/>
                          <a:cs typeface="Times New Roman"/>
                        </a:rPr>
                        <a:t>C3</a:t>
                      </a:r>
                      <a:r>
                        <a:rPr sz="9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Segoe UI Symbol"/>
                          <a:cs typeface="Segoe UI Symbol"/>
                        </a:rPr>
                        <a:t>✘</a:t>
                      </a:r>
                      <a:r>
                        <a:rPr sz="950" spc="-30" dirty="0"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9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C4</a:t>
                      </a:r>
                      <a:r>
                        <a:rPr sz="95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50" dirty="0">
                          <a:latin typeface="Segoe UI Symbol"/>
                          <a:cs typeface="Segoe UI Symbol"/>
                        </a:rPr>
                        <a:t>✘</a:t>
                      </a:r>
                      <a:endParaRPr sz="950">
                        <a:latin typeface="Segoe UI Symbol"/>
                        <a:cs typeface="Segoe UI Symbol"/>
                      </a:endParaRPr>
                    </a:p>
                  </a:txBody>
                  <a:tcPr marL="0" marR="0" marT="51435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950" spc="-10" dirty="0">
                          <a:latin typeface="Times New Roman"/>
                          <a:cs typeface="Times New Roman"/>
                        </a:rPr>
                        <a:t>Reject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45085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1935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950" spc="-25" dirty="0">
                          <a:latin typeface="Times New Roman"/>
                          <a:cs typeface="Times New Roman"/>
                        </a:rPr>
                        <a:t>13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43815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950" dirty="0">
                          <a:latin typeface="Times New Roman"/>
                          <a:cs typeface="Times New Roman"/>
                        </a:rPr>
                        <a:t>D1=A,</a:t>
                      </a:r>
                      <a:r>
                        <a:rPr sz="9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D2=M,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D3</a:t>
                      </a:r>
                      <a:r>
                        <a:rPr sz="9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50" dirty="0">
                          <a:latin typeface="Times New Roman"/>
                          <a:cs typeface="Times New Roman"/>
                        </a:rPr>
                        <a:t>A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43815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950" dirty="0">
                          <a:latin typeface="Times New Roman"/>
                          <a:cs typeface="Times New Roman"/>
                        </a:rPr>
                        <a:t>C3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Segoe UI Symbol"/>
                          <a:cs typeface="Segoe UI Symbol"/>
                        </a:rPr>
                        <a:t>✘</a:t>
                      </a:r>
                      <a:r>
                        <a:rPr sz="950" spc="-45" dirty="0"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(Afternoon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used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by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25" dirty="0">
                          <a:latin typeface="Times New Roman"/>
                          <a:cs typeface="Times New Roman"/>
                        </a:rPr>
                        <a:t>D1)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4953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950" spc="-10" dirty="0">
                          <a:latin typeface="Times New Roman"/>
                          <a:cs typeface="Times New Roman"/>
                        </a:rPr>
                        <a:t>Reject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43815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950" spc="-25" dirty="0">
                          <a:latin typeface="Times New Roman"/>
                          <a:cs typeface="Times New Roman"/>
                        </a:rPr>
                        <a:t>14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45085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E1EEDA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950" dirty="0">
                          <a:latin typeface="Times New Roman"/>
                          <a:cs typeface="Times New Roman"/>
                        </a:rPr>
                        <a:t>D1=A,</a:t>
                      </a:r>
                      <a:r>
                        <a:rPr sz="9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D2=M,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D3</a:t>
                      </a:r>
                      <a:r>
                        <a:rPr sz="9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50" dirty="0">
                          <a:latin typeface="Times New Roman"/>
                          <a:cs typeface="Times New Roman"/>
                        </a:rPr>
                        <a:t>N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45085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E1EEDA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950" dirty="0">
                          <a:latin typeface="Times New Roman"/>
                          <a:cs typeface="Times New Roman"/>
                        </a:rPr>
                        <a:t>C1</a:t>
                      </a:r>
                      <a:r>
                        <a:rPr sz="95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Segoe UI Symbol"/>
                          <a:cs typeface="Segoe UI Symbol"/>
                        </a:rPr>
                        <a:t>✔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sz="95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C2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Segoe UI Symbol"/>
                          <a:cs typeface="Segoe UI Symbol"/>
                        </a:rPr>
                        <a:t>✔</a:t>
                      </a:r>
                      <a:r>
                        <a:rPr sz="950" spc="-35" dirty="0"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(M</a:t>
                      </a:r>
                      <a:r>
                        <a:rPr sz="9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&lt;</a:t>
                      </a:r>
                      <a:r>
                        <a:rPr sz="95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N),</a:t>
                      </a:r>
                      <a:r>
                        <a:rPr sz="95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C3</a:t>
                      </a:r>
                      <a:r>
                        <a:rPr sz="95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Segoe UI Symbol"/>
                          <a:cs typeface="Segoe UI Symbol"/>
                        </a:rPr>
                        <a:t>✔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sz="9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C4</a:t>
                      </a:r>
                      <a:r>
                        <a:rPr sz="9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Segoe UI Symbol"/>
                          <a:cs typeface="Segoe UI Symbol"/>
                        </a:rPr>
                        <a:t>✔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sz="95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C5</a:t>
                      </a:r>
                      <a:r>
                        <a:rPr sz="95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50" dirty="0">
                          <a:latin typeface="Segoe UI Symbol"/>
                          <a:cs typeface="Segoe UI Symbol"/>
                        </a:rPr>
                        <a:t>✔</a:t>
                      </a:r>
                      <a:endParaRPr sz="950">
                        <a:latin typeface="Segoe UI Symbol"/>
                        <a:cs typeface="Segoe UI Symbol"/>
                      </a:endParaRPr>
                    </a:p>
                  </a:txBody>
                  <a:tcPr marL="0" marR="0" marT="51435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E1EEDA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950" dirty="0">
                          <a:latin typeface="Times New Roman"/>
                          <a:cs typeface="Times New Roman"/>
                        </a:rPr>
                        <a:t>Second</a:t>
                      </a:r>
                      <a:r>
                        <a:rPr sz="95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valid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10" dirty="0">
                          <a:latin typeface="Times New Roman"/>
                          <a:cs typeface="Times New Roman"/>
                        </a:rPr>
                        <a:t>solution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45085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E1EE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719327" y="719327"/>
          <a:ext cx="6121399" cy="9639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33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81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539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58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2250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950" b="1" spc="-20" dirty="0">
                          <a:latin typeface="Times New Roman"/>
                          <a:cs typeface="Times New Roman"/>
                        </a:rPr>
                        <a:t>Step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1F3863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950" b="1" dirty="0">
                          <a:latin typeface="Times New Roman"/>
                          <a:cs typeface="Times New Roman"/>
                        </a:rPr>
                        <a:t>Assignment</a:t>
                      </a:r>
                      <a:r>
                        <a:rPr sz="950" b="1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b="1" spc="-10" dirty="0">
                          <a:latin typeface="Times New Roman"/>
                          <a:cs typeface="Times New Roman"/>
                        </a:rPr>
                        <a:t>tried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1F3863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950" b="1" dirty="0">
                          <a:latin typeface="Times New Roman"/>
                          <a:cs typeface="Times New Roman"/>
                        </a:rPr>
                        <a:t>Constraint</a:t>
                      </a:r>
                      <a:r>
                        <a:rPr sz="950" b="1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b="1" spc="-10" dirty="0">
                          <a:latin typeface="Times New Roman"/>
                          <a:cs typeface="Times New Roman"/>
                        </a:rPr>
                        <a:t>checks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1F3863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950" b="1" spc="-10" dirty="0">
                          <a:latin typeface="Times New Roman"/>
                          <a:cs typeface="Times New Roman"/>
                        </a:rPr>
                        <a:t>Result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1F38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900"/>
                        </a:spcBef>
                      </a:pPr>
                      <a:r>
                        <a:rPr sz="950" spc="-25" dirty="0">
                          <a:latin typeface="Times New Roman"/>
                          <a:cs typeface="Times New Roman"/>
                        </a:rPr>
                        <a:t>15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11430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900"/>
                        </a:spcBef>
                      </a:pPr>
                      <a:r>
                        <a:rPr sz="950" dirty="0">
                          <a:latin typeface="Times New Roman"/>
                          <a:cs typeface="Times New Roman"/>
                        </a:rPr>
                        <a:t>D1=A,</a:t>
                      </a:r>
                      <a:r>
                        <a:rPr sz="95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D2</a:t>
                      </a:r>
                      <a:r>
                        <a:rPr sz="9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95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9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sz="95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9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50" dirty="0">
                          <a:latin typeface="Times New Roman"/>
                          <a:cs typeface="Times New Roman"/>
                        </a:rPr>
                        <a:t>…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11430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ts val="1135"/>
                        </a:lnSpc>
                        <a:spcBef>
                          <a:spcPts val="395"/>
                        </a:spcBef>
                      </a:pPr>
                      <a:r>
                        <a:rPr sz="950" dirty="0">
                          <a:latin typeface="Times New Roman"/>
                          <a:cs typeface="Times New Roman"/>
                        </a:rPr>
                        <a:t>D2</a:t>
                      </a:r>
                      <a:r>
                        <a:rPr sz="95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95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95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Segoe UI Symbol"/>
                          <a:cs typeface="Segoe UI Symbol"/>
                        </a:rPr>
                        <a:t>✘</a:t>
                      </a:r>
                      <a:r>
                        <a:rPr sz="950" spc="-40" dirty="0"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(C3).</a:t>
                      </a:r>
                      <a:r>
                        <a:rPr sz="95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D2</a:t>
                      </a:r>
                      <a:r>
                        <a:rPr sz="9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95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N:</a:t>
                      </a:r>
                      <a:r>
                        <a:rPr sz="95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D3</a:t>
                      </a:r>
                      <a:r>
                        <a:rPr sz="9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9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95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Segoe UI Symbol"/>
                          <a:cs typeface="Segoe UI Symbol"/>
                        </a:rPr>
                        <a:t>✘</a:t>
                      </a:r>
                      <a:r>
                        <a:rPr sz="950" spc="-25" dirty="0"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(C4),</a:t>
                      </a:r>
                      <a:r>
                        <a:rPr sz="95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D3</a:t>
                      </a:r>
                      <a:r>
                        <a:rPr sz="95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A </a:t>
                      </a:r>
                      <a:r>
                        <a:rPr sz="950" spc="-50" dirty="0">
                          <a:latin typeface="Segoe UI Symbol"/>
                          <a:cs typeface="Segoe UI Symbol"/>
                        </a:rPr>
                        <a:t>✘</a:t>
                      </a:r>
                      <a:endParaRPr sz="950">
                        <a:latin typeface="Segoe UI Symbol"/>
                        <a:cs typeface="Segoe UI Symbol"/>
                      </a:endParaRPr>
                    </a:p>
                    <a:p>
                      <a:pPr marL="57785">
                        <a:lnSpc>
                          <a:spcPts val="1135"/>
                        </a:lnSpc>
                      </a:pPr>
                      <a:r>
                        <a:rPr sz="950" dirty="0">
                          <a:latin typeface="Times New Roman"/>
                          <a:cs typeface="Times New Roman"/>
                        </a:rPr>
                        <a:t>(C3</a:t>
                      </a:r>
                      <a:r>
                        <a:rPr sz="95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&amp;</a:t>
                      </a:r>
                      <a:r>
                        <a:rPr sz="95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C2)</a:t>
                      </a:r>
                      <a:r>
                        <a:rPr sz="9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→</a:t>
                      </a:r>
                      <a:r>
                        <a:rPr sz="9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dead</a:t>
                      </a:r>
                      <a:r>
                        <a:rPr sz="9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25" dirty="0">
                          <a:latin typeface="Times New Roman"/>
                          <a:cs typeface="Times New Roman"/>
                        </a:rPr>
                        <a:t>end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50165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900"/>
                        </a:spcBef>
                      </a:pPr>
                      <a:r>
                        <a:rPr sz="950" spc="-10" dirty="0">
                          <a:latin typeface="Times New Roman"/>
                          <a:cs typeface="Times New Roman"/>
                        </a:rPr>
                        <a:t>Backtrack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11430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680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950" spc="-25" dirty="0">
                          <a:latin typeface="Times New Roman"/>
                          <a:cs typeface="Times New Roman"/>
                        </a:rPr>
                        <a:t>16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103505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950" dirty="0">
                          <a:latin typeface="Times New Roman"/>
                          <a:cs typeface="Times New Roman"/>
                        </a:rPr>
                        <a:t>D1</a:t>
                      </a:r>
                      <a:r>
                        <a:rPr sz="95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95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50" dirty="0">
                          <a:latin typeface="Times New Roman"/>
                          <a:cs typeface="Times New Roman"/>
                        </a:rPr>
                        <a:t>N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103505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sz="950" dirty="0">
                          <a:latin typeface="Times New Roman"/>
                          <a:cs typeface="Times New Roman"/>
                        </a:rPr>
                        <a:t>C1</a:t>
                      </a:r>
                      <a:r>
                        <a:rPr sz="9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Segoe UI Symbol"/>
                          <a:cs typeface="Segoe UI Symbol"/>
                        </a:rPr>
                        <a:t>✘</a:t>
                      </a:r>
                      <a:r>
                        <a:rPr sz="950" spc="-35" dirty="0"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(D1</a:t>
                      </a:r>
                      <a:r>
                        <a:rPr sz="95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cannot</a:t>
                      </a:r>
                      <a:r>
                        <a:rPr sz="95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work</a:t>
                      </a:r>
                      <a:r>
                        <a:rPr sz="950" spc="-10" dirty="0">
                          <a:latin typeface="Times New Roman"/>
                          <a:cs typeface="Times New Roman"/>
                        </a:rPr>
                        <a:t> Night)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10922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marL="57785" marR="81280">
                        <a:lnSpc>
                          <a:spcPts val="1090"/>
                        </a:lnSpc>
                        <a:spcBef>
                          <a:spcPts val="340"/>
                        </a:spcBef>
                      </a:pPr>
                      <a:r>
                        <a:rPr sz="950" dirty="0">
                          <a:latin typeface="Times New Roman"/>
                          <a:cs typeface="Times New Roman"/>
                        </a:rPr>
                        <a:t>Pruned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(already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10" dirty="0">
                          <a:latin typeface="Times New Roman"/>
                          <a:cs typeface="Times New Roman"/>
                        </a:rPr>
                        <a:t>removed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by</a:t>
                      </a:r>
                      <a:r>
                        <a:rPr sz="9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node</a:t>
                      </a:r>
                      <a:r>
                        <a:rPr sz="9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10" dirty="0">
                          <a:latin typeface="Times New Roman"/>
                          <a:cs typeface="Times New Roman"/>
                        </a:rPr>
                        <a:t>consistency)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4318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706627" y="1979421"/>
            <a:ext cx="1612900" cy="2159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50" b="1" dirty="0">
                <a:latin typeface="Times New Roman"/>
                <a:cs typeface="Times New Roman"/>
              </a:rPr>
              <a:t>1.3</a:t>
            </a:r>
            <a:r>
              <a:rPr sz="1250" b="1" spc="-35" dirty="0">
                <a:latin typeface="Times New Roman"/>
                <a:cs typeface="Times New Roman"/>
              </a:rPr>
              <a:t> </a:t>
            </a:r>
            <a:r>
              <a:rPr sz="1250" b="1" dirty="0">
                <a:latin typeface="Times New Roman"/>
                <a:cs typeface="Times New Roman"/>
              </a:rPr>
              <a:t>Final</a:t>
            </a:r>
            <a:r>
              <a:rPr sz="1250" b="1" spc="-30" dirty="0">
                <a:latin typeface="Times New Roman"/>
                <a:cs typeface="Times New Roman"/>
              </a:rPr>
              <a:t> </a:t>
            </a:r>
            <a:r>
              <a:rPr sz="1250" b="1" dirty="0">
                <a:latin typeface="Times New Roman"/>
                <a:cs typeface="Times New Roman"/>
              </a:rPr>
              <a:t>valid</a:t>
            </a:r>
            <a:r>
              <a:rPr sz="1250" b="1" spc="-30" dirty="0">
                <a:latin typeface="Times New Roman"/>
                <a:cs typeface="Times New Roman"/>
              </a:rPr>
              <a:t> </a:t>
            </a:r>
            <a:r>
              <a:rPr sz="1250" b="1" spc="-10" dirty="0">
                <a:latin typeface="Times New Roman"/>
                <a:cs typeface="Times New Roman"/>
              </a:rPr>
              <a:t>schedule</a:t>
            </a:r>
            <a:endParaRPr sz="1250">
              <a:latin typeface="Times New Roman"/>
              <a:cs typeface="Times New Roman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719327" y="2261869"/>
          <a:ext cx="3810635" cy="88391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056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0345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950" b="1" spc="-10" dirty="0">
                          <a:latin typeface="Times New Roman"/>
                          <a:cs typeface="Times New Roman"/>
                        </a:rPr>
                        <a:t>Doctor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1F3863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950" b="1" spc="-10" dirty="0">
                          <a:latin typeface="Times New Roman"/>
                          <a:cs typeface="Times New Roman"/>
                        </a:rPr>
                        <a:t>Shift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1F38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0979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950" spc="-25" dirty="0">
                          <a:latin typeface="Times New Roman"/>
                          <a:cs typeface="Times New Roman"/>
                        </a:rPr>
                        <a:t>D1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E1EEDA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950" spc="-10" dirty="0">
                          <a:latin typeface="Times New Roman"/>
                          <a:cs typeface="Times New Roman"/>
                        </a:rPr>
                        <a:t>Morning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E1EE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0345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950" spc="-25" dirty="0">
                          <a:latin typeface="Times New Roman"/>
                          <a:cs typeface="Times New Roman"/>
                        </a:rPr>
                        <a:t>D2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E1EEDA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950" spc="-10" dirty="0">
                          <a:latin typeface="Times New Roman"/>
                          <a:cs typeface="Times New Roman"/>
                        </a:rPr>
                        <a:t>Afternoon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E1EE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2250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950" spc="-25" dirty="0">
                          <a:latin typeface="Times New Roman"/>
                          <a:cs typeface="Times New Roman"/>
                        </a:rPr>
                        <a:t>D3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E1EEDA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950" spc="-10" dirty="0">
                          <a:latin typeface="Times New Roman"/>
                          <a:cs typeface="Times New Roman"/>
                        </a:rPr>
                        <a:t>Night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E1EE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706627" y="3315435"/>
            <a:ext cx="6096000" cy="15144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28200"/>
              </a:lnSpc>
              <a:spcBef>
                <a:spcPts val="95"/>
              </a:spcBef>
            </a:pPr>
            <a:r>
              <a:rPr sz="1100" b="1" dirty="0">
                <a:latin typeface="Times New Roman"/>
                <a:cs typeface="Times New Roman"/>
              </a:rPr>
              <a:t>Verification:</a:t>
            </a:r>
            <a:r>
              <a:rPr sz="1100" b="1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C1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Segoe UI Symbol"/>
                <a:cs typeface="Segoe UI Symbol"/>
              </a:rPr>
              <a:t>✔</a:t>
            </a:r>
            <a:r>
              <a:rPr sz="1100" spc="-35" dirty="0">
                <a:latin typeface="Segoe UI Symbol"/>
                <a:cs typeface="Segoe UI Symbol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(D1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Morning,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not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Night); C2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Segoe UI Symbol"/>
                <a:cs typeface="Segoe UI Symbol"/>
              </a:rPr>
              <a:t>✔</a:t>
            </a:r>
            <a:r>
              <a:rPr sz="1100" spc="-30" dirty="0">
                <a:latin typeface="Segoe UI Symbol"/>
                <a:cs typeface="Segoe UI Symbol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(D2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Afternoon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&lt;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D3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Night);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C3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Segoe UI Symbol"/>
                <a:cs typeface="Segoe UI Symbol"/>
              </a:rPr>
              <a:t>✔</a:t>
            </a:r>
            <a:r>
              <a:rPr sz="1100" spc="-35" dirty="0">
                <a:latin typeface="Segoe UI Symbol"/>
                <a:cs typeface="Segoe UI Symbol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(one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doctor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per </a:t>
            </a:r>
            <a:r>
              <a:rPr sz="1100" dirty="0">
                <a:latin typeface="Times New Roman"/>
                <a:cs typeface="Times New Roman"/>
              </a:rPr>
              <a:t>shift);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C4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Segoe UI Symbol"/>
                <a:cs typeface="Segoe UI Symbol"/>
              </a:rPr>
              <a:t>✔</a:t>
            </a:r>
            <a:r>
              <a:rPr sz="1100" spc="-30" dirty="0">
                <a:latin typeface="Segoe UI Symbol"/>
                <a:cs typeface="Segoe UI Symbol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(D3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Night,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not Morning); C5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Segoe UI Symbol"/>
                <a:cs typeface="Segoe UI Symbol"/>
              </a:rPr>
              <a:t>✔</a:t>
            </a:r>
            <a:r>
              <a:rPr sz="1100" spc="-30" dirty="0">
                <a:latin typeface="Segoe UI Symbol"/>
                <a:cs typeface="Segoe UI Symbol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(every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doctor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has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exactly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one</a:t>
            </a:r>
            <a:r>
              <a:rPr sz="1100" spc="-10" dirty="0">
                <a:latin typeface="Times New Roman"/>
                <a:cs typeface="Times New Roman"/>
              </a:rPr>
              <a:t> shift).</a:t>
            </a:r>
            <a:endParaRPr sz="1100">
              <a:latin typeface="Times New Roman"/>
              <a:cs typeface="Times New Roman"/>
            </a:endParaRPr>
          </a:p>
          <a:p>
            <a:pPr marL="12700" marR="55880">
              <a:lnSpc>
                <a:spcPct val="110000"/>
              </a:lnSpc>
              <a:spcBef>
                <a:spcPts val="580"/>
              </a:spcBef>
            </a:pPr>
            <a:r>
              <a:rPr sz="1100" b="1" dirty="0">
                <a:latin typeface="Times New Roman"/>
                <a:cs typeface="Times New Roman"/>
              </a:rPr>
              <a:t>Note:</a:t>
            </a:r>
            <a:r>
              <a:rPr sz="1100" b="1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constraints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actually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admit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two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schedules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–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(D1=Morning,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D2=Afternoon, </a:t>
            </a:r>
            <a:r>
              <a:rPr sz="1100" dirty="0">
                <a:latin typeface="Times New Roman"/>
                <a:cs typeface="Times New Roman"/>
              </a:rPr>
              <a:t>D3=Night)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and </a:t>
            </a:r>
            <a:r>
              <a:rPr sz="1100" dirty="0">
                <a:latin typeface="Times New Roman"/>
                <a:cs typeface="Times New Roman"/>
              </a:rPr>
              <a:t>(D1=Afternoon,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D2=Morning,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D3=Night).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Backtracking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</a:t>
            </a:r>
            <a:r>
              <a:rPr sz="1100" spc="-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stated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variable/value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ordering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reaches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the </a:t>
            </a:r>
            <a:r>
              <a:rPr sz="1100" dirty="0">
                <a:latin typeface="Times New Roman"/>
                <a:cs typeface="Times New Roman"/>
              </a:rPr>
              <a:t>first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one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first, so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it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reported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as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answer. In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both,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D3 works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Night.</a:t>
            </a:r>
            <a:endParaRPr sz="1100">
              <a:latin typeface="Times New Roman"/>
              <a:cs typeface="Times New Roman"/>
            </a:endParaRPr>
          </a:p>
          <a:p>
            <a:pPr marL="12700" marR="220979">
              <a:lnSpc>
                <a:spcPct val="110000"/>
              </a:lnSpc>
              <a:spcBef>
                <a:spcPts val="500"/>
              </a:spcBef>
            </a:pPr>
            <a:r>
              <a:rPr sz="1100" b="1" dirty="0">
                <a:latin typeface="Times New Roman"/>
                <a:cs typeface="Times New Roman"/>
              </a:rPr>
              <a:t>Possible</a:t>
            </a:r>
            <a:r>
              <a:rPr sz="1100" b="1" spc="-3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improvement:</a:t>
            </a:r>
            <a:r>
              <a:rPr sz="1100" b="1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Using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Forward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Checking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/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MRV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would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remove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D3’s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values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early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and </a:t>
            </a:r>
            <a:r>
              <a:rPr sz="1100" dirty="0">
                <a:latin typeface="Times New Roman"/>
                <a:cs typeface="Times New Roman"/>
              </a:rPr>
              <a:t>finish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fewer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steps,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but plain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backtracking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sufficient for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this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small </a:t>
            </a:r>
            <a:r>
              <a:rPr sz="1100" spc="-10" dirty="0">
                <a:latin typeface="Times New Roman"/>
                <a:cs typeface="Times New Roman"/>
              </a:rPr>
              <a:t>problem.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01040" y="976883"/>
            <a:ext cx="6158230" cy="9525"/>
          </a:xfrm>
          <a:custGeom>
            <a:avLst/>
            <a:gdLst/>
            <a:ahLst/>
            <a:cxnLst/>
            <a:rect l="l" t="t" r="r" b="b"/>
            <a:pathLst>
              <a:path w="6158230" h="9525">
                <a:moveTo>
                  <a:pt x="6158230" y="0"/>
                </a:moveTo>
                <a:lnTo>
                  <a:pt x="0" y="0"/>
                </a:lnTo>
                <a:lnTo>
                  <a:pt x="0" y="9144"/>
                </a:lnTo>
                <a:lnTo>
                  <a:pt x="6158230" y="9144"/>
                </a:lnTo>
                <a:lnTo>
                  <a:pt x="6158230" y="0"/>
                </a:lnTo>
                <a:close/>
              </a:path>
            </a:pathLst>
          </a:custGeom>
          <a:solidFill>
            <a:srgbClr val="1F386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06627" y="694435"/>
            <a:ext cx="5977890" cy="1059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latin typeface="Times New Roman"/>
                <a:cs typeface="Times New Roman"/>
              </a:rPr>
              <a:t>Question</a:t>
            </a:r>
            <a:r>
              <a:rPr sz="1500" b="1" spc="-20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2:</a:t>
            </a:r>
            <a:r>
              <a:rPr sz="1500" b="1" spc="-10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Robot</a:t>
            </a:r>
            <a:r>
              <a:rPr sz="1500" b="1" spc="-15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in</a:t>
            </a:r>
            <a:r>
              <a:rPr sz="1500" b="1" spc="-10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a</a:t>
            </a:r>
            <a:r>
              <a:rPr sz="1500" b="1" spc="-15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5×5</a:t>
            </a:r>
            <a:r>
              <a:rPr sz="1500" b="1" spc="-15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Grid</a:t>
            </a:r>
            <a:r>
              <a:rPr sz="1500" b="1" spc="-10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(BFS</a:t>
            </a:r>
            <a:r>
              <a:rPr sz="1500" b="1" spc="-25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and</a:t>
            </a:r>
            <a:r>
              <a:rPr sz="1500" b="1" spc="-15" dirty="0">
                <a:latin typeface="Times New Roman"/>
                <a:cs typeface="Times New Roman"/>
              </a:rPr>
              <a:t> </a:t>
            </a:r>
            <a:r>
              <a:rPr sz="1500" b="1" spc="-10" dirty="0">
                <a:latin typeface="Times New Roman"/>
                <a:cs typeface="Times New Roman"/>
              </a:rPr>
              <a:t>Manhattan-</a:t>
            </a:r>
            <a:r>
              <a:rPr sz="1500" b="1" dirty="0">
                <a:latin typeface="Times New Roman"/>
                <a:cs typeface="Times New Roman"/>
              </a:rPr>
              <a:t>Heuristic</a:t>
            </a:r>
            <a:r>
              <a:rPr sz="1500" b="1" spc="-25" dirty="0">
                <a:latin typeface="Times New Roman"/>
                <a:cs typeface="Times New Roman"/>
              </a:rPr>
              <a:t> </a:t>
            </a:r>
            <a:r>
              <a:rPr sz="1500" b="1" spc="-10" dirty="0">
                <a:latin typeface="Times New Roman"/>
                <a:cs typeface="Times New Roman"/>
              </a:rPr>
              <a:t>Search)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10"/>
              </a:spcBef>
            </a:pPr>
            <a:r>
              <a:rPr sz="1250" b="1" dirty="0">
                <a:latin typeface="Times New Roman"/>
                <a:cs typeface="Times New Roman"/>
              </a:rPr>
              <a:t>2.1</a:t>
            </a:r>
            <a:r>
              <a:rPr sz="1250" b="1" spc="-30" dirty="0">
                <a:latin typeface="Times New Roman"/>
                <a:cs typeface="Times New Roman"/>
              </a:rPr>
              <a:t> </a:t>
            </a:r>
            <a:r>
              <a:rPr sz="1250" b="1" dirty="0">
                <a:latin typeface="Times New Roman"/>
                <a:cs typeface="Times New Roman"/>
              </a:rPr>
              <a:t>Problem</a:t>
            </a:r>
            <a:r>
              <a:rPr sz="1250" b="1" spc="-30" dirty="0">
                <a:latin typeface="Times New Roman"/>
                <a:cs typeface="Times New Roman"/>
              </a:rPr>
              <a:t> </a:t>
            </a:r>
            <a:r>
              <a:rPr sz="1250" b="1" spc="-10" dirty="0">
                <a:latin typeface="Times New Roman"/>
                <a:cs typeface="Times New Roman"/>
              </a:rPr>
              <a:t>definition</a:t>
            </a:r>
            <a:r>
              <a:rPr sz="1250" b="1" spc="-25" dirty="0">
                <a:latin typeface="Times New Roman"/>
                <a:cs typeface="Times New Roman"/>
              </a:rPr>
              <a:t> </a:t>
            </a:r>
            <a:r>
              <a:rPr sz="1250" b="1" dirty="0">
                <a:latin typeface="Times New Roman"/>
                <a:cs typeface="Times New Roman"/>
              </a:rPr>
              <a:t>and</a:t>
            </a:r>
            <a:r>
              <a:rPr sz="1250" b="1" spc="-30" dirty="0">
                <a:latin typeface="Times New Roman"/>
                <a:cs typeface="Times New Roman"/>
              </a:rPr>
              <a:t> </a:t>
            </a:r>
            <a:r>
              <a:rPr sz="1250" b="1" dirty="0">
                <a:latin typeface="Times New Roman"/>
                <a:cs typeface="Times New Roman"/>
              </a:rPr>
              <a:t>assumed</a:t>
            </a:r>
            <a:r>
              <a:rPr sz="1250" b="1" spc="-25" dirty="0">
                <a:latin typeface="Times New Roman"/>
                <a:cs typeface="Times New Roman"/>
              </a:rPr>
              <a:t> </a:t>
            </a:r>
            <a:r>
              <a:rPr sz="1250" b="1" spc="-20" dirty="0">
                <a:latin typeface="Times New Roman"/>
                <a:cs typeface="Times New Roman"/>
              </a:rPr>
              <a:t>grid</a:t>
            </a:r>
            <a:endParaRPr sz="1250">
              <a:latin typeface="Times New Roman"/>
              <a:cs typeface="Times New Roman"/>
            </a:endParaRPr>
          </a:p>
          <a:p>
            <a:pPr marL="12700" marR="5080">
              <a:lnSpc>
                <a:spcPct val="110000"/>
              </a:lnSpc>
              <a:spcBef>
                <a:spcPts val="425"/>
              </a:spcBef>
            </a:pP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question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paper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does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not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print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grid,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so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following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5×5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grid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assumed.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Cells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are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written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as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(row, </a:t>
            </a:r>
            <a:r>
              <a:rPr sz="1100" dirty="0">
                <a:latin typeface="Times New Roman"/>
                <a:cs typeface="Times New Roman"/>
              </a:rPr>
              <a:t>column)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(0,0)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at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top-</a:t>
            </a:r>
            <a:r>
              <a:rPr sz="1100" dirty="0">
                <a:latin typeface="Times New Roman"/>
                <a:cs typeface="Times New Roman"/>
              </a:rPr>
              <a:t>left.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same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procedure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applies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any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other obstacle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layout.</a:t>
            </a:r>
            <a:endParaRPr sz="1100">
              <a:latin typeface="Times New Roman"/>
              <a:cs typeface="Times New Roman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507614" y="1830577"/>
          <a:ext cx="2623185" cy="193611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73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86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73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73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86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86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44"/>
                        </a:spcBef>
                      </a:pPr>
                      <a:r>
                        <a:rPr sz="900" b="1" spc="-50" dirty="0">
                          <a:latin typeface="Times New Roman"/>
                          <a:cs typeface="Times New Roman"/>
                        </a:rPr>
                        <a:t>S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120014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A9D18E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944"/>
                        </a:spcBef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(0,1)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120014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44"/>
                        </a:spcBef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(0,2)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120014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44"/>
                        </a:spcBef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(0,3)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120014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944"/>
                        </a:spcBef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(0,4)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120014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671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44"/>
                        </a:spcBef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(1,0)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120014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0985" indent="-96520">
                        <a:lnSpc>
                          <a:spcPct val="100000"/>
                        </a:lnSpc>
                        <a:spcBef>
                          <a:spcPts val="944"/>
                        </a:spcBef>
                        <a:buChar char="■"/>
                        <a:tabLst>
                          <a:tab pos="260985" algn="l"/>
                        </a:tabLst>
                      </a:pPr>
                      <a:r>
                        <a:rPr sz="900" spc="-50" dirty="0">
                          <a:latin typeface="Times New Roman"/>
                          <a:cs typeface="Times New Roman"/>
                        </a:rPr>
                        <a:t>X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120014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5858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44"/>
                        </a:spcBef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(1,2)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120014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9079" indent="-96520">
                        <a:lnSpc>
                          <a:spcPct val="100000"/>
                        </a:lnSpc>
                        <a:spcBef>
                          <a:spcPts val="944"/>
                        </a:spcBef>
                        <a:buChar char="■"/>
                        <a:tabLst>
                          <a:tab pos="259079" algn="l"/>
                        </a:tabLst>
                      </a:pPr>
                      <a:r>
                        <a:rPr sz="900" spc="-50" dirty="0">
                          <a:latin typeface="Times New Roman"/>
                          <a:cs typeface="Times New Roman"/>
                        </a:rPr>
                        <a:t>X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120014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585858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944"/>
                        </a:spcBef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(1,4)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120014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671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44"/>
                        </a:spcBef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(2,0)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120014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0985" indent="-96520">
                        <a:lnSpc>
                          <a:spcPct val="100000"/>
                        </a:lnSpc>
                        <a:spcBef>
                          <a:spcPts val="944"/>
                        </a:spcBef>
                        <a:buChar char="■"/>
                        <a:tabLst>
                          <a:tab pos="260985" algn="l"/>
                        </a:tabLst>
                      </a:pPr>
                      <a:r>
                        <a:rPr sz="900" spc="-50" dirty="0">
                          <a:latin typeface="Times New Roman"/>
                          <a:cs typeface="Times New Roman"/>
                        </a:rPr>
                        <a:t>X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120014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5858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44"/>
                        </a:spcBef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(2,2)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120014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44"/>
                        </a:spcBef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(2,3)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120014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944"/>
                        </a:spcBef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(2,4)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120014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73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44"/>
                        </a:spcBef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(3,0)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120014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944"/>
                        </a:spcBef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(3,1)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120014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44"/>
                        </a:spcBef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(3,2)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120014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9079" indent="-96520">
                        <a:lnSpc>
                          <a:spcPct val="100000"/>
                        </a:lnSpc>
                        <a:spcBef>
                          <a:spcPts val="944"/>
                        </a:spcBef>
                        <a:buChar char="■"/>
                        <a:tabLst>
                          <a:tab pos="259079" algn="l"/>
                        </a:tabLst>
                      </a:pPr>
                      <a:r>
                        <a:rPr sz="900" spc="-50" dirty="0">
                          <a:latin typeface="Times New Roman"/>
                          <a:cs typeface="Times New Roman"/>
                        </a:rPr>
                        <a:t>X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120014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585858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944"/>
                        </a:spcBef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(3,4)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120014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671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44"/>
                        </a:spcBef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(4,0)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120014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944"/>
                        </a:spcBef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(4,1)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120014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44"/>
                        </a:spcBef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(4,2)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120014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44"/>
                        </a:spcBef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(4,3)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120014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44"/>
                        </a:spcBef>
                      </a:pPr>
                      <a:r>
                        <a:rPr sz="900" b="1" spc="-50" dirty="0">
                          <a:latin typeface="Times New Roman"/>
                          <a:cs typeface="Times New Roman"/>
                        </a:rPr>
                        <a:t>G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120014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F4B0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706627" y="3909796"/>
            <a:ext cx="6144895" cy="2475230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354965" indent="-170180">
              <a:lnSpc>
                <a:spcPct val="100000"/>
              </a:lnSpc>
              <a:spcBef>
                <a:spcPts val="530"/>
              </a:spcBef>
              <a:buFont typeface="Times New Roman"/>
              <a:buChar char="•"/>
              <a:tabLst>
                <a:tab pos="354965" algn="l"/>
              </a:tabLst>
            </a:pPr>
            <a:r>
              <a:rPr sz="1100" b="1" dirty="0">
                <a:latin typeface="Times New Roman"/>
                <a:cs typeface="Times New Roman"/>
              </a:rPr>
              <a:t>Start</a:t>
            </a:r>
            <a:r>
              <a:rPr sz="1100" b="1" spc="-1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S</a:t>
            </a:r>
            <a:r>
              <a:rPr sz="1100" b="1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=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(0,0);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Goal G</a:t>
            </a:r>
            <a:r>
              <a:rPr sz="1100" b="1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= (4,4);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Obstacles</a:t>
            </a:r>
            <a:r>
              <a:rPr sz="1100" b="1" spc="-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(X)</a:t>
            </a:r>
            <a:r>
              <a:rPr sz="1100" b="1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=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(1,1),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(1,3), (2,1),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(3,3).</a:t>
            </a:r>
            <a:endParaRPr sz="1100">
              <a:latin typeface="Times New Roman"/>
              <a:cs typeface="Times New Roman"/>
            </a:endParaRPr>
          </a:p>
          <a:p>
            <a:pPr marL="355600" marR="5080" indent="-170815">
              <a:lnSpc>
                <a:spcPct val="110900"/>
              </a:lnSpc>
              <a:spcBef>
                <a:spcPts val="290"/>
              </a:spcBef>
              <a:buFont typeface="Times New Roman"/>
              <a:buChar char="•"/>
              <a:tabLst>
                <a:tab pos="355600" algn="l"/>
              </a:tabLst>
            </a:pPr>
            <a:r>
              <a:rPr sz="1100" b="1" dirty="0">
                <a:latin typeface="Times New Roman"/>
                <a:cs typeface="Times New Roman"/>
              </a:rPr>
              <a:t>Actions:</a:t>
            </a:r>
            <a:r>
              <a:rPr sz="1100" b="1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Up,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Down,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Left,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Right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(expanded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this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order). </a:t>
            </a:r>
            <a:r>
              <a:rPr sz="1100" b="1" dirty="0">
                <a:latin typeface="Times New Roman"/>
                <a:cs typeface="Times New Roman"/>
              </a:rPr>
              <a:t>Step</a:t>
            </a:r>
            <a:r>
              <a:rPr sz="1100" b="1" spc="-2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cost</a:t>
            </a:r>
            <a:r>
              <a:rPr sz="1100" b="1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=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1.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Obstacles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cells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outside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the </a:t>
            </a:r>
            <a:r>
              <a:rPr sz="1100" dirty="0">
                <a:latin typeface="Times New Roman"/>
                <a:cs typeface="Times New Roman"/>
              </a:rPr>
              <a:t>grid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cannot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entered.</a:t>
            </a:r>
            <a:endParaRPr sz="1100">
              <a:latin typeface="Times New Roman"/>
              <a:cs typeface="Times New Roman"/>
            </a:endParaRPr>
          </a:p>
          <a:p>
            <a:pPr marL="355600" marR="141605" indent="-170815">
              <a:lnSpc>
                <a:spcPct val="110000"/>
              </a:lnSpc>
              <a:spcBef>
                <a:spcPts val="300"/>
              </a:spcBef>
              <a:buFont typeface="Times New Roman"/>
              <a:buChar char="•"/>
              <a:tabLst>
                <a:tab pos="355600" algn="l"/>
              </a:tabLst>
            </a:pPr>
            <a:r>
              <a:rPr sz="1100" b="1" dirty="0">
                <a:latin typeface="Times New Roman"/>
                <a:cs typeface="Times New Roman"/>
              </a:rPr>
              <a:t>Heuristic:</a:t>
            </a:r>
            <a:r>
              <a:rPr sz="1100" b="1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Manhattan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distance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h(n)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=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|r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−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4|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+ |c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−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4|. It is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admissible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consistent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4-</a:t>
            </a:r>
            <a:r>
              <a:rPr sz="1100" spc="-10" dirty="0">
                <a:latin typeface="Times New Roman"/>
                <a:cs typeface="Times New Roman"/>
              </a:rPr>
              <a:t>directional </a:t>
            </a:r>
            <a:r>
              <a:rPr sz="1100" dirty="0">
                <a:latin typeface="Times New Roman"/>
                <a:cs typeface="Times New Roman"/>
              </a:rPr>
              <a:t>moves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unit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cost,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so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h(S)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=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8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lower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bound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optimal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cost.</a:t>
            </a:r>
            <a:endParaRPr sz="1100">
              <a:latin typeface="Times New Roman"/>
              <a:cs typeface="Times New Roman"/>
            </a:endParaRPr>
          </a:p>
          <a:p>
            <a:pPr marL="354965" indent="-170180">
              <a:lnSpc>
                <a:spcPct val="100000"/>
              </a:lnSpc>
              <a:spcBef>
                <a:spcPts val="430"/>
              </a:spcBef>
              <a:buFont typeface="Times New Roman"/>
              <a:buChar char="•"/>
              <a:tabLst>
                <a:tab pos="354965" algn="l"/>
              </a:tabLst>
            </a:pPr>
            <a:r>
              <a:rPr sz="1100" b="1" dirty="0">
                <a:latin typeface="Times New Roman"/>
                <a:cs typeface="Times New Roman"/>
              </a:rPr>
              <a:t>State</a:t>
            </a:r>
            <a:r>
              <a:rPr sz="1100" b="1" spc="-1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space:</a:t>
            </a:r>
            <a:r>
              <a:rPr sz="1100" b="1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25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− 4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=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21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free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cells;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goal test: n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=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(4,4).</a:t>
            </a:r>
            <a:endParaRPr sz="1100">
              <a:latin typeface="Times New Roman"/>
              <a:cs typeface="Times New Roman"/>
            </a:endParaRPr>
          </a:p>
          <a:p>
            <a:pPr marL="12700" marR="17145">
              <a:lnSpc>
                <a:spcPct val="110500"/>
              </a:lnSpc>
              <a:spcBef>
                <a:spcPts val="295"/>
              </a:spcBef>
            </a:pPr>
            <a:r>
              <a:rPr sz="1100" b="1" dirty="0">
                <a:latin typeface="Times New Roman"/>
                <a:cs typeface="Times New Roman"/>
              </a:rPr>
              <a:t>Note</a:t>
            </a:r>
            <a:r>
              <a:rPr sz="1100" b="1" spc="-1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on</a:t>
            </a:r>
            <a:r>
              <a:rPr sz="1100" b="1" spc="-2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the</a:t>
            </a:r>
            <a:r>
              <a:rPr sz="1100" b="1" spc="-1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question:</a:t>
            </a:r>
            <a:r>
              <a:rPr sz="1100" b="1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plain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BFS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uses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FIFO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queue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does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not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heuristic;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priority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queue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the </a:t>
            </a:r>
            <a:r>
              <a:rPr sz="1100" dirty="0">
                <a:latin typeface="Times New Roman"/>
                <a:cs typeface="Times New Roman"/>
              </a:rPr>
              <a:t>Manhattan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heuristic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belongs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Greedy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/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A*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search.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Both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are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therefore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shown: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2.2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BFS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(FIFO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queue)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2.3 </a:t>
            </a:r>
            <a:r>
              <a:rPr sz="1100" dirty="0">
                <a:latin typeface="Times New Roman"/>
                <a:cs typeface="Times New Roman"/>
              </a:rPr>
              <a:t>A*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(priority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queue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ordered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by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=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+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h).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50" b="1" dirty="0">
                <a:latin typeface="Times New Roman"/>
                <a:cs typeface="Times New Roman"/>
              </a:rPr>
              <a:t>2.2</a:t>
            </a:r>
            <a:r>
              <a:rPr sz="1250" b="1" spc="-20" dirty="0">
                <a:latin typeface="Times New Roman"/>
                <a:cs typeface="Times New Roman"/>
              </a:rPr>
              <a:t> </a:t>
            </a:r>
            <a:r>
              <a:rPr sz="1250" b="1" dirty="0">
                <a:latin typeface="Times New Roman"/>
                <a:cs typeface="Times New Roman"/>
              </a:rPr>
              <a:t>BFS</a:t>
            </a:r>
            <a:r>
              <a:rPr sz="1250" b="1" spc="-5" dirty="0">
                <a:latin typeface="Times New Roman"/>
                <a:cs typeface="Times New Roman"/>
              </a:rPr>
              <a:t> </a:t>
            </a:r>
            <a:r>
              <a:rPr sz="1250" b="1" dirty="0">
                <a:latin typeface="Times New Roman"/>
                <a:cs typeface="Times New Roman"/>
              </a:rPr>
              <a:t>–</a:t>
            </a:r>
            <a:r>
              <a:rPr sz="1250" b="1" spc="-15" dirty="0">
                <a:latin typeface="Times New Roman"/>
                <a:cs typeface="Times New Roman"/>
              </a:rPr>
              <a:t> </a:t>
            </a:r>
            <a:r>
              <a:rPr sz="1250" b="1" spc="-10" dirty="0">
                <a:latin typeface="Times New Roman"/>
                <a:cs typeface="Times New Roman"/>
              </a:rPr>
              <a:t>step-by-</a:t>
            </a:r>
            <a:r>
              <a:rPr sz="1250" b="1" dirty="0">
                <a:latin typeface="Times New Roman"/>
                <a:cs typeface="Times New Roman"/>
              </a:rPr>
              <a:t>step</a:t>
            </a:r>
            <a:r>
              <a:rPr sz="1250" b="1" spc="-25" dirty="0">
                <a:latin typeface="Times New Roman"/>
                <a:cs typeface="Times New Roman"/>
              </a:rPr>
              <a:t> </a:t>
            </a:r>
            <a:r>
              <a:rPr sz="1250" b="1" dirty="0">
                <a:latin typeface="Times New Roman"/>
                <a:cs typeface="Times New Roman"/>
              </a:rPr>
              <a:t>node</a:t>
            </a:r>
            <a:r>
              <a:rPr sz="1250" b="1" spc="-15" dirty="0">
                <a:latin typeface="Times New Roman"/>
                <a:cs typeface="Times New Roman"/>
              </a:rPr>
              <a:t> </a:t>
            </a:r>
            <a:r>
              <a:rPr sz="1250" b="1" spc="-10" dirty="0">
                <a:latin typeface="Times New Roman"/>
                <a:cs typeface="Times New Roman"/>
              </a:rPr>
              <a:t>expansion</a:t>
            </a:r>
            <a:r>
              <a:rPr sz="1250" b="1" spc="-20" dirty="0">
                <a:latin typeface="Times New Roman"/>
                <a:cs typeface="Times New Roman"/>
              </a:rPr>
              <a:t> </a:t>
            </a:r>
            <a:r>
              <a:rPr sz="1250" b="1" dirty="0">
                <a:latin typeface="Times New Roman"/>
                <a:cs typeface="Times New Roman"/>
              </a:rPr>
              <a:t>(FIFO</a:t>
            </a:r>
            <a:r>
              <a:rPr sz="1250" b="1" spc="-25" dirty="0">
                <a:latin typeface="Times New Roman"/>
                <a:cs typeface="Times New Roman"/>
              </a:rPr>
              <a:t> </a:t>
            </a:r>
            <a:r>
              <a:rPr sz="1250" b="1" spc="-10" dirty="0">
                <a:latin typeface="Times New Roman"/>
                <a:cs typeface="Times New Roman"/>
              </a:rPr>
              <a:t>queue)</a:t>
            </a:r>
            <a:endParaRPr sz="12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60"/>
              </a:spcBef>
            </a:pP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node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marked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visited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when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it is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generated, so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every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cell enters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queue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only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once. Format: cell </a:t>
            </a:r>
            <a:r>
              <a:rPr sz="1100" spc="-10" dirty="0">
                <a:latin typeface="Times New Roman"/>
                <a:cs typeface="Times New Roman"/>
              </a:rPr>
              <a:t>[depth].</a:t>
            </a:r>
            <a:endParaRPr sz="1100">
              <a:latin typeface="Times New Roman"/>
              <a:cs typeface="Times New Roman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719327" y="6461124"/>
          <a:ext cx="6203950" cy="33153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08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88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609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501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0345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950" b="1" spc="-50" dirty="0">
                          <a:latin typeface="Times New Roman"/>
                          <a:cs typeface="Times New Roman"/>
                        </a:rPr>
                        <a:t>#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1F3863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950" b="1" dirty="0">
                          <a:latin typeface="Times New Roman"/>
                          <a:cs typeface="Times New Roman"/>
                        </a:rPr>
                        <a:t>Node</a:t>
                      </a:r>
                      <a:r>
                        <a:rPr sz="95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b="1" spc="-10" dirty="0">
                          <a:latin typeface="Times New Roman"/>
                          <a:cs typeface="Times New Roman"/>
                        </a:rPr>
                        <a:t>expanded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1F3863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950" b="1" spc="-10" dirty="0">
                          <a:latin typeface="Times New Roman"/>
                          <a:cs typeface="Times New Roman"/>
                        </a:rPr>
                        <a:t>Children</a:t>
                      </a:r>
                      <a:r>
                        <a:rPr sz="950" b="1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b="1" spc="-10" dirty="0">
                          <a:latin typeface="Times New Roman"/>
                          <a:cs typeface="Times New Roman"/>
                        </a:rPr>
                        <a:t>generated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1F3863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950" b="1" dirty="0">
                          <a:latin typeface="Times New Roman"/>
                          <a:cs typeface="Times New Roman"/>
                        </a:rPr>
                        <a:t>Queue</a:t>
                      </a:r>
                      <a:r>
                        <a:rPr sz="95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b="1" dirty="0">
                          <a:latin typeface="Times New Roman"/>
                          <a:cs typeface="Times New Roman"/>
                        </a:rPr>
                        <a:t>after</a:t>
                      </a:r>
                      <a:r>
                        <a:rPr sz="95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b="1" dirty="0">
                          <a:latin typeface="Times New Roman"/>
                          <a:cs typeface="Times New Roman"/>
                        </a:rPr>
                        <a:t>step</a:t>
                      </a:r>
                      <a:r>
                        <a:rPr sz="95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b="1" dirty="0">
                          <a:latin typeface="Times New Roman"/>
                          <a:cs typeface="Times New Roman"/>
                        </a:rPr>
                        <a:t>(front</a:t>
                      </a:r>
                      <a:r>
                        <a:rPr sz="95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b="1" dirty="0">
                          <a:latin typeface="Times New Roman"/>
                          <a:cs typeface="Times New Roman"/>
                        </a:rPr>
                        <a:t>→</a:t>
                      </a:r>
                      <a:r>
                        <a:rPr sz="95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b="1" spc="-10" dirty="0">
                          <a:latin typeface="Times New Roman"/>
                          <a:cs typeface="Times New Roman"/>
                        </a:rPr>
                        <a:t>back)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1F38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0979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95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950" dirty="0">
                          <a:latin typeface="Times New Roman"/>
                          <a:cs typeface="Times New Roman"/>
                        </a:rPr>
                        <a:t>(0,0)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25" dirty="0">
                          <a:latin typeface="Times New Roman"/>
                          <a:cs typeface="Times New Roman"/>
                        </a:rPr>
                        <a:t>[0]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950" dirty="0">
                          <a:latin typeface="Times New Roman"/>
                          <a:cs typeface="Times New Roman"/>
                        </a:rPr>
                        <a:t>(1,0),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10" dirty="0">
                          <a:latin typeface="Times New Roman"/>
                          <a:cs typeface="Times New Roman"/>
                        </a:rPr>
                        <a:t>(0,1)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950" dirty="0">
                          <a:latin typeface="Times New Roman"/>
                          <a:cs typeface="Times New Roman"/>
                        </a:rPr>
                        <a:t>(1,0),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10" dirty="0">
                          <a:latin typeface="Times New Roman"/>
                          <a:cs typeface="Times New Roman"/>
                        </a:rPr>
                        <a:t>(0,1)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0345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95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950" dirty="0">
                          <a:latin typeface="Times New Roman"/>
                          <a:cs typeface="Times New Roman"/>
                        </a:rPr>
                        <a:t>(1,0)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25" dirty="0">
                          <a:latin typeface="Times New Roman"/>
                          <a:cs typeface="Times New Roman"/>
                        </a:rPr>
                        <a:t>[1]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950" dirty="0">
                          <a:latin typeface="Times New Roman"/>
                          <a:cs typeface="Times New Roman"/>
                        </a:rPr>
                        <a:t>(2,0)</a:t>
                      </a:r>
                      <a:r>
                        <a:rPr sz="950" spc="2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—</a:t>
                      </a:r>
                      <a:r>
                        <a:rPr sz="95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(1,1)</a:t>
                      </a:r>
                      <a:r>
                        <a:rPr sz="95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an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10" dirty="0">
                          <a:latin typeface="Times New Roman"/>
                          <a:cs typeface="Times New Roman"/>
                        </a:rPr>
                        <a:t>obstacle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950" dirty="0">
                          <a:latin typeface="Times New Roman"/>
                          <a:cs typeface="Times New Roman"/>
                        </a:rPr>
                        <a:t>(0,1),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10" dirty="0">
                          <a:latin typeface="Times New Roman"/>
                          <a:cs typeface="Times New Roman"/>
                        </a:rPr>
                        <a:t>(2,0)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2250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950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950" dirty="0">
                          <a:latin typeface="Times New Roman"/>
                          <a:cs typeface="Times New Roman"/>
                        </a:rPr>
                        <a:t>(0,1)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25" dirty="0">
                          <a:latin typeface="Times New Roman"/>
                          <a:cs typeface="Times New Roman"/>
                        </a:rPr>
                        <a:t>[1]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950" dirty="0">
                          <a:latin typeface="Times New Roman"/>
                          <a:cs typeface="Times New Roman"/>
                        </a:rPr>
                        <a:t>(0,2)</a:t>
                      </a:r>
                      <a:r>
                        <a:rPr sz="950" spc="2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—</a:t>
                      </a:r>
                      <a:r>
                        <a:rPr sz="95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(1,1)</a:t>
                      </a:r>
                      <a:r>
                        <a:rPr sz="9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10" dirty="0">
                          <a:latin typeface="Times New Roman"/>
                          <a:cs typeface="Times New Roman"/>
                        </a:rPr>
                        <a:t>obstacle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950" dirty="0">
                          <a:latin typeface="Times New Roman"/>
                          <a:cs typeface="Times New Roman"/>
                        </a:rPr>
                        <a:t>(2,0),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10" dirty="0">
                          <a:latin typeface="Times New Roman"/>
                          <a:cs typeface="Times New Roman"/>
                        </a:rPr>
                        <a:t>(0,2)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0979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950" spc="-50" dirty="0">
                          <a:latin typeface="Times New Roman"/>
                          <a:cs typeface="Times New Roman"/>
                        </a:rPr>
                        <a:t>4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950" dirty="0">
                          <a:latin typeface="Times New Roman"/>
                          <a:cs typeface="Times New Roman"/>
                        </a:rPr>
                        <a:t>(2,0)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25" dirty="0">
                          <a:latin typeface="Times New Roman"/>
                          <a:cs typeface="Times New Roman"/>
                        </a:rPr>
                        <a:t>[2]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950" dirty="0">
                          <a:latin typeface="Times New Roman"/>
                          <a:cs typeface="Times New Roman"/>
                        </a:rPr>
                        <a:t>(3,0)</a:t>
                      </a:r>
                      <a:r>
                        <a:rPr sz="950" spc="2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—</a:t>
                      </a:r>
                      <a:r>
                        <a:rPr sz="95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(2,1)</a:t>
                      </a:r>
                      <a:r>
                        <a:rPr sz="9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10" dirty="0">
                          <a:latin typeface="Times New Roman"/>
                          <a:cs typeface="Times New Roman"/>
                        </a:rPr>
                        <a:t>obstacle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950" dirty="0">
                          <a:latin typeface="Times New Roman"/>
                          <a:cs typeface="Times New Roman"/>
                        </a:rPr>
                        <a:t>(0,2),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10" dirty="0">
                          <a:latin typeface="Times New Roman"/>
                          <a:cs typeface="Times New Roman"/>
                        </a:rPr>
                        <a:t>(3,0)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0979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950" spc="-50" dirty="0">
                          <a:latin typeface="Times New Roman"/>
                          <a:cs typeface="Times New Roman"/>
                        </a:rPr>
                        <a:t>5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950" dirty="0">
                          <a:latin typeface="Times New Roman"/>
                          <a:cs typeface="Times New Roman"/>
                        </a:rPr>
                        <a:t>(0,2)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25" dirty="0">
                          <a:latin typeface="Times New Roman"/>
                          <a:cs typeface="Times New Roman"/>
                        </a:rPr>
                        <a:t>[2]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950" dirty="0">
                          <a:latin typeface="Times New Roman"/>
                          <a:cs typeface="Times New Roman"/>
                        </a:rPr>
                        <a:t>(1,2),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10" dirty="0">
                          <a:latin typeface="Times New Roman"/>
                          <a:cs typeface="Times New Roman"/>
                        </a:rPr>
                        <a:t>(0,3)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950" dirty="0">
                          <a:latin typeface="Times New Roman"/>
                          <a:cs typeface="Times New Roman"/>
                        </a:rPr>
                        <a:t>(3,0),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(1,2),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10" dirty="0">
                          <a:latin typeface="Times New Roman"/>
                          <a:cs typeface="Times New Roman"/>
                        </a:rPr>
                        <a:t>(0,3)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0979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950" spc="-50" dirty="0">
                          <a:latin typeface="Times New Roman"/>
                          <a:cs typeface="Times New Roman"/>
                        </a:rPr>
                        <a:t>6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950" dirty="0">
                          <a:latin typeface="Times New Roman"/>
                          <a:cs typeface="Times New Roman"/>
                        </a:rPr>
                        <a:t>(3,0)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25" dirty="0">
                          <a:latin typeface="Times New Roman"/>
                          <a:cs typeface="Times New Roman"/>
                        </a:rPr>
                        <a:t>[3]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950" dirty="0">
                          <a:latin typeface="Times New Roman"/>
                          <a:cs typeface="Times New Roman"/>
                        </a:rPr>
                        <a:t>(4,0),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10" dirty="0">
                          <a:latin typeface="Times New Roman"/>
                          <a:cs typeface="Times New Roman"/>
                        </a:rPr>
                        <a:t>(3,1)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950" dirty="0">
                          <a:latin typeface="Times New Roman"/>
                          <a:cs typeface="Times New Roman"/>
                        </a:rPr>
                        <a:t>(1,2),</a:t>
                      </a:r>
                      <a:r>
                        <a:rPr sz="9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(0,3),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(4,0),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(3,1)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0979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950" spc="-50" dirty="0">
                          <a:latin typeface="Times New Roman"/>
                          <a:cs typeface="Times New Roman"/>
                        </a:rPr>
                        <a:t>7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950" dirty="0">
                          <a:latin typeface="Times New Roman"/>
                          <a:cs typeface="Times New Roman"/>
                        </a:rPr>
                        <a:t>(1,2)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25" dirty="0">
                          <a:latin typeface="Times New Roman"/>
                          <a:cs typeface="Times New Roman"/>
                        </a:rPr>
                        <a:t>[3]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950" dirty="0">
                          <a:latin typeface="Times New Roman"/>
                          <a:cs typeface="Times New Roman"/>
                        </a:rPr>
                        <a:t>(2,2)</a:t>
                      </a:r>
                      <a:r>
                        <a:rPr sz="950" spc="2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—</a:t>
                      </a:r>
                      <a:r>
                        <a:rPr sz="95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(1,1),</a:t>
                      </a:r>
                      <a:r>
                        <a:rPr sz="9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(1,3)</a:t>
                      </a:r>
                      <a:r>
                        <a:rPr sz="9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10" dirty="0">
                          <a:latin typeface="Times New Roman"/>
                          <a:cs typeface="Times New Roman"/>
                        </a:rPr>
                        <a:t>obstacles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950" dirty="0">
                          <a:latin typeface="Times New Roman"/>
                          <a:cs typeface="Times New Roman"/>
                        </a:rPr>
                        <a:t>(0,3),</a:t>
                      </a:r>
                      <a:r>
                        <a:rPr sz="9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(4,0),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(3,1),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(2,2)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2250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950" spc="-50" dirty="0">
                          <a:latin typeface="Times New Roman"/>
                          <a:cs typeface="Times New Roman"/>
                        </a:rPr>
                        <a:t>8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950" dirty="0">
                          <a:latin typeface="Times New Roman"/>
                          <a:cs typeface="Times New Roman"/>
                        </a:rPr>
                        <a:t>(0,3)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25" dirty="0">
                          <a:latin typeface="Times New Roman"/>
                          <a:cs typeface="Times New Roman"/>
                        </a:rPr>
                        <a:t>[3]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950" dirty="0">
                          <a:latin typeface="Times New Roman"/>
                          <a:cs typeface="Times New Roman"/>
                        </a:rPr>
                        <a:t>(0,4)</a:t>
                      </a:r>
                      <a:r>
                        <a:rPr sz="950" spc="2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—</a:t>
                      </a:r>
                      <a:r>
                        <a:rPr sz="95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(1,3)</a:t>
                      </a:r>
                      <a:r>
                        <a:rPr sz="9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10" dirty="0">
                          <a:latin typeface="Times New Roman"/>
                          <a:cs typeface="Times New Roman"/>
                        </a:rPr>
                        <a:t>obstacle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950" dirty="0">
                          <a:latin typeface="Times New Roman"/>
                          <a:cs typeface="Times New Roman"/>
                        </a:rPr>
                        <a:t>(4,0),</a:t>
                      </a:r>
                      <a:r>
                        <a:rPr sz="9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(3,1),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(2,2),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(0,4)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0345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950" spc="-50" dirty="0">
                          <a:latin typeface="Times New Roman"/>
                          <a:cs typeface="Times New Roman"/>
                        </a:rPr>
                        <a:t>9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950" dirty="0">
                          <a:latin typeface="Times New Roman"/>
                          <a:cs typeface="Times New Roman"/>
                        </a:rPr>
                        <a:t>(4,0)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25" dirty="0">
                          <a:latin typeface="Times New Roman"/>
                          <a:cs typeface="Times New Roman"/>
                        </a:rPr>
                        <a:t>[4]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950" spc="-10" dirty="0">
                          <a:latin typeface="Times New Roman"/>
                          <a:cs typeface="Times New Roman"/>
                        </a:rPr>
                        <a:t>(4,1)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950" dirty="0">
                          <a:latin typeface="Times New Roman"/>
                          <a:cs typeface="Times New Roman"/>
                        </a:rPr>
                        <a:t>(3,1),</a:t>
                      </a:r>
                      <a:r>
                        <a:rPr sz="9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(2,2),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(0,4),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(4,1)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0979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950" spc="-25" dirty="0">
                          <a:latin typeface="Times New Roman"/>
                          <a:cs typeface="Times New Roman"/>
                        </a:rPr>
                        <a:t>10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950" dirty="0">
                          <a:latin typeface="Times New Roman"/>
                          <a:cs typeface="Times New Roman"/>
                        </a:rPr>
                        <a:t>(3,1)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25" dirty="0">
                          <a:latin typeface="Times New Roman"/>
                          <a:cs typeface="Times New Roman"/>
                        </a:rPr>
                        <a:t>[4]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950" dirty="0">
                          <a:latin typeface="Times New Roman"/>
                          <a:cs typeface="Times New Roman"/>
                        </a:rPr>
                        <a:t>(3,2)</a:t>
                      </a:r>
                      <a:r>
                        <a:rPr sz="950" spc="204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—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(2,1)</a:t>
                      </a:r>
                      <a:r>
                        <a:rPr sz="95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obstacle;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(4,1)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already</a:t>
                      </a:r>
                      <a:r>
                        <a:rPr sz="9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10" dirty="0">
                          <a:latin typeface="Times New Roman"/>
                          <a:cs typeface="Times New Roman"/>
                        </a:rPr>
                        <a:t>visited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950" dirty="0">
                          <a:latin typeface="Times New Roman"/>
                          <a:cs typeface="Times New Roman"/>
                        </a:rPr>
                        <a:t>(2,2),</a:t>
                      </a:r>
                      <a:r>
                        <a:rPr sz="9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(0,4),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(4,1),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(3,2)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0345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950" spc="-25" dirty="0">
                          <a:latin typeface="Times New Roman"/>
                          <a:cs typeface="Times New Roman"/>
                        </a:rPr>
                        <a:t>11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950" dirty="0">
                          <a:latin typeface="Times New Roman"/>
                          <a:cs typeface="Times New Roman"/>
                        </a:rPr>
                        <a:t>(2,2)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25" dirty="0">
                          <a:latin typeface="Times New Roman"/>
                          <a:cs typeface="Times New Roman"/>
                        </a:rPr>
                        <a:t>[4]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950" dirty="0">
                          <a:latin typeface="Times New Roman"/>
                          <a:cs typeface="Times New Roman"/>
                        </a:rPr>
                        <a:t>(2,3)</a:t>
                      </a:r>
                      <a:r>
                        <a:rPr sz="950" spc="2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—</a:t>
                      </a:r>
                      <a:r>
                        <a:rPr sz="95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(3,2)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already</a:t>
                      </a:r>
                      <a:r>
                        <a:rPr sz="9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10" dirty="0">
                          <a:latin typeface="Times New Roman"/>
                          <a:cs typeface="Times New Roman"/>
                        </a:rPr>
                        <a:t>visited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950" dirty="0">
                          <a:latin typeface="Times New Roman"/>
                          <a:cs typeface="Times New Roman"/>
                        </a:rPr>
                        <a:t>(0,4),</a:t>
                      </a:r>
                      <a:r>
                        <a:rPr sz="9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(4,1),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(3,2),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(2,3)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0979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950" spc="-25" dirty="0">
                          <a:latin typeface="Times New Roman"/>
                          <a:cs typeface="Times New Roman"/>
                        </a:rPr>
                        <a:t>12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950" dirty="0">
                          <a:latin typeface="Times New Roman"/>
                          <a:cs typeface="Times New Roman"/>
                        </a:rPr>
                        <a:t>(0,4)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25" dirty="0">
                          <a:latin typeface="Times New Roman"/>
                          <a:cs typeface="Times New Roman"/>
                        </a:rPr>
                        <a:t>[4]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950" spc="-10" dirty="0">
                          <a:latin typeface="Times New Roman"/>
                          <a:cs typeface="Times New Roman"/>
                        </a:rPr>
                        <a:t>(1,4)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950" dirty="0">
                          <a:latin typeface="Times New Roman"/>
                          <a:cs typeface="Times New Roman"/>
                        </a:rPr>
                        <a:t>(4,1),</a:t>
                      </a:r>
                      <a:r>
                        <a:rPr sz="9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(3,2),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(2,3),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(1,4)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2250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950" spc="-25" dirty="0">
                          <a:latin typeface="Times New Roman"/>
                          <a:cs typeface="Times New Roman"/>
                        </a:rPr>
                        <a:t>13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950" dirty="0">
                          <a:latin typeface="Times New Roman"/>
                          <a:cs typeface="Times New Roman"/>
                        </a:rPr>
                        <a:t>(4,1)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25" dirty="0">
                          <a:latin typeface="Times New Roman"/>
                          <a:cs typeface="Times New Roman"/>
                        </a:rPr>
                        <a:t>[5]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950" spc="-10" dirty="0">
                          <a:latin typeface="Times New Roman"/>
                          <a:cs typeface="Times New Roman"/>
                        </a:rPr>
                        <a:t>(4,2)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950" dirty="0">
                          <a:latin typeface="Times New Roman"/>
                          <a:cs typeface="Times New Roman"/>
                        </a:rPr>
                        <a:t>(3,2),</a:t>
                      </a:r>
                      <a:r>
                        <a:rPr sz="9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(2,3),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(1,4),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(4,2)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0345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950" spc="-25" dirty="0">
                          <a:latin typeface="Times New Roman"/>
                          <a:cs typeface="Times New Roman"/>
                        </a:rPr>
                        <a:t>14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950" dirty="0">
                          <a:latin typeface="Times New Roman"/>
                          <a:cs typeface="Times New Roman"/>
                        </a:rPr>
                        <a:t>(3,2)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25" dirty="0">
                          <a:latin typeface="Times New Roman"/>
                          <a:cs typeface="Times New Roman"/>
                        </a:rPr>
                        <a:t>[5]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950" dirty="0">
                          <a:latin typeface="Times New Roman"/>
                          <a:cs typeface="Times New Roman"/>
                        </a:rPr>
                        <a:t>none</a:t>
                      </a:r>
                      <a:r>
                        <a:rPr sz="9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new</a:t>
                      </a:r>
                      <a:r>
                        <a:rPr sz="9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—</a:t>
                      </a:r>
                      <a:r>
                        <a:rPr sz="9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(3,3)</a:t>
                      </a:r>
                      <a:r>
                        <a:rPr sz="9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10" dirty="0">
                          <a:latin typeface="Times New Roman"/>
                          <a:cs typeface="Times New Roman"/>
                        </a:rPr>
                        <a:t>obstacle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950" dirty="0">
                          <a:latin typeface="Times New Roman"/>
                          <a:cs typeface="Times New Roman"/>
                        </a:rPr>
                        <a:t>(2,3),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(1,4),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10" dirty="0">
                          <a:latin typeface="Times New Roman"/>
                          <a:cs typeface="Times New Roman"/>
                        </a:rPr>
                        <a:t>(4,2)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719327" y="719327"/>
          <a:ext cx="6203950" cy="13271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08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88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609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501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2250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950" b="1" spc="-50" dirty="0">
                          <a:latin typeface="Times New Roman"/>
                          <a:cs typeface="Times New Roman"/>
                        </a:rPr>
                        <a:t>#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1F3863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950" b="1" dirty="0">
                          <a:latin typeface="Times New Roman"/>
                          <a:cs typeface="Times New Roman"/>
                        </a:rPr>
                        <a:t>Node</a:t>
                      </a:r>
                      <a:r>
                        <a:rPr sz="95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b="1" spc="-10" dirty="0">
                          <a:latin typeface="Times New Roman"/>
                          <a:cs typeface="Times New Roman"/>
                        </a:rPr>
                        <a:t>expanded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1F3863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950" b="1" spc="-10" dirty="0">
                          <a:latin typeface="Times New Roman"/>
                          <a:cs typeface="Times New Roman"/>
                        </a:rPr>
                        <a:t>Children</a:t>
                      </a:r>
                      <a:r>
                        <a:rPr sz="950" b="1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b="1" spc="-10" dirty="0">
                          <a:latin typeface="Times New Roman"/>
                          <a:cs typeface="Times New Roman"/>
                        </a:rPr>
                        <a:t>generated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1F3863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950" b="1" dirty="0">
                          <a:latin typeface="Times New Roman"/>
                          <a:cs typeface="Times New Roman"/>
                        </a:rPr>
                        <a:t>Queue</a:t>
                      </a:r>
                      <a:r>
                        <a:rPr sz="95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b="1" dirty="0">
                          <a:latin typeface="Times New Roman"/>
                          <a:cs typeface="Times New Roman"/>
                        </a:rPr>
                        <a:t>after</a:t>
                      </a:r>
                      <a:r>
                        <a:rPr sz="95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b="1" dirty="0">
                          <a:latin typeface="Times New Roman"/>
                          <a:cs typeface="Times New Roman"/>
                        </a:rPr>
                        <a:t>step</a:t>
                      </a:r>
                      <a:r>
                        <a:rPr sz="95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b="1" dirty="0">
                          <a:latin typeface="Times New Roman"/>
                          <a:cs typeface="Times New Roman"/>
                        </a:rPr>
                        <a:t>(front</a:t>
                      </a:r>
                      <a:r>
                        <a:rPr sz="95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b="1" dirty="0">
                          <a:latin typeface="Times New Roman"/>
                          <a:cs typeface="Times New Roman"/>
                        </a:rPr>
                        <a:t>→</a:t>
                      </a:r>
                      <a:r>
                        <a:rPr sz="95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b="1" spc="-10" dirty="0">
                          <a:latin typeface="Times New Roman"/>
                          <a:cs typeface="Times New Roman"/>
                        </a:rPr>
                        <a:t>back)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1F38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0979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950" spc="-25" dirty="0">
                          <a:latin typeface="Times New Roman"/>
                          <a:cs typeface="Times New Roman"/>
                        </a:rPr>
                        <a:t>15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950" dirty="0">
                          <a:latin typeface="Times New Roman"/>
                          <a:cs typeface="Times New Roman"/>
                        </a:rPr>
                        <a:t>(2,3)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25" dirty="0">
                          <a:latin typeface="Times New Roman"/>
                          <a:cs typeface="Times New Roman"/>
                        </a:rPr>
                        <a:t>[5]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950" dirty="0">
                          <a:latin typeface="Times New Roman"/>
                          <a:cs typeface="Times New Roman"/>
                        </a:rPr>
                        <a:t>(2,4)</a:t>
                      </a:r>
                      <a:r>
                        <a:rPr sz="950" spc="2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—</a:t>
                      </a:r>
                      <a:r>
                        <a:rPr sz="95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(1,3),</a:t>
                      </a:r>
                      <a:r>
                        <a:rPr sz="9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(3,3)</a:t>
                      </a:r>
                      <a:r>
                        <a:rPr sz="9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10" dirty="0">
                          <a:latin typeface="Times New Roman"/>
                          <a:cs typeface="Times New Roman"/>
                        </a:rPr>
                        <a:t>obstacles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950" dirty="0">
                          <a:latin typeface="Times New Roman"/>
                          <a:cs typeface="Times New Roman"/>
                        </a:rPr>
                        <a:t>(1,4),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(4,2),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10" dirty="0">
                          <a:latin typeface="Times New Roman"/>
                          <a:cs typeface="Times New Roman"/>
                        </a:rPr>
                        <a:t>(2,4)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0345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950" spc="-25" dirty="0">
                          <a:latin typeface="Times New Roman"/>
                          <a:cs typeface="Times New Roman"/>
                        </a:rPr>
                        <a:t>16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950" dirty="0">
                          <a:latin typeface="Times New Roman"/>
                          <a:cs typeface="Times New Roman"/>
                        </a:rPr>
                        <a:t>(1,4)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25" dirty="0">
                          <a:latin typeface="Times New Roman"/>
                          <a:cs typeface="Times New Roman"/>
                        </a:rPr>
                        <a:t>[5]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950" dirty="0">
                          <a:latin typeface="Times New Roman"/>
                          <a:cs typeface="Times New Roman"/>
                        </a:rPr>
                        <a:t>none</a:t>
                      </a:r>
                      <a:r>
                        <a:rPr sz="95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new</a:t>
                      </a:r>
                      <a:r>
                        <a:rPr sz="9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—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(2,4)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already</a:t>
                      </a:r>
                      <a:r>
                        <a:rPr sz="9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10" dirty="0">
                          <a:latin typeface="Times New Roman"/>
                          <a:cs typeface="Times New Roman"/>
                        </a:rPr>
                        <a:t>visited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950" dirty="0">
                          <a:latin typeface="Times New Roman"/>
                          <a:cs typeface="Times New Roman"/>
                        </a:rPr>
                        <a:t>(4,2),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10" dirty="0">
                          <a:latin typeface="Times New Roman"/>
                          <a:cs typeface="Times New Roman"/>
                        </a:rPr>
                        <a:t>(2,4)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0979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950" spc="-25" dirty="0">
                          <a:latin typeface="Times New Roman"/>
                          <a:cs typeface="Times New Roman"/>
                        </a:rPr>
                        <a:t>17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950" dirty="0">
                          <a:latin typeface="Times New Roman"/>
                          <a:cs typeface="Times New Roman"/>
                        </a:rPr>
                        <a:t>(4,2)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25" dirty="0">
                          <a:latin typeface="Times New Roman"/>
                          <a:cs typeface="Times New Roman"/>
                        </a:rPr>
                        <a:t>[6]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950" spc="-10" dirty="0">
                          <a:latin typeface="Times New Roman"/>
                          <a:cs typeface="Times New Roman"/>
                        </a:rPr>
                        <a:t>(4,3)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950" dirty="0">
                          <a:latin typeface="Times New Roman"/>
                          <a:cs typeface="Times New Roman"/>
                        </a:rPr>
                        <a:t>(2,4),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10" dirty="0">
                          <a:latin typeface="Times New Roman"/>
                          <a:cs typeface="Times New Roman"/>
                        </a:rPr>
                        <a:t>(4,3)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2250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950" spc="-25" dirty="0">
                          <a:latin typeface="Times New Roman"/>
                          <a:cs typeface="Times New Roman"/>
                        </a:rPr>
                        <a:t>18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950" dirty="0">
                          <a:latin typeface="Times New Roman"/>
                          <a:cs typeface="Times New Roman"/>
                        </a:rPr>
                        <a:t>(2,4)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25" dirty="0">
                          <a:latin typeface="Times New Roman"/>
                          <a:cs typeface="Times New Roman"/>
                        </a:rPr>
                        <a:t>[6]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950" spc="-10" dirty="0">
                          <a:latin typeface="Times New Roman"/>
                          <a:cs typeface="Times New Roman"/>
                        </a:rPr>
                        <a:t>(3,4)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950" dirty="0">
                          <a:latin typeface="Times New Roman"/>
                          <a:cs typeface="Times New Roman"/>
                        </a:rPr>
                        <a:t>(4,3),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10" dirty="0">
                          <a:latin typeface="Times New Roman"/>
                          <a:cs typeface="Times New Roman"/>
                        </a:rPr>
                        <a:t>(3,4)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0345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950" spc="-25" dirty="0">
                          <a:latin typeface="Times New Roman"/>
                          <a:cs typeface="Times New Roman"/>
                        </a:rPr>
                        <a:t>19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E1EEDA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950" dirty="0">
                          <a:latin typeface="Times New Roman"/>
                          <a:cs typeface="Times New Roman"/>
                        </a:rPr>
                        <a:t>(4,3)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25" dirty="0">
                          <a:latin typeface="Times New Roman"/>
                          <a:cs typeface="Times New Roman"/>
                        </a:rPr>
                        <a:t>[7]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E1EEDA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950" dirty="0">
                          <a:latin typeface="Times New Roman"/>
                          <a:cs typeface="Times New Roman"/>
                        </a:rPr>
                        <a:t>(4,4)</a:t>
                      </a:r>
                      <a:r>
                        <a:rPr sz="95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GOAL</a:t>
                      </a:r>
                      <a:r>
                        <a:rPr sz="95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generated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25" dirty="0">
                          <a:latin typeface="Times New Roman"/>
                          <a:cs typeface="Times New Roman"/>
                        </a:rPr>
                        <a:t>[8]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E1EEDA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950" dirty="0">
                          <a:latin typeface="Times New Roman"/>
                          <a:cs typeface="Times New Roman"/>
                        </a:rPr>
                        <a:t>(3,4),</a:t>
                      </a:r>
                      <a:r>
                        <a:rPr sz="9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(4,4)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→</a:t>
                      </a:r>
                      <a:r>
                        <a:rPr sz="9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goal</a:t>
                      </a:r>
                      <a:r>
                        <a:rPr sz="9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found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E1EE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706627" y="2165959"/>
            <a:ext cx="5916930" cy="1734185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1100" b="1" dirty="0">
                <a:latin typeface="Times New Roman"/>
                <a:cs typeface="Times New Roman"/>
              </a:rPr>
              <a:t>BFS</a:t>
            </a:r>
            <a:r>
              <a:rPr sz="1100" b="1" spc="-2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result:</a:t>
            </a:r>
            <a:r>
              <a:rPr sz="1100" b="1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19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nodes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expanded.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Following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parent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pointers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back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from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G:</a:t>
            </a:r>
            <a:endParaRPr sz="1100">
              <a:latin typeface="Times New Roman"/>
              <a:cs typeface="Times New Roman"/>
            </a:endParaRPr>
          </a:p>
          <a:p>
            <a:pPr marL="1029335">
              <a:lnSpc>
                <a:spcPct val="100000"/>
              </a:lnSpc>
              <a:spcBef>
                <a:spcPts val="625"/>
              </a:spcBef>
            </a:pPr>
            <a:r>
              <a:rPr sz="1100" b="1" dirty="0">
                <a:latin typeface="Times New Roman"/>
                <a:cs typeface="Times New Roman"/>
              </a:rPr>
              <a:t>(0,0)</a:t>
            </a:r>
            <a:r>
              <a:rPr sz="1100" b="1" spc="-1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→</a:t>
            </a:r>
            <a:r>
              <a:rPr sz="1100" b="1" spc="-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(1,0)</a:t>
            </a:r>
            <a:r>
              <a:rPr sz="1100" b="1" spc="-1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→ (2,0)</a:t>
            </a:r>
            <a:r>
              <a:rPr sz="1100" b="1" spc="-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→</a:t>
            </a:r>
            <a:r>
              <a:rPr sz="1100" b="1" spc="-2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(3,0)</a:t>
            </a:r>
            <a:r>
              <a:rPr sz="1100" b="1" spc="-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→</a:t>
            </a:r>
            <a:r>
              <a:rPr sz="1100" b="1" spc="-1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(4,0)</a:t>
            </a:r>
            <a:r>
              <a:rPr sz="1100" b="1" spc="-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→</a:t>
            </a:r>
            <a:r>
              <a:rPr sz="1100" b="1" spc="-2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(4,1)</a:t>
            </a:r>
            <a:r>
              <a:rPr sz="1100" b="1" spc="-1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→ (4,2)</a:t>
            </a:r>
            <a:r>
              <a:rPr sz="1100" b="1" spc="-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→</a:t>
            </a:r>
            <a:r>
              <a:rPr sz="1100" b="1" spc="-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(4,3)</a:t>
            </a:r>
            <a:r>
              <a:rPr sz="1100" b="1" spc="-1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→</a:t>
            </a:r>
            <a:r>
              <a:rPr sz="1100" b="1" spc="-5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(4,4)</a:t>
            </a:r>
            <a:endParaRPr sz="1100">
              <a:latin typeface="Times New Roman"/>
              <a:cs typeface="Times New Roman"/>
            </a:endParaRPr>
          </a:p>
          <a:p>
            <a:pPr marL="12700" marR="5080">
              <a:lnSpc>
                <a:spcPct val="110900"/>
              </a:lnSpc>
              <a:spcBef>
                <a:spcPts val="495"/>
              </a:spcBef>
            </a:pPr>
            <a:r>
              <a:rPr sz="1100" b="1" dirty="0">
                <a:latin typeface="Times New Roman"/>
                <a:cs typeface="Times New Roman"/>
              </a:rPr>
              <a:t>Path</a:t>
            </a:r>
            <a:r>
              <a:rPr sz="1100" b="1" spc="-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length</a:t>
            </a:r>
            <a:r>
              <a:rPr sz="1100" b="1" spc="-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=</a:t>
            </a:r>
            <a:r>
              <a:rPr sz="1100" b="1" spc="-1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8</a:t>
            </a:r>
            <a:r>
              <a:rPr sz="1100" b="1" spc="-2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moves,</a:t>
            </a:r>
            <a:r>
              <a:rPr sz="1100" b="1" spc="-1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total cost</a:t>
            </a:r>
            <a:r>
              <a:rPr sz="1100" b="1" spc="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=</a:t>
            </a:r>
            <a:r>
              <a:rPr sz="1100" b="1" spc="-1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8 ×</a:t>
            </a:r>
            <a:r>
              <a:rPr sz="1100" b="1" spc="-1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1 =</a:t>
            </a:r>
            <a:r>
              <a:rPr sz="1100" b="1" spc="-1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8.</a:t>
            </a:r>
            <a:r>
              <a:rPr sz="1100" b="1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BFS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optimal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here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because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every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step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has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same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cost,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it explores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level by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level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so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first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time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 reached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 via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shortest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path.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250" b="1" dirty="0">
                <a:latin typeface="Times New Roman"/>
                <a:cs typeface="Times New Roman"/>
              </a:rPr>
              <a:t>2.3</a:t>
            </a:r>
            <a:r>
              <a:rPr sz="1250" b="1" spc="-35" dirty="0">
                <a:latin typeface="Times New Roman"/>
                <a:cs typeface="Times New Roman"/>
              </a:rPr>
              <a:t> </a:t>
            </a:r>
            <a:r>
              <a:rPr sz="1250" b="1" dirty="0">
                <a:latin typeface="Times New Roman"/>
                <a:cs typeface="Times New Roman"/>
              </a:rPr>
              <a:t>A*</a:t>
            </a:r>
            <a:r>
              <a:rPr sz="1250" b="1" spc="-35" dirty="0">
                <a:latin typeface="Times New Roman"/>
                <a:cs typeface="Times New Roman"/>
              </a:rPr>
              <a:t> </a:t>
            </a:r>
            <a:r>
              <a:rPr sz="1250" b="1" dirty="0">
                <a:latin typeface="Times New Roman"/>
                <a:cs typeface="Times New Roman"/>
              </a:rPr>
              <a:t>with</a:t>
            </a:r>
            <a:r>
              <a:rPr sz="1250" b="1" spc="-30" dirty="0">
                <a:latin typeface="Times New Roman"/>
                <a:cs typeface="Times New Roman"/>
              </a:rPr>
              <a:t> </a:t>
            </a:r>
            <a:r>
              <a:rPr sz="1250" b="1" dirty="0">
                <a:latin typeface="Times New Roman"/>
                <a:cs typeface="Times New Roman"/>
              </a:rPr>
              <a:t>Manhattan</a:t>
            </a:r>
            <a:r>
              <a:rPr sz="1250" b="1" spc="-30" dirty="0">
                <a:latin typeface="Times New Roman"/>
                <a:cs typeface="Times New Roman"/>
              </a:rPr>
              <a:t> </a:t>
            </a:r>
            <a:r>
              <a:rPr sz="1250" b="1" dirty="0">
                <a:latin typeface="Times New Roman"/>
                <a:cs typeface="Times New Roman"/>
              </a:rPr>
              <a:t>heuristic</a:t>
            </a:r>
            <a:r>
              <a:rPr sz="1250" b="1" spc="-20" dirty="0">
                <a:latin typeface="Times New Roman"/>
                <a:cs typeface="Times New Roman"/>
              </a:rPr>
              <a:t> </a:t>
            </a:r>
            <a:r>
              <a:rPr sz="1250" b="1" dirty="0">
                <a:latin typeface="Times New Roman"/>
                <a:cs typeface="Times New Roman"/>
              </a:rPr>
              <a:t>–</a:t>
            </a:r>
            <a:r>
              <a:rPr sz="1250" b="1" spc="-35" dirty="0">
                <a:latin typeface="Times New Roman"/>
                <a:cs typeface="Times New Roman"/>
              </a:rPr>
              <a:t> </a:t>
            </a:r>
            <a:r>
              <a:rPr sz="1250" b="1" dirty="0">
                <a:latin typeface="Times New Roman"/>
                <a:cs typeface="Times New Roman"/>
              </a:rPr>
              <a:t>priority</a:t>
            </a:r>
            <a:r>
              <a:rPr sz="1250" b="1" spc="-35" dirty="0">
                <a:latin typeface="Times New Roman"/>
                <a:cs typeface="Times New Roman"/>
              </a:rPr>
              <a:t> </a:t>
            </a:r>
            <a:r>
              <a:rPr sz="1250" b="1" dirty="0">
                <a:latin typeface="Times New Roman"/>
                <a:cs typeface="Times New Roman"/>
              </a:rPr>
              <a:t>queue</a:t>
            </a:r>
            <a:r>
              <a:rPr sz="1250" b="1" spc="-35" dirty="0">
                <a:latin typeface="Times New Roman"/>
                <a:cs typeface="Times New Roman"/>
              </a:rPr>
              <a:t> </a:t>
            </a:r>
            <a:r>
              <a:rPr sz="1250" b="1" spc="-10" dirty="0">
                <a:latin typeface="Times New Roman"/>
                <a:cs typeface="Times New Roman"/>
              </a:rPr>
              <a:t>updates</a:t>
            </a:r>
            <a:endParaRPr sz="1250">
              <a:latin typeface="Times New Roman"/>
              <a:cs typeface="Times New Roman"/>
            </a:endParaRPr>
          </a:p>
          <a:p>
            <a:pPr marL="12700" marR="225425">
              <a:lnSpc>
                <a:spcPct val="110000"/>
              </a:lnSpc>
              <a:spcBef>
                <a:spcPts val="434"/>
              </a:spcBef>
            </a:pPr>
            <a:r>
              <a:rPr sz="1100" dirty="0">
                <a:latin typeface="Times New Roman"/>
                <a:cs typeface="Times New Roman"/>
              </a:rPr>
              <a:t>Priority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=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f(n)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=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g(n)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+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h(n).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Ties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are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broken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by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smaller h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(closer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goal),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then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by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insertion</a:t>
            </a:r>
            <a:r>
              <a:rPr sz="1100" spc="-10" dirty="0">
                <a:latin typeface="Times New Roman"/>
                <a:cs typeface="Times New Roman"/>
              </a:rPr>
              <a:t> order. </a:t>
            </a:r>
            <a:r>
              <a:rPr sz="1100" dirty="0">
                <a:latin typeface="Times New Roman"/>
                <a:cs typeface="Times New Roman"/>
              </a:rPr>
              <a:t>Format: </a:t>
            </a:r>
            <a:r>
              <a:rPr sz="1100" spc="-10" dirty="0">
                <a:latin typeface="Times New Roman"/>
                <a:cs typeface="Times New Roman"/>
              </a:rPr>
              <a:t>cell(g+h=f).</a:t>
            </a:r>
            <a:endParaRPr sz="1100">
              <a:latin typeface="Times New Roman"/>
              <a:cs typeface="Times New Roman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719327" y="3976750"/>
          <a:ext cx="6203950" cy="24879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08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88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609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501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9410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950" b="1" spc="-50" dirty="0">
                          <a:latin typeface="Times New Roman"/>
                          <a:cs typeface="Times New Roman"/>
                        </a:rPr>
                        <a:t>#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1F3863"/>
                    </a:solidFill>
                  </a:tcPr>
                </a:tc>
                <a:tc>
                  <a:txBody>
                    <a:bodyPr/>
                    <a:lstStyle/>
                    <a:p>
                      <a:pPr marL="57785" marR="332740">
                        <a:lnSpc>
                          <a:spcPts val="1090"/>
                        </a:lnSpc>
                        <a:spcBef>
                          <a:spcPts val="340"/>
                        </a:spcBef>
                      </a:pPr>
                      <a:r>
                        <a:rPr sz="950" b="1" dirty="0">
                          <a:latin typeface="Times New Roman"/>
                          <a:cs typeface="Times New Roman"/>
                        </a:rPr>
                        <a:t>Node</a:t>
                      </a:r>
                      <a:r>
                        <a:rPr sz="95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b="1" spc="-10" dirty="0">
                          <a:latin typeface="Times New Roman"/>
                          <a:cs typeface="Times New Roman"/>
                        </a:rPr>
                        <a:t>popped </a:t>
                      </a:r>
                      <a:r>
                        <a:rPr sz="950" b="1" dirty="0">
                          <a:latin typeface="Times New Roman"/>
                          <a:cs typeface="Times New Roman"/>
                        </a:rPr>
                        <a:t>(lowest</a:t>
                      </a:r>
                      <a:r>
                        <a:rPr sz="95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b="1" spc="-25" dirty="0">
                          <a:latin typeface="Times New Roman"/>
                          <a:cs typeface="Times New Roman"/>
                        </a:rPr>
                        <a:t>f)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4318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1F3863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950" b="1" spc="-10" dirty="0">
                          <a:latin typeface="Times New Roman"/>
                          <a:cs typeface="Times New Roman"/>
                        </a:rPr>
                        <a:t>Successors</a:t>
                      </a:r>
                      <a:r>
                        <a:rPr sz="95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b="1" dirty="0">
                          <a:latin typeface="Times New Roman"/>
                          <a:cs typeface="Times New Roman"/>
                        </a:rPr>
                        <a:t>generated</a:t>
                      </a:r>
                      <a:r>
                        <a:rPr sz="95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b="1" spc="-10" dirty="0">
                          <a:latin typeface="Times New Roman"/>
                          <a:cs typeface="Times New Roman"/>
                        </a:rPr>
                        <a:t>(g+h=f)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1F3863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950" b="1" dirty="0">
                          <a:latin typeface="Times New Roman"/>
                          <a:cs typeface="Times New Roman"/>
                        </a:rPr>
                        <a:t>Priority</a:t>
                      </a:r>
                      <a:r>
                        <a:rPr sz="95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b="1" dirty="0">
                          <a:latin typeface="Times New Roman"/>
                          <a:cs typeface="Times New Roman"/>
                        </a:rPr>
                        <a:t>queue</a:t>
                      </a:r>
                      <a:r>
                        <a:rPr sz="95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b="1" dirty="0">
                          <a:latin typeface="Times New Roman"/>
                          <a:cs typeface="Times New Roman"/>
                        </a:rPr>
                        <a:t>after</a:t>
                      </a:r>
                      <a:r>
                        <a:rPr sz="95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b="1" spc="-20" dirty="0">
                          <a:latin typeface="Times New Roman"/>
                          <a:cs typeface="Times New Roman"/>
                        </a:rPr>
                        <a:t>step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1F38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0979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95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950" dirty="0">
                          <a:latin typeface="Times New Roman"/>
                          <a:cs typeface="Times New Roman"/>
                        </a:rPr>
                        <a:t>(0,0)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25" dirty="0">
                          <a:latin typeface="Times New Roman"/>
                          <a:cs typeface="Times New Roman"/>
                        </a:rPr>
                        <a:t>f=8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950" dirty="0">
                          <a:latin typeface="Times New Roman"/>
                          <a:cs typeface="Times New Roman"/>
                        </a:rPr>
                        <a:t>(1,0)</a:t>
                      </a:r>
                      <a:r>
                        <a:rPr sz="95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10" dirty="0">
                          <a:latin typeface="Times New Roman"/>
                          <a:cs typeface="Times New Roman"/>
                        </a:rPr>
                        <a:t>g1+h7=8,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(0,1)</a:t>
                      </a:r>
                      <a:r>
                        <a:rPr sz="9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10" dirty="0">
                          <a:latin typeface="Times New Roman"/>
                          <a:cs typeface="Times New Roman"/>
                        </a:rPr>
                        <a:t>g1+h7=8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950" dirty="0">
                          <a:latin typeface="Times New Roman"/>
                          <a:cs typeface="Times New Roman"/>
                        </a:rPr>
                        <a:t>(1,0)=8,</a:t>
                      </a:r>
                      <a:r>
                        <a:rPr sz="95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10" dirty="0">
                          <a:latin typeface="Times New Roman"/>
                          <a:cs typeface="Times New Roman"/>
                        </a:rPr>
                        <a:t>(0,1)=8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0979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95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950" dirty="0">
                          <a:latin typeface="Times New Roman"/>
                          <a:cs typeface="Times New Roman"/>
                        </a:rPr>
                        <a:t>(1,0)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25" dirty="0">
                          <a:latin typeface="Times New Roman"/>
                          <a:cs typeface="Times New Roman"/>
                        </a:rPr>
                        <a:t>f=8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950" dirty="0">
                          <a:latin typeface="Times New Roman"/>
                          <a:cs typeface="Times New Roman"/>
                        </a:rPr>
                        <a:t>(2,0)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2+6=8</a:t>
                      </a:r>
                      <a:r>
                        <a:rPr sz="950" spc="434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[(1,1)</a:t>
                      </a:r>
                      <a:r>
                        <a:rPr sz="9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10" dirty="0">
                          <a:latin typeface="Times New Roman"/>
                          <a:cs typeface="Times New Roman"/>
                        </a:rPr>
                        <a:t>obstacle]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950" dirty="0">
                          <a:latin typeface="Times New Roman"/>
                          <a:cs typeface="Times New Roman"/>
                        </a:rPr>
                        <a:t>(2,0)=8,</a:t>
                      </a:r>
                      <a:r>
                        <a:rPr sz="95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10" dirty="0">
                          <a:latin typeface="Times New Roman"/>
                          <a:cs typeface="Times New Roman"/>
                        </a:rPr>
                        <a:t>(0,1)=8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2250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950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950" dirty="0">
                          <a:latin typeface="Times New Roman"/>
                          <a:cs typeface="Times New Roman"/>
                        </a:rPr>
                        <a:t>(2,0)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25" dirty="0">
                          <a:latin typeface="Times New Roman"/>
                          <a:cs typeface="Times New Roman"/>
                        </a:rPr>
                        <a:t>f=8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950" dirty="0">
                          <a:latin typeface="Times New Roman"/>
                          <a:cs typeface="Times New Roman"/>
                        </a:rPr>
                        <a:t>(3,0)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3+5=8</a:t>
                      </a:r>
                      <a:r>
                        <a:rPr sz="950" spc="434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[(2,1)</a:t>
                      </a:r>
                      <a:r>
                        <a:rPr sz="9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10" dirty="0">
                          <a:latin typeface="Times New Roman"/>
                          <a:cs typeface="Times New Roman"/>
                        </a:rPr>
                        <a:t>obstacle]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950" dirty="0">
                          <a:latin typeface="Times New Roman"/>
                          <a:cs typeface="Times New Roman"/>
                        </a:rPr>
                        <a:t>(3,0)=8,</a:t>
                      </a:r>
                      <a:r>
                        <a:rPr sz="95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10" dirty="0">
                          <a:latin typeface="Times New Roman"/>
                          <a:cs typeface="Times New Roman"/>
                        </a:rPr>
                        <a:t>(0,1)=8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0979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950" spc="-50" dirty="0">
                          <a:latin typeface="Times New Roman"/>
                          <a:cs typeface="Times New Roman"/>
                        </a:rPr>
                        <a:t>4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950" dirty="0">
                          <a:latin typeface="Times New Roman"/>
                          <a:cs typeface="Times New Roman"/>
                        </a:rPr>
                        <a:t>(3,0)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25" dirty="0">
                          <a:latin typeface="Times New Roman"/>
                          <a:cs typeface="Times New Roman"/>
                        </a:rPr>
                        <a:t>f=8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950" dirty="0">
                          <a:latin typeface="Times New Roman"/>
                          <a:cs typeface="Times New Roman"/>
                        </a:rPr>
                        <a:t>(4,0)</a:t>
                      </a:r>
                      <a:r>
                        <a:rPr sz="95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4+4=8,</a:t>
                      </a:r>
                      <a:r>
                        <a:rPr sz="9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(3,1)</a:t>
                      </a:r>
                      <a:r>
                        <a:rPr sz="95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4+4=8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950" dirty="0">
                          <a:latin typeface="Times New Roman"/>
                          <a:cs typeface="Times New Roman"/>
                        </a:rPr>
                        <a:t>(4,0)=8,</a:t>
                      </a:r>
                      <a:r>
                        <a:rPr sz="95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(3,1)=8,</a:t>
                      </a:r>
                      <a:r>
                        <a:rPr sz="95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10" dirty="0">
                          <a:latin typeface="Times New Roman"/>
                          <a:cs typeface="Times New Roman"/>
                        </a:rPr>
                        <a:t>(0,1)=8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0345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950" spc="-50" dirty="0">
                          <a:latin typeface="Times New Roman"/>
                          <a:cs typeface="Times New Roman"/>
                        </a:rPr>
                        <a:t>5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950" dirty="0">
                          <a:latin typeface="Times New Roman"/>
                          <a:cs typeface="Times New Roman"/>
                        </a:rPr>
                        <a:t>(4,0)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25" dirty="0">
                          <a:latin typeface="Times New Roman"/>
                          <a:cs typeface="Times New Roman"/>
                        </a:rPr>
                        <a:t>f=8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950" dirty="0">
                          <a:latin typeface="Times New Roman"/>
                          <a:cs typeface="Times New Roman"/>
                        </a:rPr>
                        <a:t>(4,1)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10" dirty="0">
                          <a:latin typeface="Times New Roman"/>
                          <a:cs typeface="Times New Roman"/>
                        </a:rPr>
                        <a:t>5+3=8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950" dirty="0">
                          <a:latin typeface="Times New Roman"/>
                          <a:cs typeface="Times New Roman"/>
                        </a:rPr>
                        <a:t>(4,1)=8,</a:t>
                      </a:r>
                      <a:r>
                        <a:rPr sz="95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(3,1)=8,</a:t>
                      </a:r>
                      <a:r>
                        <a:rPr sz="95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10" dirty="0">
                          <a:latin typeface="Times New Roman"/>
                          <a:cs typeface="Times New Roman"/>
                        </a:rPr>
                        <a:t>(0,1)=8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9410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950" spc="-50" dirty="0">
                          <a:latin typeface="Times New Roman"/>
                          <a:cs typeface="Times New Roman"/>
                        </a:rPr>
                        <a:t>6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103505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950" dirty="0">
                          <a:latin typeface="Times New Roman"/>
                          <a:cs typeface="Times New Roman"/>
                        </a:rPr>
                        <a:t>(4,1)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25" dirty="0">
                          <a:latin typeface="Times New Roman"/>
                          <a:cs typeface="Times New Roman"/>
                        </a:rPr>
                        <a:t>f=8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103505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marL="57785" marR="157480">
                        <a:lnSpc>
                          <a:spcPts val="1090"/>
                        </a:lnSpc>
                        <a:spcBef>
                          <a:spcPts val="340"/>
                        </a:spcBef>
                      </a:pPr>
                      <a:r>
                        <a:rPr sz="950" dirty="0">
                          <a:latin typeface="Times New Roman"/>
                          <a:cs typeface="Times New Roman"/>
                        </a:rPr>
                        <a:t>(4,2)</a:t>
                      </a:r>
                      <a:r>
                        <a:rPr sz="9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6+2=8</a:t>
                      </a:r>
                      <a:r>
                        <a:rPr sz="950" spc="4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[(3,1)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already</a:t>
                      </a:r>
                      <a:r>
                        <a:rPr sz="9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open</a:t>
                      </a:r>
                      <a:r>
                        <a:rPr sz="95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9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10" dirty="0">
                          <a:latin typeface="Times New Roman"/>
                          <a:cs typeface="Times New Roman"/>
                        </a:rPr>
                        <a:t>better 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g=4]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4318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950" dirty="0">
                          <a:latin typeface="Times New Roman"/>
                          <a:cs typeface="Times New Roman"/>
                        </a:rPr>
                        <a:t>(4,2)=8,</a:t>
                      </a:r>
                      <a:r>
                        <a:rPr sz="95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(3,1)=8,</a:t>
                      </a:r>
                      <a:r>
                        <a:rPr sz="95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10" dirty="0">
                          <a:latin typeface="Times New Roman"/>
                          <a:cs typeface="Times New Roman"/>
                        </a:rPr>
                        <a:t>(0,1)=8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103505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0345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950" spc="-50" dirty="0">
                          <a:latin typeface="Times New Roman"/>
                          <a:cs typeface="Times New Roman"/>
                        </a:rPr>
                        <a:t>7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950" dirty="0">
                          <a:latin typeface="Times New Roman"/>
                          <a:cs typeface="Times New Roman"/>
                        </a:rPr>
                        <a:t>(4,2)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25" dirty="0">
                          <a:latin typeface="Times New Roman"/>
                          <a:cs typeface="Times New Roman"/>
                        </a:rPr>
                        <a:t>f=8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950" dirty="0">
                          <a:latin typeface="Times New Roman"/>
                          <a:cs typeface="Times New Roman"/>
                        </a:rPr>
                        <a:t>(4,3)</a:t>
                      </a:r>
                      <a:r>
                        <a:rPr sz="95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7+1=8,</a:t>
                      </a:r>
                      <a:r>
                        <a:rPr sz="9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(3,2)</a:t>
                      </a:r>
                      <a:r>
                        <a:rPr sz="95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10" dirty="0">
                          <a:latin typeface="Times New Roman"/>
                          <a:cs typeface="Times New Roman"/>
                        </a:rPr>
                        <a:t>7+3=10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950" dirty="0">
                          <a:latin typeface="Times New Roman"/>
                          <a:cs typeface="Times New Roman"/>
                        </a:rPr>
                        <a:t>(4,3)=8,</a:t>
                      </a:r>
                      <a:r>
                        <a:rPr sz="95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(3,1)=8,</a:t>
                      </a:r>
                      <a:r>
                        <a:rPr sz="95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(0,1)=8,</a:t>
                      </a:r>
                      <a:r>
                        <a:rPr sz="95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10" dirty="0">
                          <a:latin typeface="Times New Roman"/>
                          <a:cs typeface="Times New Roman"/>
                        </a:rPr>
                        <a:t>(3,2)=10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2250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950" spc="-50" dirty="0">
                          <a:latin typeface="Times New Roman"/>
                          <a:cs typeface="Times New Roman"/>
                        </a:rPr>
                        <a:t>8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950" dirty="0">
                          <a:latin typeface="Times New Roman"/>
                          <a:cs typeface="Times New Roman"/>
                        </a:rPr>
                        <a:t>(4,3)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25" dirty="0">
                          <a:latin typeface="Times New Roman"/>
                          <a:cs typeface="Times New Roman"/>
                        </a:rPr>
                        <a:t>f=8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950" dirty="0">
                          <a:latin typeface="Times New Roman"/>
                          <a:cs typeface="Times New Roman"/>
                        </a:rPr>
                        <a:t>(4,4)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8+0=8</a:t>
                      </a:r>
                      <a:r>
                        <a:rPr sz="950" spc="434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[(3,3)</a:t>
                      </a:r>
                      <a:r>
                        <a:rPr sz="9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10" dirty="0">
                          <a:latin typeface="Times New Roman"/>
                          <a:cs typeface="Times New Roman"/>
                        </a:rPr>
                        <a:t>obstacle]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950" dirty="0">
                          <a:latin typeface="Times New Roman"/>
                          <a:cs typeface="Times New Roman"/>
                        </a:rPr>
                        <a:t>(4,4)=8,</a:t>
                      </a:r>
                      <a:r>
                        <a:rPr sz="95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(3,1)=8,</a:t>
                      </a:r>
                      <a:r>
                        <a:rPr sz="95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(0,1)=8,</a:t>
                      </a:r>
                      <a:r>
                        <a:rPr sz="95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10" dirty="0">
                          <a:latin typeface="Times New Roman"/>
                          <a:cs typeface="Times New Roman"/>
                        </a:rPr>
                        <a:t>(3,2)=10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0979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950" spc="-50" dirty="0">
                          <a:latin typeface="Times New Roman"/>
                          <a:cs typeface="Times New Roman"/>
                        </a:rPr>
                        <a:t>9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E1EEDA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950" dirty="0">
                          <a:latin typeface="Times New Roman"/>
                          <a:cs typeface="Times New Roman"/>
                        </a:rPr>
                        <a:t>(4,4)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25" dirty="0">
                          <a:latin typeface="Times New Roman"/>
                          <a:cs typeface="Times New Roman"/>
                        </a:rPr>
                        <a:t>f=8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E1EEDA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950" dirty="0">
                          <a:latin typeface="Times New Roman"/>
                          <a:cs typeface="Times New Roman"/>
                        </a:rPr>
                        <a:t>GOAL</a:t>
                      </a:r>
                      <a:r>
                        <a:rPr sz="9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popped</a:t>
                      </a:r>
                      <a:r>
                        <a:rPr sz="95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from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9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priority</a:t>
                      </a:r>
                      <a:r>
                        <a:rPr sz="9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queue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E1EEDA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950" spc="-20" dirty="0">
                          <a:latin typeface="Times New Roman"/>
                          <a:cs typeface="Times New Roman"/>
                        </a:rPr>
                        <a:t>Stop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E1EE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706627" y="6647154"/>
            <a:ext cx="5927090" cy="394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000"/>
              </a:lnSpc>
              <a:spcBef>
                <a:spcPts val="100"/>
              </a:spcBef>
            </a:pPr>
            <a:r>
              <a:rPr sz="1100" dirty="0">
                <a:latin typeface="Times New Roman"/>
                <a:cs typeface="Times New Roman"/>
              </a:rPr>
              <a:t>A*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expands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only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9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nodes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(against 19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BFS)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returns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same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path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cost,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because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Manhattan </a:t>
            </a:r>
            <a:r>
              <a:rPr sz="1100" dirty="0">
                <a:latin typeface="Times New Roman"/>
                <a:cs typeface="Times New Roman"/>
              </a:rPr>
              <a:t>heuristic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keeps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=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8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along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whole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solution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path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– the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heuristic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exact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here.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06627" y="3041649"/>
            <a:ext cx="1776730" cy="2159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50" b="1" dirty="0">
                <a:latin typeface="Times New Roman"/>
                <a:cs typeface="Times New Roman"/>
              </a:rPr>
              <a:t>2.4</a:t>
            </a:r>
            <a:r>
              <a:rPr sz="1250" b="1" spc="-30" dirty="0">
                <a:latin typeface="Times New Roman"/>
                <a:cs typeface="Times New Roman"/>
              </a:rPr>
              <a:t> </a:t>
            </a:r>
            <a:r>
              <a:rPr sz="1250" b="1" dirty="0">
                <a:latin typeface="Times New Roman"/>
                <a:cs typeface="Times New Roman"/>
              </a:rPr>
              <a:t>Optimal</a:t>
            </a:r>
            <a:r>
              <a:rPr sz="1250" b="1" spc="-30" dirty="0">
                <a:latin typeface="Times New Roman"/>
                <a:cs typeface="Times New Roman"/>
              </a:rPr>
              <a:t> </a:t>
            </a:r>
            <a:r>
              <a:rPr sz="1250" b="1" dirty="0">
                <a:latin typeface="Times New Roman"/>
                <a:cs typeface="Times New Roman"/>
              </a:rPr>
              <a:t>path</a:t>
            </a:r>
            <a:r>
              <a:rPr sz="1250" b="1" spc="-30" dirty="0">
                <a:latin typeface="Times New Roman"/>
                <a:cs typeface="Times New Roman"/>
              </a:rPr>
              <a:t> </a:t>
            </a:r>
            <a:r>
              <a:rPr sz="1250" b="1" dirty="0">
                <a:latin typeface="Times New Roman"/>
                <a:cs typeface="Times New Roman"/>
              </a:rPr>
              <a:t>and</a:t>
            </a:r>
            <a:r>
              <a:rPr sz="1250" b="1" spc="-30" dirty="0">
                <a:latin typeface="Times New Roman"/>
                <a:cs typeface="Times New Roman"/>
              </a:rPr>
              <a:t> </a:t>
            </a:r>
            <a:r>
              <a:rPr sz="1250" b="1" spc="-20" dirty="0">
                <a:latin typeface="Times New Roman"/>
                <a:cs typeface="Times New Roman"/>
              </a:rPr>
              <a:t>cost</a:t>
            </a:r>
            <a:endParaRPr sz="1250">
              <a:latin typeface="Times New Roman"/>
              <a:cs typeface="Times New Roman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507614" y="3324478"/>
          <a:ext cx="2623185" cy="19354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73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86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73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73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86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671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44"/>
                        </a:spcBef>
                      </a:pPr>
                      <a:r>
                        <a:rPr sz="900" b="1" spc="-50" dirty="0">
                          <a:latin typeface="Times New Roman"/>
                          <a:cs typeface="Times New Roman"/>
                        </a:rPr>
                        <a:t>S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120014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A9D18E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944"/>
                        </a:spcBef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(0,1)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120014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44"/>
                        </a:spcBef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(0,2)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120014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44"/>
                        </a:spcBef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(0,3)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120014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944"/>
                        </a:spcBef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(0,4)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120014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671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44"/>
                        </a:spcBef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(1,0)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120014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BCD6ED"/>
                    </a:solidFill>
                  </a:tcPr>
                </a:tc>
                <a:tc>
                  <a:txBody>
                    <a:bodyPr/>
                    <a:lstStyle/>
                    <a:p>
                      <a:pPr marL="260985" indent="-96520">
                        <a:lnSpc>
                          <a:spcPct val="100000"/>
                        </a:lnSpc>
                        <a:spcBef>
                          <a:spcPts val="944"/>
                        </a:spcBef>
                        <a:buChar char="■"/>
                        <a:tabLst>
                          <a:tab pos="260985" algn="l"/>
                        </a:tabLst>
                      </a:pPr>
                      <a:r>
                        <a:rPr sz="900" spc="-50" dirty="0">
                          <a:latin typeface="Times New Roman"/>
                          <a:cs typeface="Times New Roman"/>
                        </a:rPr>
                        <a:t>X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120014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5858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44"/>
                        </a:spcBef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(1,2)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120014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9079" indent="-96520">
                        <a:lnSpc>
                          <a:spcPct val="100000"/>
                        </a:lnSpc>
                        <a:spcBef>
                          <a:spcPts val="944"/>
                        </a:spcBef>
                        <a:buChar char="■"/>
                        <a:tabLst>
                          <a:tab pos="259079" algn="l"/>
                        </a:tabLst>
                      </a:pPr>
                      <a:r>
                        <a:rPr sz="900" spc="-50" dirty="0">
                          <a:latin typeface="Times New Roman"/>
                          <a:cs typeface="Times New Roman"/>
                        </a:rPr>
                        <a:t>X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120014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585858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944"/>
                        </a:spcBef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(1,4)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120014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671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44"/>
                        </a:spcBef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(2,0)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120014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BCD6ED"/>
                    </a:solidFill>
                  </a:tcPr>
                </a:tc>
                <a:tc>
                  <a:txBody>
                    <a:bodyPr/>
                    <a:lstStyle/>
                    <a:p>
                      <a:pPr marL="260985" indent="-96520">
                        <a:lnSpc>
                          <a:spcPct val="100000"/>
                        </a:lnSpc>
                        <a:spcBef>
                          <a:spcPts val="944"/>
                        </a:spcBef>
                        <a:buChar char="■"/>
                        <a:tabLst>
                          <a:tab pos="260985" algn="l"/>
                        </a:tabLst>
                      </a:pPr>
                      <a:r>
                        <a:rPr sz="900" spc="-50" dirty="0">
                          <a:latin typeface="Times New Roman"/>
                          <a:cs typeface="Times New Roman"/>
                        </a:rPr>
                        <a:t>X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120014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5858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44"/>
                        </a:spcBef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(2,2)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120014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44"/>
                        </a:spcBef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(2,3)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120014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944"/>
                        </a:spcBef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(2,4)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120014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671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44"/>
                        </a:spcBef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(3,0)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120014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BCD6ED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944"/>
                        </a:spcBef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(3,1)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120014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44"/>
                        </a:spcBef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(3,2)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120014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9079" indent="-96520">
                        <a:lnSpc>
                          <a:spcPct val="100000"/>
                        </a:lnSpc>
                        <a:spcBef>
                          <a:spcPts val="944"/>
                        </a:spcBef>
                        <a:buChar char="■"/>
                        <a:tabLst>
                          <a:tab pos="259079" algn="l"/>
                        </a:tabLst>
                      </a:pPr>
                      <a:r>
                        <a:rPr sz="900" spc="-50" dirty="0">
                          <a:latin typeface="Times New Roman"/>
                          <a:cs typeface="Times New Roman"/>
                        </a:rPr>
                        <a:t>X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120014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585858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944"/>
                        </a:spcBef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(3,4)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120014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44"/>
                        </a:spcBef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(4,0)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120014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BCD6ED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944"/>
                        </a:spcBef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(4,1)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120014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BCD6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44"/>
                        </a:spcBef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(4,2)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120014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BCD6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44"/>
                        </a:spcBef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(4,3)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120014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BCD6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44"/>
                        </a:spcBef>
                      </a:pPr>
                      <a:r>
                        <a:rPr sz="900" b="1" spc="-50" dirty="0">
                          <a:latin typeface="Times New Roman"/>
                          <a:cs typeface="Times New Roman"/>
                        </a:rPr>
                        <a:t>G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120014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F4B0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2878963" y="5247258"/>
            <a:ext cx="180086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dirty="0">
                <a:latin typeface="Times New Roman"/>
                <a:cs typeface="Times New Roman"/>
              </a:rPr>
              <a:t>Cells</a:t>
            </a:r>
            <a:r>
              <a:rPr sz="900" i="1" spc="-15" dirty="0">
                <a:latin typeface="Times New Roman"/>
                <a:cs typeface="Times New Roman"/>
              </a:rPr>
              <a:t> </a:t>
            </a:r>
            <a:r>
              <a:rPr sz="900" i="1" dirty="0">
                <a:latin typeface="Times New Roman"/>
                <a:cs typeface="Times New Roman"/>
              </a:rPr>
              <a:t>shaded blue</a:t>
            </a:r>
            <a:r>
              <a:rPr sz="900" i="1" spc="-15" dirty="0">
                <a:latin typeface="Times New Roman"/>
                <a:cs typeface="Times New Roman"/>
              </a:rPr>
              <a:t> </a:t>
            </a:r>
            <a:r>
              <a:rPr sz="900" i="1" dirty="0">
                <a:latin typeface="Times New Roman"/>
                <a:cs typeface="Times New Roman"/>
              </a:rPr>
              <a:t>form</a:t>
            </a:r>
            <a:r>
              <a:rPr sz="900" i="1" spc="-10" dirty="0">
                <a:latin typeface="Times New Roman"/>
                <a:cs typeface="Times New Roman"/>
              </a:rPr>
              <a:t> </a:t>
            </a:r>
            <a:r>
              <a:rPr sz="900" i="1" dirty="0">
                <a:latin typeface="Times New Roman"/>
                <a:cs typeface="Times New Roman"/>
              </a:rPr>
              <a:t>the</a:t>
            </a:r>
            <a:r>
              <a:rPr sz="900" i="1" spc="-20" dirty="0">
                <a:latin typeface="Times New Roman"/>
                <a:cs typeface="Times New Roman"/>
              </a:rPr>
              <a:t> </a:t>
            </a:r>
            <a:r>
              <a:rPr sz="900" i="1" dirty="0">
                <a:latin typeface="Times New Roman"/>
                <a:cs typeface="Times New Roman"/>
              </a:rPr>
              <a:t>path</a:t>
            </a:r>
            <a:r>
              <a:rPr sz="900" i="1" spc="-5" dirty="0">
                <a:latin typeface="Times New Roman"/>
                <a:cs typeface="Times New Roman"/>
              </a:rPr>
              <a:t> </a:t>
            </a:r>
            <a:r>
              <a:rPr sz="900" i="1" spc="-10" dirty="0">
                <a:latin typeface="Times New Roman"/>
                <a:cs typeface="Times New Roman"/>
              </a:rPr>
              <a:t>found.</a:t>
            </a:r>
            <a:endParaRPr sz="900">
              <a:latin typeface="Times New Roman"/>
              <a:cs typeface="Times New Roman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719327" y="5482463"/>
          <a:ext cx="6203950" cy="11049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5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7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0979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950" b="1" spc="-20" dirty="0">
                          <a:latin typeface="Times New Roman"/>
                          <a:cs typeface="Times New Roman"/>
                        </a:rPr>
                        <a:t>Item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1F3863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950" b="1" spc="-10" dirty="0">
                          <a:latin typeface="Times New Roman"/>
                          <a:cs typeface="Times New Roman"/>
                        </a:rPr>
                        <a:t>Value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1F38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0345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950" dirty="0">
                          <a:latin typeface="Times New Roman"/>
                          <a:cs typeface="Times New Roman"/>
                        </a:rPr>
                        <a:t>Optimal</a:t>
                      </a:r>
                      <a:r>
                        <a:rPr sz="95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path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950" dirty="0">
                          <a:latin typeface="Times New Roman"/>
                          <a:cs typeface="Times New Roman"/>
                        </a:rPr>
                        <a:t>(0,0)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→</a:t>
                      </a:r>
                      <a:r>
                        <a:rPr sz="95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(1,0)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→</a:t>
                      </a:r>
                      <a:r>
                        <a:rPr sz="95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(2,0)</a:t>
                      </a:r>
                      <a:r>
                        <a:rPr sz="9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→</a:t>
                      </a:r>
                      <a:r>
                        <a:rPr sz="9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(3,0)</a:t>
                      </a:r>
                      <a:r>
                        <a:rPr sz="9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→</a:t>
                      </a:r>
                      <a:r>
                        <a:rPr sz="9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(4,0)</a:t>
                      </a:r>
                      <a:r>
                        <a:rPr sz="9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→</a:t>
                      </a:r>
                      <a:r>
                        <a:rPr sz="95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(4,1)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→</a:t>
                      </a:r>
                      <a:r>
                        <a:rPr sz="95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(4,2)</a:t>
                      </a:r>
                      <a:r>
                        <a:rPr sz="9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→</a:t>
                      </a:r>
                      <a:r>
                        <a:rPr sz="9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(4,3)</a:t>
                      </a:r>
                      <a:r>
                        <a:rPr sz="9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→</a:t>
                      </a:r>
                      <a:r>
                        <a:rPr sz="9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10" dirty="0">
                          <a:latin typeface="Times New Roman"/>
                          <a:cs typeface="Times New Roman"/>
                        </a:rPr>
                        <a:t>(4,4)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0979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950" spc="-20" dirty="0">
                          <a:latin typeface="Times New Roman"/>
                          <a:cs typeface="Times New Roman"/>
                        </a:rPr>
                        <a:t>Moves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950" dirty="0">
                          <a:latin typeface="Times New Roman"/>
                          <a:cs typeface="Times New Roman"/>
                        </a:rPr>
                        <a:t>Down,</a:t>
                      </a:r>
                      <a:r>
                        <a:rPr sz="95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Down,</a:t>
                      </a:r>
                      <a:r>
                        <a:rPr sz="95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Down,</a:t>
                      </a:r>
                      <a:r>
                        <a:rPr sz="95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Down,</a:t>
                      </a:r>
                      <a:r>
                        <a:rPr sz="95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Right,</a:t>
                      </a:r>
                      <a:r>
                        <a:rPr sz="9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Right,</a:t>
                      </a:r>
                      <a:r>
                        <a:rPr sz="95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Right,</a:t>
                      </a:r>
                      <a:r>
                        <a:rPr sz="95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Right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0345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950" dirty="0">
                          <a:latin typeface="Times New Roman"/>
                          <a:cs typeface="Times New Roman"/>
                        </a:rPr>
                        <a:t>Optimal</a:t>
                      </a:r>
                      <a:r>
                        <a:rPr sz="95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cost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950" dirty="0">
                          <a:latin typeface="Times New Roman"/>
                          <a:cs typeface="Times New Roman"/>
                        </a:rPr>
                        <a:t>8</a:t>
                      </a:r>
                      <a:r>
                        <a:rPr sz="950" spc="1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(equals</a:t>
                      </a:r>
                      <a:r>
                        <a:rPr sz="9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9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Manhattan</a:t>
                      </a:r>
                      <a:r>
                        <a:rPr sz="95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lower</a:t>
                      </a:r>
                      <a:r>
                        <a:rPr sz="95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bound,</a:t>
                      </a:r>
                      <a:r>
                        <a:rPr sz="95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so</a:t>
                      </a:r>
                      <a:r>
                        <a:rPr sz="9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no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cheaper</a:t>
                      </a:r>
                      <a:r>
                        <a:rPr sz="9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path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10" dirty="0">
                          <a:latin typeface="Times New Roman"/>
                          <a:cs typeface="Times New Roman"/>
                        </a:rPr>
                        <a:t>exists)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2250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950" dirty="0">
                          <a:latin typeface="Times New Roman"/>
                          <a:cs typeface="Times New Roman"/>
                        </a:rPr>
                        <a:t>Alternative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10" dirty="0">
                          <a:latin typeface="Times New Roman"/>
                          <a:cs typeface="Times New Roman"/>
                        </a:rPr>
                        <a:t>equal-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cost</a:t>
                      </a:r>
                      <a:r>
                        <a:rPr sz="95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path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950" dirty="0">
                          <a:latin typeface="Times New Roman"/>
                          <a:cs typeface="Times New Roman"/>
                        </a:rPr>
                        <a:t>(0,0)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→</a:t>
                      </a:r>
                      <a:r>
                        <a:rPr sz="9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(0,1)</a:t>
                      </a:r>
                      <a:r>
                        <a:rPr sz="9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→</a:t>
                      </a:r>
                      <a:r>
                        <a:rPr sz="9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(0,2)</a:t>
                      </a:r>
                      <a:r>
                        <a:rPr sz="9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→</a:t>
                      </a:r>
                      <a:r>
                        <a:rPr sz="9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(1,2)</a:t>
                      </a:r>
                      <a:r>
                        <a:rPr sz="9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→</a:t>
                      </a:r>
                      <a:r>
                        <a:rPr sz="9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(2,2)</a:t>
                      </a:r>
                      <a:r>
                        <a:rPr sz="9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→</a:t>
                      </a:r>
                      <a:r>
                        <a:rPr sz="9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(2,3)</a:t>
                      </a:r>
                      <a:r>
                        <a:rPr sz="9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→</a:t>
                      </a:r>
                      <a:r>
                        <a:rPr sz="9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(2,4)</a:t>
                      </a:r>
                      <a:r>
                        <a:rPr sz="9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→</a:t>
                      </a:r>
                      <a:r>
                        <a:rPr sz="9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(3,4)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→</a:t>
                      </a:r>
                      <a:r>
                        <a:rPr sz="95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(4,4),</a:t>
                      </a:r>
                      <a:r>
                        <a:rPr sz="9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also</a:t>
                      </a:r>
                      <a:r>
                        <a:rPr sz="9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cost</a:t>
                      </a:r>
                      <a:r>
                        <a:rPr sz="9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50" dirty="0">
                          <a:latin typeface="Times New Roman"/>
                          <a:cs typeface="Times New Roman"/>
                        </a:rPr>
                        <a:t>8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719327" y="6807072"/>
          <a:ext cx="6203950" cy="11042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5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58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345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0345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950" b="1" spc="-10" dirty="0">
                          <a:latin typeface="Times New Roman"/>
                          <a:cs typeface="Times New Roman"/>
                        </a:rPr>
                        <a:t>Property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1F3863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950" b="1" spc="-25" dirty="0">
                          <a:latin typeface="Times New Roman"/>
                          <a:cs typeface="Times New Roman"/>
                        </a:rPr>
                        <a:t>BFS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1F3863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950" b="1" dirty="0">
                          <a:latin typeface="Times New Roman"/>
                          <a:cs typeface="Times New Roman"/>
                        </a:rPr>
                        <a:t>A*</a:t>
                      </a:r>
                      <a:r>
                        <a:rPr sz="950" b="1" spc="-10" dirty="0">
                          <a:latin typeface="Times New Roman"/>
                          <a:cs typeface="Times New Roman"/>
                        </a:rPr>
                        <a:t> (Manhattan)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1F38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0345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950" spc="-10" dirty="0">
                          <a:latin typeface="Times New Roman"/>
                          <a:cs typeface="Times New Roman"/>
                        </a:rPr>
                        <a:t>Frontier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950" dirty="0">
                          <a:latin typeface="Times New Roman"/>
                          <a:cs typeface="Times New Roman"/>
                        </a:rPr>
                        <a:t>FIFO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10" dirty="0">
                          <a:latin typeface="Times New Roman"/>
                          <a:cs typeface="Times New Roman"/>
                        </a:rPr>
                        <a:t>queue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950" dirty="0">
                          <a:latin typeface="Times New Roman"/>
                          <a:cs typeface="Times New Roman"/>
                        </a:rPr>
                        <a:t>Priority</a:t>
                      </a:r>
                      <a:r>
                        <a:rPr sz="95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queue</a:t>
                      </a:r>
                      <a:r>
                        <a:rPr sz="9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on f</a:t>
                      </a:r>
                      <a:r>
                        <a:rPr sz="9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= g</a:t>
                      </a:r>
                      <a:r>
                        <a:rPr sz="95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+</a:t>
                      </a:r>
                      <a:r>
                        <a:rPr sz="95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50" dirty="0">
                          <a:latin typeface="Times New Roman"/>
                          <a:cs typeface="Times New Roman"/>
                        </a:rPr>
                        <a:t>h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0979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950" dirty="0">
                          <a:latin typeface="Times New Roman"/>
                          <a:cs typeface="Times New Roman"/>
                        </a:rPr>
                        <a:t>Nodes</a:t>
                      </a:r>
                      <a:r>
                        <a:rPr sz="95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10" dirty="0">
                          <a:latin typeface="Times New Roman"/>
                          <a:cs typeface="Times New Roman"/>
                        </a:rPr>
                        <a:t>expanded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950" spc="-25" dirty="0">
                          <a:latin typeface="Times New Roman"/>
                          <a:cs typeface="Times New Roman"/>
                        </a:rPr>
                        <a:t>19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950" spc="-50" dirty="0">
                          <a:latin typeface="Times New Roman"/>
                          <a:cs typeface="Times New Roman"/>
                        </a:rPr>
                        <a:t>9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0345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950" dirty="0">
                          <a:latin typeface="Times New Roman"/>
                          <a:cs typeface="Times New Roman"/>
                        </a:rPr>
                        <a:t>Path</a:t>
                      </a:r>
                      <a:r>
                        <a:rPr sz="9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cost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950" dirty="0">
                          <a:latin typeface="Times New Roman"/>
                          <a:cs typeface="Times New Roman"/>
                        </a:rPr>
                        <a:t>8 </a:t>
                      </a:r>
                      <a:r>
                        <a:rPr sz="950" spc="-10" dirty="0">
                          <a:latin typeface="Times New Roman"/>
                          <a:cs typeface="Times New Roman"/>
                        </a:rPr>
                        <a:t>(optimal)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950" dirty="0">
                          <a:latin typeface="Times New Roman"/>
                          <a:cs typeface="Times New Roman"/>
                        </a:rPr>
                        <a:t>8 </a:t>
                      </a:r>
                      <a:r>
                        <a:rPr sz="950" spc="-10" dirty="0">
                          <a:latin typeface="Times New Roman"/>
                          <a:cs typeface="Times New Roman"/>
                        </a:rPr>
                        <a:t>(optimal)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2250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950" dirty="0">
                          <a:latin typeface="Times New Roman"/>
                          <a:cs typeface="Times New Roman"/>
                        </a:rPr>
                        <a:t>Complete</a:t>
                      </a:r>
                      <a:r>
                        <a:rPr sz="95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sz="9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10" dirty="0">
                          <a:latin typeface="Times New Roman"/>
                          <a:cs typeface="Times New Roman"/>
                        </a:rPr>
                        <a:t>Optimal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950" dirty="0">
                          <a:latin typeface="Times New Roman"/>
                          <a:cs typeface="Times New Roman"/>
                        </a:rPr>
                        <a:t>Yes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sz="9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Yes</a:t>
                      </a:r>
                      <a:r>
                        <a:rPr sz="9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(unit</a:t>
                      </a:r>
                      <a:r>
                        <a:rPr sz="9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10" dirty="0">
                          <a:latin typeface="Times New Roman"/>
                          <a:cs typeface="Times New Roman"/>
                        </a:rPr>
                        <a:t>costs)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950" dirty="0">
                          <a:latin typeface="Times New Roman"/>
                          <a:cs typeface="Times New Roman"/>
                        </a:rPr>
                        <a:t>Yes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sz="9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Yes</a:t>
                      </a:r>
                      <a:r>
                        <a:rPr sz="9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(admissible,</a:t>
                      </a:r>
                      <a:r>
                        <a:rPr sz="9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10" dirty="0">
                          <a:latin typeface="Times New Roman"/>
                          <a:cs typeface="Times New Roman"/>
                        </a:rPr>
                        <a:t>consistent</a:t>
                      </a:r>
                      <a:r>
                        <a:rPr sz="9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35" dirty="0">
                          <a:latin typeface="Times New Roman"/>
                          <a:cs typeface="Times New Roman"/>
                        </a:rPr>
                        <a:t>h)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01040" y="976883"/>
            <a:ext cx="6158230" cy="9525"/>
          </a:xfrm>
          <a:custGeom>
            <a:avLst/>
            <a:gdLst/>
            <a:ahLst/>
            <a:cxnLst/>
            <a:rect l="l" t="t" r="r" b="b"/>
            <a:pathLst>
              <a:path w="6158230" h="9525">
                <a:moveTo>
                  <a:pt x="6158230" y="0"/>
                </a:moveTo>
                <a:lnTo>
                  <a:pt x="0" y="0"/>
                </a:lnTo>
                <a:lnTo>
                  <a:pt x="0" y="9144"/>
                </a:lnTo>
                <a:lnTo>
                  <a:pt x="6158230" y="9144"/>
                </a:lnTo>
                <a:lnTo>
                  <a:pt x="6158230" y="0"/>
                </a:lnTo>
                <a:close/>
              </a:path>
            </a:pathLst>
          </a:custGeom>
          <a:solidFill>
            <a:srgbClr val="1F386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06627" y="694435"/>
            <a:ext cx="5019040" cy="6369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latin typeface="Times New Roman"/>
                <a:cs typeface="Times New Roman"/>
              </a:rPr>
              <a:t>Question</a:t>
            </a:r>
            <a:r>
              <a:rPr sz="1500" b="1" spc="-25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3:</a:t>
            </a:r>
            <a:r>
              <a:rPr sz="1500" b="1" spc="-20" dirty="0">
                <a:latin typeface="Times New Roman"/>
                <a:cs typeface="Times New Roman"/>
              </a:rPr>
              <a:t> </a:t>
            </a:r>
            <a:r>
              <a:rPr sz="1500" b="1" spc="-10" dirty="0">
                <a:latin typeface="Times New Roman"/>
                <a:cs typeface="Times New Roman"/>
              </a:rPr>
              <a:t>Autonomous</a:t>
            </a:r>
            <a:r>
              <a:rPr sz="1500" b="1" spc="-30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Rescue</a:t>
            </a:r>
            <a:r>
              <a:rPr sz="1500" b="1" spc="-25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Robot</a:t>
            </a:r>
            <a:r>
              <a:rPr sz="1500" b="1" spc="-25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in</a:t>
            </a:r>
            <a:r>
              <a:rPr sz="1500" b="1" spc="-35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a</a:t>
            </a:r>
            <a:r>
              <a:rPr sz="1500" b="1" spc="-25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Disaster</a:t>
            </a:r>
            <a:r>
              <a:rPr sz="1500" b="1" spc="-25" dirty="0">
                <a:latin typeface="Times New Roman"/>
                <a:cs typeface="Times New Roman"/>
              </a:rPr>
              <a:t> </a:t>
            </a:r>
            <a:r>
              <a:rPr sz="1500" b="1" spc="-10" dirty="0">
                <a:latin typeface="Times New Roman"/>
                <a:cs typeface="Times New Roman"/>
              </a:rPr>
              <a:t>Building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10"/>
              </a:spcBef>
            </a:pPr>
            <a:r>
              <a:rPr sz="1250" b="1" dirty="0">
                <a:latin typeface="Times New Roman"/>
                <a:cs typeface="Times New Roman"/>
              </a:rPr>
              <a:t>a)</a:t>
            </a:r>
            <a:r>
              <a:rPr sz="1250" b="1" spc="-20" dirty="0">
                <a:latin typeface="Times New Roman"/>
                <a:cs typeface="Times New Roman"/>
              </a:rPr>
              <a:t> </a:t>
            </a:r>
            <a:r>
              <a:rPr sz="1250" b="1" dirty="0">
                <a:latin typeface="Times New Roman"/>
                <a:cs typeface="Times New Roman"/>
              </a:rPr>
              <a:t>Analysis</a:t>
            </a:r>
            <a:r>
              <a:rPr sz="1250" b="1" spc="-10" dirty="0">
                <a:latin typeface="Times New Roman"/>
                <a:cs typeface="Times New Roman"/>
              </a:rPr>
              <a:t> </a:t>
            </a:r>
            <a:r>
              <a:rPr sz="1250" b="1" dirty="0">
                <a:latin typeface="Times New Roman"/>
                <a:cs typeface="Times New Roman"/>
              </a:rPr>
              <a:t>of</a:t>
            </a:r>
            <a:r>
              <a:rPr sz="1250" b="1" spc="-20" dirty="0">
                <a:latin typeface="Times New Roman"/>
                <a:cs typeface="Times New Roman"/>
              </a:rPr>
              <a:t> </a:t>
            </a:r>
            <a:r>
              <a:rPr sz="1250" b="1" dirty="0">
                <a:latin typeface="Times New Roman"/>
                <a:cs typeface="Times New Roman"/>
              </a:rPr>
              <a:t>the</a:t>
            </a:r>
            <a:r>
              <a:rPr sz="1250" b="1" spc="-20" dirty="0">
                <a:latin typeface="Times New Roman"/>
                <a:cs typeface="Times New Roman"/>
              </a:rPr>
              <a:t> </a:t>
            </a:r>
            <a:r>
              <a:rPr sz="1250" b="1" spc="-10" dirty="0">
                <a:latin typeface="Times New Roman"/>
                <a:cs typeface="Times New Roman"/>
              </a:rPr>
              <a:t>constraints</a:t>
            </a:r>
            <a:r>
              <a:rPr sz="1250" b="1" spc="-20" dirty="0">
                <a:latin typeface="Times New Roman"/>
                <a:cs typeface="Times New Roman"/>
              </a:rPr>
              <a:t> </a:t>
            </a:r>
            <a:r>
              <a:rPr sz="1250" b="1" dirty="0">
                <a:latin typeface="Times New Roman"/>
                <a:cs typeface="Times New Roman"/>
              </a:rPr>
              <a:t>and</a:t>
            </a:r>
            <a:r>
              <a:rPr sz="1250" b="1" spc="-15" dirty="0">
                <a:latin typeface="Times New Roman"/>
                <a:cs typeface="Times New Roman"/>
              </a:rPr>
              <a:t> </a:t>
            </a:r>
            <a:r>
              <a:rPr sz="1250" b="1" dirty="0">
                <a:latin typeface="Times New Roman"/>
                <a:cs typeface="Times New Roman"/>
              </a:rPr>
              <a:t>their</a:t>
            </a:r>
            <a:r>
              <a:rPr sz="1250" b="1" spc="-20" dirty="0">
                <a:latin typeface="Times New Roman"/>
                <a:cs typeface="Times New Roman"/>
              </a:rPr>
              <a:t> </a:t>
            </a:r>
            <a:r>
              <a:rPr sz="1250" b="1" dirty="0">
                <a:latin typeface="Times New Roman"/>
                <a:cs typeface="Times New Roman"/>
              </a:rPr>
              <a:t>effect</a:t>
            </a:r>
            <a:r>
              <a:rPr sz="1250" b="1" spc="-30" dirty="0">
                <a:latin typeface="Times New Roman"/>
                <a:cs typeface="Times New Roman"/>
              </a:rPr>
              <a:t> </a:t>
            </a:r>
            <a:r>
              <a:rPr sz="1250" b="1" dirty="0">
                <a:latin typeface="Times New Roman"/>
                <a:cs typeface="Times New Roman"/>
              </a:rPr>
              <a:t>on</a:t>
            </a:r>
            <a:r>
              <a:rPr sz="1250" b="1" spc="-20" dirty="0">
                <a:latin typeface="Times New Roman"/>
                <a:cs typeface="Times New Roman"/>
              </a:rPr>
              <a:t> </a:t>
            </a:r>
            <a:r>
              <a:rPr sz="1250" b="1" dirty="0">
                <a:latin typeface="Times New Roman"/>
                <a:cs typeface="Times New Roman"/>
              </a:rPr>
              <a:t>decision</a:t>
            </a:r>
            <a:r>
              <a:rPr sz="1250" b="1" spc="-20" dirty="0">
                <a:latin typeface="Times New Roman"/>
                <a:cs typeface="Times New Roman"/>
              </a:rPr>
              <a:t> </a:t>
            </a:r>
            <a:r>
              <a:rPr sz="1250" b="1" spc="-10" dirty="0">
                <a:latin typeface="Times New Roman"/>
                <a:cs typeface="Times New Roman"/>
              </a:rPr>
              <a:t>making</a:t>
            </a:r>
            <a:endParaRPr sz="1250">
              <a:latin typeface="Times New Roman"/>
              <a:cs typeface="Times New Roman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719327" y="1397761"/>
          <a:ext cx="6121400" cy="30727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961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52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0345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950" b="1" spc="-10" dirty="0">
                          <a:latin typeface="Times New Roman"/>
                          <a:cs typeface="Times New Roman"/>
                        </a:rPr>
                        <a:t>Constraint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1F3863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950" b="1" dirty="0">
                          <a:latin typeface="Times New Roman"/>
                          <a:cs typeface="Times New Roman"/>
                        </a:rPr>
                        <a:t>Effect</a:t>
                      </a:r>
                      <a:r>
                        <a:rPr sz="95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b="1" dirty="0"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sz="95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b="1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950" b="1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b="1" dirty="0">
                          <a:latin typeface="Times New Roman"/>
                          <a:cs typeface="Times New Roman"/>
                        </a:rPr>
                        <a:t>robot’s</a:t>
                      </a:r>
                      <a:r>
                        <a:rPr sz="95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b="1" spc="-10" dirty="0">
                          <a:latin typeface="Times New Roman"/>
                          <a:cs typeface="Times New Roman"/>
                        </a:rPr>
                        <a:t>decisions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1F38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81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57785" marR="396875">
                        <a:lnSpc>
                          <a:spcPts val="1090"/>
                        </a:lnSpc>
                      </a:pPr>
                      <a:r>
                        <a:rPr sz="950" dirty="0">
                          <a:latin typeface="Times New Roman"/>
                          <a:cs typeface="Times New Roman"/>
                        </a:rPr>
                        <a:t>Partially</a:t>
                      </a:r>
                      <a:r>
                        <a:rPr sz="95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observable</a:t>
                      </a:r>
                      <a:r>
                        <a:rPr sz="95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10" dirty="0">
                          <a:latin typeface="Times New Roman"/>
                          <a:cs typeface="Times New Roman"/>
                        </a:rPr>
                        <a:t>environment;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sensing</a:t>
                      </a:r>
                      <a:r>
                        <a:rPr sz="95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only</a:t>
                      </a:r>
                      <a:r>
                        <a:rPr sz="9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adjacent</a:t>
                      </a:r>
                      <a:r>
                        <a:rPr sz="95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10" dirty="0">
                          <a:latin typeface="Times New Roman"/>
                          <a:cs typeface="Times New Roman"/>
                        </a:rPr>
                        <a:t>cells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4445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 marR="56515">
                        <a:lnSpc>
                          <a:spcPts val="1090"/>
                        </a:lnSpc>
                        <a:spcBef>
                          <a:spcPts val="350"/>
                        </a:spcBef>
                      </a:pPr>
                      <a:r>
                        <a:rPr sz="95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9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robot</a:t>
                      </a:r>
                      <a:r>
                        <a:rPr sz="9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cannot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10" dirty="0">
                          <a:latin typeface="Times New Roman"/>
                          <a:cs typeface="Times New Roman"/>
                        </a:rPr>
                        <a:t>compute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full</a:t>
                      </a:r>
                      <a:r>
                        <a:rPr sz="9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plan</a:t>
                      </a:r>
                      <a:r>
                        <a:rPr sz="9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95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advance.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It</a:t>
                      </a:r>
                      <a:r>
                        <a:rPr sz="9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must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keep</a:t>
                      </a:r>
                      <a:r>
                        <a:rPr sz="9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an</a:t>
                      </a:r>
                      <a:r>
                        <a:rPr sz="9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internal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25" dirty="0">
                          <a:latin typeface="Times New Roman"/>
                          <a:cs typeface="Times New Roman"/>
                        </a:rPr>
                        <a:t>map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(belief</a:t>
                      </a:r>
                      <a:r>
                        <a:rPr sz="9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state)</a:t>
                      </a:r>
                      <a:r>
                        <a:rPr sz="9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what</a:t>
                      </a:r>
                      <a:r>
                        <a:rPr sz="9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it</a:t>
                      </a:r>
                      <a:r>
                        <a:rPr sz="9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has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seen,</a:t>
                      </a:r>
                      <a:r>
                        <a:rPr sz="9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treat</a:t>
                      </a:r>
                      <a:r>
                        <a:rPr sz="9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unseen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cells</a:t>
                      </a:r>
                      <a:r>
                        <a:rPr sz="9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as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10" dirty="0">
                          <a:latin typeface="Times New Roman"/>
                          <a:cs typeface="Times New Roman"/>
                        </a:rPr>
                        <a:t>unknown,</a:t>
                      </a:r>
                      <a:r>
                        <a:rPr sz="9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9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decide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10" dirty="0">
                          <a:latin typeface="Times New Roman"/>
                          <a:cs typeface="Times New Roman"/>
                        </a:rPr>
                        <a:t>using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incomplete</a:t>
                      </a:r>
                      <a:r>
                        <a:rPr sz="95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information.</a:t>
                      </a:r>
                      <a:r>
                        <a:rPr sz="95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This</a:t>
                      </a:r>
                      <a:r>
                        <a:rPr sz="95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makes</a:t>
                      </a:r>
                      <a:r>
                        <a:rPr sz="95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95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problem</a:t>
                      </a:r>
                      <a:r>
                        <a:rPr sz="95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an</a:t>
                      </a:r>
                      <a:r>
                        <a:rPr sz="9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online</a:t>
                      </a:r>
                      <a:r>
                        <a:rPr sz="95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search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sz="95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10" dirty="0">
                          <a:latin typeface="Times New Roman"/>
                          <a:cs typeface="Times New Roman"/>
                        </a:rPr>
                        <a:t>exploration problem.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4445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410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950" dirty="0">
                          <a:latin typeface="Times New Roman"/>
                          <a:cs typeface="Times New Roman"/>
                        </a:rPr>
                        <a:t>Moves:</a:t>
                      </a:r>
                      <a:r>
                        <a:rPr sz="95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Up,</a:t>
                      </a:r>
                      <a:r>
                        <a:rPr sz="9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Down,</a:t>
                      </a:r>
                      <a:r>
                        <a:rPr sz="9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Left,</a:t>
                      </a:r>
                      <a:r>
                        <a:rPr sz="9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Right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10160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marL="57785" marR="260985">
                        <a:lnSpc>
                          <a:spcPts val="1090"/>
                        </a:lnSpc>
                        <a:spcBef>
                          <a:spcPts val="340"/>
                        </a:spcBef>
                      </a:pPr>
                      <a:r>
                        <a:rPr sz="950" dirty="0">
                          <a:latin typeface="Times New Roman"/>
                          <a:cs typeface="Times New Roman"/>
                        </a:rPr>
                        <a:t>Defines</a:t>
                      </a:r>
                      <a:r>
                        <a:rPr sz="9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action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set</a:t>
                      </a:r>
                      <a:r>
                        <a:rPr sz="9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(branching</a:t>
                      </a:r>
                      <a:r>
                        <a:rPr sz="9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factor</a:t>
                      </a:r>
                      <a:r>
                        <a:rPr sz="9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≤</a:t>
                      </a:r>
                      <a:r>
                        <a:rPr sz="9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4)</a:t>
                      </a:r>
                      <a:r>
                        <a:rPr sz="9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9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9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discrete</a:t>
                      </a:r>
                      <a:r>
                        <a:rPr sz="9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4-connected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10" dirty="0">
                          <a:latin typeface="Times New Roman"/>
                          <a:cs typeface="Times New Roman"/>
                        </a:rPr>
                        <a:t>state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space.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Manhattan</a:t>
                      </a:r>
                      <a:r>
                        <a:rPr sz="9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distance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95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G</a:t>
                      </a:r>
                      <a:r>
                        <a:rPr sz="95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9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usable,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10" dirty="0">
                          <a:latin typeface="Times New Roman"/>
                          <a:cs typeface="Times New Roman"/>
                        </a:rPr>
                        <a:t>admissible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10" dirty="0">
                          <a:latin typeface="Times New Roman"/>
                          <a:cs typeface="Times New Roman"/>
                        </a:rPr>
                        <a:t>heuristic.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4318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7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57785">
                        <a:lnSpc>
                          <a:spcPct val="100000"/>
                        </a:lnSpc>
                      </a:pPr>
                      <a:r>
                        <a:rPr sz="950" dirty="0">
                          <a:latin typeface="Times New Roman"/>
                          <a:cs typeface="Times New Roman"/>
                        </a:rPr>
                        <a:t>Blocked</a:t>
                      </a:r>
                      <a:r>
                        <a:rPr sz="95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cells</a:t>
                      </a:r>
                      <a:r>
                        <a:rPr sz="95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10" dirty="0">
                          <a:latin typeface="Times New Roman"/>
                          <a:cs typeface="Times New Roman"/>
                        </a:rPr>
                        <a:t>(obstacles)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 marR="102235">
                        <a:lnSpc>
                          <a:spcPts val="1090"/>
                        </a:lnSpc>
                        <a:spcBef>
                          <a:spcPts val="340"/>
                        </a:spcBef>
                      </a:pPr>
                      <a:r>
                        <a:rPr sz="950" dirty="0">
                          <a:latin typeface="Times New Roman"/>
                          <a:cs typeface="Times New Roman"/>
                        </a:rPr>
                        <a:t>Remove</a:t>
                      </a:r>
                      <a:r>
                        <a:rPr sz="95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actions</a:t>
                      </a:r>
                      <a:r>
                        <a:rPr sz="9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from</a:t>
                      </a:r>
                      <a:r>
                        <a:rPr sz="95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9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state</a:t>
                      </a:r>
                      <a:r>
                        <a:rPr sz="95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space.</a:t>
                      </a:r>
                      <a:r>
                        <a:rPr sz="9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Newly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sensed</a:t>
                      </a:r>
                      <a:r>
                        <a:rPr sz="95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10" dirty="0">
                          <a:latin typeface="Times New Roman"/>
                          <a:cs typeface="Times New Roman"/>
                        </a:rPr>
                        <a:t>obstacles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invalidate</a:t>
                      </a:r>
                      <a:r>
                        <a:rPr sz="95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25" dirty="0">
                          <a:latin typeface="Times New Roman"/>
                          <a:cs typeface="Times New Roman"/>
                        </a:rPr>
                        <a:t>the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current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plan,</a:t>
                      </a:r>
                      <a:r>
                        <a:rPr sz="9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so</a:t>
                      </a:r>
                      <a:r>
                        <a:rPr sz="95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robot</a:t>
                      </a:r>
                      <a:r>
                        <a:rPr sz="9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must</a:t>
                      </a:r>
                      <a:r>
                        <a:rPr sz="9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be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able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95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re-plan</a:t>
                      </a:r>
                      <a:r>
                        <a:rPr sz="95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10" dirty="0">
                          <a:latin typeface="Times New Roman"/>
                          <a:cs typeface="Times New Roman"/>
                        </a:rPr>
                        <a:t>sometimes</a:t>
                      </a:r>
                      <a:r>
                        <a:rPr sz="9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backtrack</a:t>
                      </a:r>
                      <a:r>
                        <a:rPr sz="9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from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dead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10" dirty="0">
                          <a:latin typeface="Times New Roman"/>
                          <a:cs typeface="Times New Roman"/>
                        </a:rPr>
                        <a:t>ends.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4318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9745">
                <a:tc>
                  <a:txBody>
                    <a:bodyPr/>
                    <a:lstStyle/>
                    <a:p>
                      <a:pPr marL="57785" marR="264160">
                        <a:lnSpc>
                          <a:spcPts val="1090"/>
                        </a:lnSpc>
                        <a:spcBef>
                          <a:spcPts val="895"/>
                        </a:spcBef>
                      </a:pPr>
                      <a:r>
                        <a:rPr sz="950" dirty="0">
                          <a:latin typeface="Times New Roman"/>
                          <a:cs typeface="Times New Roman"/>
                        </a:rPr>
                        <a:t>Move</a:t>
                      </a:r>
                      <a:r>
                        <a:rPr sz="9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cost</a:t>
                      </a:r>
                      <a:r>
                        <a:rPr sz="9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9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1;</a:t>
                      </a:r>
                      <a:r>
                        <a:rPr sz="9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entering</a:t>
                      </a:r>
                      <a:r>
                        <a:rPr sz="95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9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risky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zone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costs</a:t>
                      </a:r>
                      <a:r>
                        <a:rPr sz="95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9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+</a:t>
                      </a:r>
                      <a:r>
                        <a:rPr sz="95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sz="9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9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113665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marL="57785" marR="125730">
                        <a:lnSpc>
                          <a:spcPct val="96400"/>
                        </a:lnSpc>
                        <a:spcBef>
                          <a:spcPts val="300"/>
                        </a:spcBef>
                      </a:pPr>
                      <a:r>
                        <a:rPr sz="950" dirty="0">
                          <a:latin typeface="Times New Roman"/>
                          <a:cs typeface="Times New Roman"/>
                        </a:rPr>
                        <a:t>Path</a:t>
                      </a:r>
                      <a:r>
                        <a:rPr sz="95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cost</a:t>
                      </a:r>
                      <a:r>
                        <a:rPr sz="9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9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no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longer</a:t>
                      </a:r>
                      <a:r>
                        <a:rPr sz="9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number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steps,</a:t>
                      </a:r>
                      <a:r>
                        <a:rPr sz="95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so</a:t>
                      </a:r>
                      <a:r>
                        <a:rPr sz="95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BFS</a:t>
                      </a:r>
                      <a:r>
                        <a:rPr sz="9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9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10" dirty="0">
                          <a:latin typeface="Times New Roman"/>
                          <a:cs typeface="Times New Roman"/>
                        </a:rPr>
                        <a:t>unsuitable.</a:t>
                      </a:r>
                      <a:r>
                        <a:rPr sz="9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9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10" dirty="0">
                          <a:latin typeface="Times New Roman"/>
                          <a:cs typeface="Times New Roman"/>
                        </a:rPr>
                        <a:t>robot compares</a:t>
                      </a:r>
                      <a:r>
                        <a:rPr sz="9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cost,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not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length: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95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risky</a:t>
                      </a:r>
                      <a:r>
                        <a:rPr sz="9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cell</a:t>
                      </a:r>
                      <a:r>
                        <a:rPr sz="9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costs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as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much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as</a:t>
                      </a:r>
                      <a:r>
                        <a:rPr sz="95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three</a:t>
                      </a:r>
                      <a:r>
                        <a:rPr sz="9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normal</a:t>
                      </a:r>
                      <a:r>
                        <a:rPr sz="9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steps,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so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25" dirty="0">
                          <a:latin typeface="Times New Roman"/>
                          <a:cs typeface="Times New Roman"/>
                        </a:rPr>
                        <a:t>it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9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used</a:t>
                      </a:r>
                      <a:r>
                        <a:rPr sz="95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only</a:t>
                      </a:r>
                      <a:r>
                        <a:rPr sz="9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when</a:t>
                      </a:r>
                      <a:r>
                        <a:rPr sz="95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95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detour</a:t>
                      </a:r>
                      <a:r>
                        <a:rPr sz="9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costs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10" dirty="0">
                          <a:latin typeface="Times New Roman"/>
                          <a:cs typeface="Times New Roman"/>
                        </a:rPr>
                        <a:t>more.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7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57785">
                        <a:lnSpc>
                          <a:spcPct val="100000"/>
                        </a:lnSpc>
                      </a:pPr>
                      <a:r>
                        <a:rPr sz="950" dirty="0">
                          <a:latin typeface="Times New Roman"/>
                          <a:cs typeface="Times New Roman"/>
                        </a:rPr>
                        <a:t>Minimise</a:t>
                      </a:r>
                      <a:r>
                        <a:rPr sz="95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total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cost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safe</a:t>
                      </a:r>
                      <a:r>
                        <a:rPr sz="9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10" dirty="0">
                          <a:latin typeface="Times New Roman"/>
                          <a:cs typeface="Times New Roman"/>
                        </a:rPr>
                        <a:t>navigation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 marR="85725">
                        <a:lnSpc>
                          <a:spcPts val="1090"/>
                        </a:lnSpc>
                        <a:spcBef>
                          <a:spcPts val="340"/>
                        </a:spcBef>
                      </a:pPr>
                      <a:r>
                        <a:rPr sz="950" dirty="0">
                          <a:latin typeface="Times New Roman"/>
                          <a:cs typeface="Times New Roman"/>
                        </a:rPr>
                        <a:t>Gives</a:t>
                      </a:r>
                      <a:r>
                        <a:rPr sz="9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an</a:t>
                      </a:r>
                      <a:r>
                        <a:rPr sz="9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optimisation</a:t>
                      </a:r>
                      <a:r>
                        <a:rPr sz="9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objective</a:t>
                      </a:r>
                      <a:r>
                        <a:rPr sz="95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10" dirty="0">
                          <a:latin typeface="Times New Roman"/>
                          <a:cs typeface="Times New Roman"/>
                        </a:rPr>
                        <a:t>(least-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cost</a:t>
                      </a:r>
                      <a:r>
                        <a:rPr sz="9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path)</a:t>
                      </a:r>
                      <a:r>
                        <a:rPr sz="9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plus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9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safety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preference.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10" dirty="0">
                          <a:latin typeface="Times New Roman"/>
                          <a:cs typeface="Times New Roman"/>
                        </a:rPr>
                        <a:t>Safety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built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into</a:t>
                      </a:r>
                      <a:r>
                        <a:rPr sz="9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9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cost</a:t>
                      </a:r>
                      <a:r>
                        <a:rPr sz="95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function: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risky</a:t>
                      </a:r>
                      <a:r>
                        <a:rPr sz="9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cells</a:t>
                      </a:r>
                      <a:r>
                        <a:rPr sz="9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are</a:t>
                      </a:r>
                      <a:r>
                        <a:rPr sz="9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10" dirty="0">
                          <a:latin typeface="Times New Roman"/>
                          <a:cs typeface="Times New Roman"/>
                        </a:rPr>
                        <a:t>penalised</a:t>
                      </a:r>
                      <a:r>
                        <a:rPr sz="95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heavily,</a:t>
                      </a:r>
                      <a:r>
                        <a:rPr sz="95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9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cells</a:t>
                      </a:r>
                      <a:r>
                        <a:rPr sz="9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10" dirty="0">
                          <a:latin typeface="Times New Roman"/>
                          <a:cs typeface="Times New Roman"/>
                        </a:rPr>
                        <a:t>known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9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be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blocked</a:t>
                      </a:r>
                      <a:r>
                        <a:rPr sz="9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are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never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10" dirty="0">
                          <a:latin typeface="Times New Roman"/>
                          <a:cs typeface="Times New Roman"/>
                        </a:rPr>
                        <a:t>entered.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4318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9410">
                <a:tc>
                  <a:txBody>
                    <a:bodyPr/>
                    <a:lstStyle/>
                    <a:p>
                      <a:pPr marL="57785" marR="304800">
                        <a:lnSpc>
                          <a:spcPts val="1090"/>
                        </a:lnSpc>
                        <a:spcBef>
                          <a:spcPts val="340"/>
                        </a:spcBef>
                      </a:pPr>
                      <a:r>
                        <a:rPr sz="950" dirty="0">
                          <a:latin typeface="Times New Roman"/>
                          <a:cs typeface="Times New Roman"/>
                        </a:rPr>
                        <a:t>Dynamic</a:t>
                      </a:r>
                      <a:r>
                        <a:rPr sz="95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knowledge</a:t>
                      </a:r>
                      <a:r>
                        <a:rPr sz="95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update</a:t>
                      </a:r>
                      <a:r>
                        <a:rPr sz="95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10" dirty="0">
                          <a:latin typeface="Times New Roman"/>
                          <a:cs typeface="Times New Roman"/>
                        </a:rPr>
                        <a:t>(online search)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4318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ts val="1115"/>
                        </a:lnSpc>
                        <a:spcBef>
                          <a:spcPts val="260"/>
                        </a:spcBef>
                      </a:pPr>
                      <a:r>
                        <a:rPr sz="950" dirty="0">
                          <a:latin typeface="Times New Roman"/>
                          <a:cs typeface="Times New Roman"/>
                        </a:rPr>
                        <a:t>Planning</a:t>
                      </a:r>
                      <a:r>
                        <a:rPr sz="95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9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acting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are</a:t>
                      </a:r>
                      <a:r>
                        <a:rPr sz="9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interleaved: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sense</a:t>
                      </a:r>
                      <a:r>
                        <a:rPr sz="95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→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update</a:t>
                      </a:r>
                      <a:r>
                        <a:rPr sz="9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map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→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plan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→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act</a:t>
                      </a:r>
                      <a:r>
                        <a:rPr sz="95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one</a:t>
                      </a:r>
                      <a:r>
                        <a:rPr sz="95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step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57785">
                        <a:lnSpc>
                          <a:spcPts val="1115"/>
                        </a:lnSpc>
                      </a:pPr>
                      <a:r>
                        <a:rPr sz="950" dirty="0">
                          <a:latin typeface="Times New Roman"/>
                          <a:cs typeface="Times New Roman"/>
                        </a:rPr>
                        <a:t>→</a:t>
                      </a:r>
                      <a:r>
                        <a:rPr sz="9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repeat.</a:t>
                      </a:r>
                      <a:r>
                        <a:rPr sz="9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9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agent</a:t>
                      </a:r>
                      <a:r>
                        <a:rPr sz="9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needs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memory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(map,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costs)</a:t>
                      </a:r>
                      <a:r>
                        <a:rPr sz="95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9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95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policy</a:t>
                      </a:r>
                      <a:r>
                        <a:rPr sz="95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9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unknown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10" dirty="0">
                          <a:latin typeface="Times New Roman"/>
                          <a:cs typeface="Times New Roman"/>
                        </a:rPr>
                        <a:t>cells.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706627" y="4653508"/>
            <a:ext cx="6061075" cy="19780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2705">
              <a:lnSpc>
                <a:spcPct val="110300"/>
              </a:lnSpc>
              <a:spcBef>
                <a:spcPts val="95"/>
              </a:spcBef>
            </a:pPr>
            <a:r>
              <a:rPr sz="1100" b="1" dirty="0">
                <a:latin typeface="Times New Roman"/>
                <a:cs typeface="Times New Roman"/>
              </a:rPr>
              <a:t>Priority</a:t>
            </a:r>
            <a:r>
              <a:rPr sz="1100" b="1" spc="-2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of</a:t>
            </a:r>
            <a:r>
              <a:rPr sz="1100" b="1" spc="-1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the</a:t>
            </a:r>
            <a:r>
              <a:rPr sz="1100" b="1" spc="-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constraints</a:t>
            </a:r>
            <a:r>
              <a:rPr sz="1100" b="1" spc="-2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(most</a:t>
            </a:r>
            <a:r>
              <a:rPr sz="1100" b="1" spc="-1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to</a:t>
            </a:r>
            <a:r>
              <a:rPr sz="1100" b="1" spc="-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least</a:t>
            </a:r>
            <a:r>
              <a:rPr sz="1100" b="1" spc="-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binding): </a:t>
            </a:r>
            <a:r>
              <a:rPr sz="1100" dirty="0">
                <a:latin typeface="Times New Roman"/>
                <a:cs typeface="Times New Roman"/>
              </a:rPr>
              <a:t>(1)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obstacles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/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safety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–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hard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constraints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that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can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never </a:t>
            </a:r>
            <a:r>
              <a:rPr sz="1100" dirty="0">
                <a:latin typeface="Times New Roman"/>
                <a:cs typeface="Times New Roman"/>
              </a:rPr>
              <a:t>be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violated; (2)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partial observability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–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shapes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type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algorithm; (3)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cost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minimisation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risk </a:t>
            </a:r>
            <a:r>
              <a:rPr sz="1100" dirty="0">
                <a:latin typeface="Times New Roman"/>
                <a:cs typeface="Times New Roman"/>
              </a:rPr>
              <a:t>penalty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–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decides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between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feasible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paths;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(4)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move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set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–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defines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neighbourhood.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Hard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constraints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are </a:t>
            </a:r>
            <a:r>
              <a:rPr sz="1100" dirty="0">
                <a:latin typeface="Times New Roman"/>
                <a:cs typeface="Times New Roman"/>
              </a:rPr>
              <a:t>filtered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first, then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cheapest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feasible option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 </a:t>
            </a:r>
            <a:r>
              <a:rPr sz="1100" spc="-10" dirty="0">
                <a:latin typeface="Times New Roman"/>
                <a:cs typeface="Times New Roman"/>
              </a:rPr>
              <a:t>chosen.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50" b="1" dirty="0">
                <a:latin typeface="Times New Roman"/>
                <a:cs typeface="Times New Roman"/>
              </a:rPr>
              <a:t>b)</a:t>
            </a:r>
            <a:r>
              <a:rPr sz="1250" b="1" spc="-20" dirty="0">
                <a:latin typeface="Times New Roman"/>
                <a:cs typeface="Times New Roman"/>
              </a:rPr>
              <a:t> </a:t>
            </a:r>
            <a:r>
              <a:rPr sz="1250" b="1" dirty="0">
                <a:latin typeface="Times New Roman"/>
                <a:cs typeface="Times New Roman"/>
              </a:rPr>
              <a:t>Solution</a:t>
            </a:r>
            <a:r>
              <a:rPr sz="1250" b="1" spc="-25" dirty="0">
                <a:latin typeface="Times New Roman"/>
                <a:cs typeface="Times New Roman"/>
              </a:rPr>
              <a:t> </a:t>
            </a:r>
            <a:r>
              <a:rPr sz="1250" b="1" dirty="0">
                <a:latin typeface="Times New Roman"/>
                <a:cs typeface="Times New Roman"/>
              </a:rPr>
              <a:t>approach:</a:t>
            </a:r>
            <a:r>
              <a:rPr sz="1250" b="1" spc="-15" dirty="0">
                <a:latin typeface="Times New Roman"/>
                <a:cs typeface="Times New Roman"/>
              </a:rPr>
              <a:t> </a:t>
            </a:r>
            <a:r>
              <a:rPr sz="1250" b="1" dirty="0">
                <a:latin typeface="Times New Roman"/>
                <a:cs typeface="Times New Roman"/>
              </a:rPr>
              <a:t>Online</a:t>
            </a:r>
            <a:r>
              <a:rPr sz="1250" b="1" spc="-25" dirty="0">
                <a:latin typeface="Times New Roman"/>
                <a:cs typeface="Times New Roman"/>
              </a:rPr>
              <a:t> </a:t>
            </a:r>
            <a:r>
              <a:rPr sz="1250" b="1" spc="-10" dirty="0">
                <a:latin typeface="Times New Roman"/>
                <a:cs typeface="Times New Roman"/>
              </a:rPr>
              <a:t>Uniform-</a:t>
            </a:r>
            <a:r>
              <a:rPr sz="1250" b="1" dirty="0">
                <a:latin typeface="Times New Roman"/>
                <a:cs typeface="Times New Roman"/>
              </a:rPr>
              <a:t>Cost</a:t>
            </a:r>
            <a:r>
              <a:rPr sz="1250" b="1" spc="-15" dirty="0">
                <a:latin typeface="Times New Roman"/>
                <a:cs typeface="Times New Roman"/>
              </a:rPr>
              <a:t> </a:t>
            </a:r>
            <a:r>
              <a:rPr sz="1250" b="1" dirty="0">
                <a:latin typeface="Times New Roman"/>
                <a:cs typeface="Times New Roman"/>
              </a:rPr>
              <a:t>/</a:t>
            </a:r>
            <a:r>
              <a:rPr sz="1250" b="1" spc="-35" dirty="0">
                <a:latin typeface="Times New Roman"/>
                <a:cs typeface="Times New Roman"/>
              </a:rPr>
              <a:t> </a:t>
            </a:r>
            <a:r>
              <a:rPr sz="1250" b="1" dirty="0">
                <a:latin typeface="Times New Roman"/>
                <a:cs typeface="Times New Roman"/>
              </a:rPr>
              <a:t>A*</a:t>
            </a:r>
            <a:r>
              <a:rPr sz="1250" b="1" spc="-20" dirty="0">
                <a:latin typeface="Times New Roman"/>
                <a:cs typeface="Times New Roman"/>
              </a:rPr>
              <a:t> </a:t>
            </a:r>
            <a:r>
              <a:rPr sz="1250" b="1" dirty="0">
                <a:latin typeface="Times New Roman"/>
                <a:cs typeface="Times New Roman"/>
              </a:rPr>
              <a:t>Search</a:t>
            </a:r>
            <a:r>
              <a:rPr sz="1250" b="1" spc="-25" dirty="0">
                <a:latin typeface="Times New Roman"/>
                <a:cs typeface="Times New Roman"/>
              </a:rPr>
              <a:t> </a:t>
            </a:r>
            <a:r>
              <a:rPr sz="1250" b="1" spc="-10" dirty="0">
                <a:latin typeface="Times New Roman"/>
                <a:cs typeface="Times New Roman"/>
              </a:rPr>
              <a:t>Agent</a:t>
            </a:r>
            <a:endParaRPr sz="1250">
              <a:latin typeface="Times New Roman"/>
              <a:cs typeface="Times New Roman"/>
            </a:endParaRPr>
          </a:p>
          <a:p>
            <a:pPr marL="12700" marR="5080">
              <a:lnSpc>
                <a:spcPct val="110000"/>
              </a:lnSpc>
              <a:spcBef>
                <a:spcPts val="425"/>
              </a:spcBef>
            </a:pPr>
            <a:r>
              <a:rPr sz="1100" b="1" dirty="0">
                <a:latin typeface="Times New Roman"/>
                <a:cs typeface="Times New Roman"/>
              </a:rPr>
              <a:t>Chosen</a:t>
            </a:r>
            <a:r>
              <a:rPr sz="1100" b="1" spc="-1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strategy:</a:t>
            </a:r>
            <a:r>
              <a:rPr sz="1100" b="1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online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search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agent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that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repeatedly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runs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Uniform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Cost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Search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(or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A*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the </a:t>
            </a:r>
            <a:r>
              <a:rPr sz="1100" dirty="0">
                <a:latin typeface="Times New Roman"/>
                <a:cs typeface="Times New Roman"/>
              </a:rPr>
              <a:t>Manhattan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heuristic,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which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UCS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guided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toward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G)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its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current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known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map,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executes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only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first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step, </a:t>
            </a:r>
            <a:r>
              <a:rPr sz="1100" dirty="0">
                <a:latin typeface="Times New Roman"/>
                <a:cs typeface="Times New Roman"/>
              </a:rPr>
              <a:t>senses,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re-plans.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This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similar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spirit to D*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Lite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/ online </a:t>
            </a:r>
            <a:r>
              <a:rPr sz="1100" spc="-25" dirty="0">
                <a:latin typeface="Times New Roman"/>
                <a:cs typeface="Times New Roman"/>
              </a:rPr>
              <a:t>A*.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35"/>
              </a:spcBef>
            </a:pPr>
            <a:r>
              <a:rPr sz="1100" b="1" dirty="0">
                <a:latin typeface="Times New Roman"/>
                <a:cs typeface="Times New Roman"/>
              </a:rPr>
              <a:t>Step</a:t>
            </a:r>
            <a:r>
              <a:rPr sz="1100" b="1" spc="-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cost</a:t>
            </a:r>
            <a:r>
              <a:rPr sz="1100" b="1" spc="-15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function:</a:t>
            </a:r>
            <a:endParaRPr sz="1100">
              <a:latin typeface="Times New Roman"/>
              <a:cs typeface="Times New Roman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719327" y="6708013"/>
          <a:ext cx="6121400" cy="12433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7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4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0345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950" b="1" dirty="0">
                          <a:latin typeface="Times New Roman"/>
                          <a:cs typeface="Times New Roman"/>
                        </a:rPr>
                        <a:t>Cell</a:t>
                      </a:r>
                      <a:r>
                        <a:rPr sz="95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b="1" spc="-10" dirty="0">
                          <a:latin typeface="Times New Roman"/>
                          <a:cs typeface="Times New Roman"/>
                        </a:rPr>
                        <a:t>entered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1F3863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950" b="1" spc="-20" dirty="0">
                          <a:latin typeface="Times New Roman"/>
                          <a:cs typeface="Times New Roman"/>
                        </a:rPr>
                        <a:t>Cost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1F38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0979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950" dirty="0">
                          <a:latin typeface="Times New Roman"/>
                          <a:cs typeface="Times New Roman"/>
                        </a:rPr>
                        <a:t>Normal</a:t>
                      </a:r>
                      <a:r>
                        <a:rPr sz="9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free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cell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95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0345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950" dirty="0">
                          <a:latin typeface="Times New Roman"/>
                          <a:cs typeface="Times New Roman"/>
                        </a:rPr>
                        <a:t>Risky</a:t>
                      </a:r>
                      <a:r>
                        <a:rPr sz="9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zone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950" dirty="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95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+</a:t>
                      </a:r>
                      <a:r>
                        <a:rPr sz="95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2 =</a:t>
                      </a:r>
                      <a:r>
                        <a:rPr sz="95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2250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950" dirty="0">
                          <a:latin typeface="Times New Roman"/>
                          <a:cs typeface="Times New Roman"/>
                        </a:rPr>
                        <a:t>Blocked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cell</a:t>
                      </a:r>
                      <a:r>
                        <a:rPr sz="95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(known</a:t>
                      </a:r>
                      <a:r>
                        <a:rPr sz="95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10" dirty="0">
                          <a:latin typeface="Times New Roman"/>
                          <a:cs typeface="Times New Roman"/>
                        </a:rPr>
                        <a:t>obstacle)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950" dirty="0">
                          <a:latin typeface="Times New Roman"/>
                          <a:cs typeface="Times New Roman"/>
                        </a:rPr>
                        <a:t>∞</a:t>
                      </a:r>
                      <a:r>
                        <a:rPr sz="9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(not</a:t>
                      </a:r>
                      <a:r>
                        <a:rPr sz="95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10" dirty="0">
                          <a:latin typeface="Times New Roman"/>
                          <a:cs typeface="Times New Roman"/>
                        </a:rPr>
                        <a:t>allowed)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410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950" dirty="0">
                          <a:latin typeface="Times New Roman"/>
                          <a:cs typeface="Times New Roman"/>
                        </a:rPr>
                        <a:t>Unknown</a:t>
                      </a:r>
                      <a:r>
                        <a:rPr sz="95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cell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10160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marL="57785" marR="269240">
                        <a:lnSpc>
                          <a:spcPts val="1090"/>
                        </a:lnSpc>
                        <a:spcBef>
                          <a:spcPts val="340"/>
                        </a:spcBef>
                      </a:pPr>
                      <a:r>
                        <a:rPr sz="950" spc="-10" dirty="0">
                          <a:latin typeface="Times New Roman"/>
                          <a:cs typeface="Times New Roman"/>
                        </a:rPr>
                        <a:t>Assumed</a:t>
                      </a:r>
                      <a:r>
                        <a:rPr sz="9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free</a:t>
                      </a:r>
                      <a:r>
                        <a:rPr sz="9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(cost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1),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corrected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when</a:t>
                      </a:r>
                      <a:r>
                        <a:rPr sz="95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sensed –</a:t>
                      </a:r>
                      <a:r>
                        <a:rPr sz="9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10" dirty="0">
                          <a:latin typeface="Times New Roman"/>
                          <a:cs typeface="Times New Roman"/>
                        </a:rPr>
                        <a:t>"free-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space</a:t>
                      </a:r>
                      <a:r>
                        <a:rPr sz="95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10" dirty="0">
                          <a:latin typeface="Times New Roman"/>
                          <a:cs typeface="Times New Roman"/>
                        </a:rPr>
                        <a:t>assumption"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4318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706627" y="8069427"/>
            <a:ext cx="6139815" cy="1744980"/>
          </a:xfrm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35"/>
              </a:spcBef>
            </a:pPr>
            <a:r>
              <a:rPr sz="1100" b="1" dirty="0">
                <a:latin typeface="Times New Roman"/>
                <a:cs typeface="Times New Roman"/>
              </a:rPr>
              <a:t>Steps</a:t>
            </a:r>
            <a:r>
              <a:rPr sz="1100" b="1" spc="-1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of</a:t>
            </a:r>
            <a:r>
              <a:rPr sz="1100" b="1" spc="-1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the</a:t>
            </a:r>
            <a:r>
              <a:rPr sz="1100" b="1" spc="-10" dirty="0">
                <a:latin typeface="Times New Roman"/>
                <a:cs typeface="Times New Roman"/>
              </a:rPr>
              <a:t> algorithm:</a:t>
            </a:r>
            <a:endParaRPr sz="1100">
              <a:latin typeface="Times New Roman"/>
              <a:cs typeface="Times New Roman"/>
            </a:endParaRPr>
          </a:p>
          <a:p>
            <a:pPr marL="354965" indent="-227965">
              <a:lnSpc>
                <a:spcPct val="100000"/>
              </a:lnSpc>
              <a:spcBef>
                <a:spcPts val="635"/>
              </a:spcBef>
              <a:buFont typeface="Times New Roman"/>
              <a:buAutoNum type="arabicPeriod"/>
              <a:tabLst>
                <a:tab pos="354965" algn="l"/>
              </a:tabLst>
            </a:pPr>
            <a:r>
              <a:rPr sz="1100" b="1" dirty="0">
                <a:latin typeface="Times New Roman"/>
                <a:cs typeface="Times New Roman"/>
              </a:rPr>
              <a:t>Initialise:</a:t>
            </a:r>
            <a:r>
              <a:rPr sz="1100" b="1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current cell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=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S,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known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map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=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{S},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visited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set empty,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total cost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=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0.</a:t>
            </a:r>
            <a:endParaRPr sz="1100">
              <a:latin typeface="Times New Roman"/>
              <a:cs typeface="Times New Roman"/>
            </a:endParaRPr>
          </a:p>
          <a:p>
            <a:pPr marL="355600" marR="130175" indent="-228600">
              <a:lnSpc>
                <a:spcPct val="110000"/>
              </a:lnSpc>
              <a:spcBef>
                <a:spcPts val="300"/>
              </a:spcBef>
              <a:buFont typeface="Times New Roman"/>
              <a:buAutoNum type="arabicPeriod"/>
              <a:tabLst>
                <a:tab pos="355600" algn="l"/>
              </a:tabLst>
            </a:pPr>
            <a:r>
              <a:rPr sz="1100" b="1" dirty="0">
                <a:latin typeface="Times New Roman"/>
                <a:cs typeface="Times New Roman"/>
              </a:rPr>
              <a:t>Sense:</a:t>
            </a:r>
            <a:r>
              <a:rPr sz="1100" b="1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read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four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adjacent cells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classify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each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as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free,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blocked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or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risky; add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them to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known </a:t>
            </a:r>
            <a:r>
              <a:rPr sz="1100" spc="-20" dirty="0">
                <a:latin typeface="Times New Roman"/>
                <a:cs typeface="Times New Roman"/>
              </a:rPr>
              <a:t>map.</a:t>
            </a:r>
            <a:endParaRPr sz="1100">
              <a:latin typeface="Times New Roman"/>
              <a:cs typeface="Times New Roman"/>
            </a:endParaRPr>
          </a:p>
          <a:p>
            <a:pPr marL="354965" indent="-227965">
              <a:lnSpc>
                <a:spcPct val="100000"/>
              </a:lnSpc>
              <a:spcBef>
                <a:spcPts val="430"/>
              </a:spcBef>
              <a:buFont typeface="Times New Roman"/>
              <a:buAutoNum type="arabicPeriod"/>
              <a:tabLst>
                <a:tab pos="354965" algn="l"/>
              </a:tabLst>
            </a:pPr>
            <a:r>
              <a:rPr sz="1100" b="1" dirty="0">
                <a:latin typeface="Times New Roman"/>
                <a:cs typeface="Times New Roman"/>
              </a:rPr>
              <a:t>Update</a:t>
            </a:r>
            <a:r>
              <a:rPr sz="1100" b="1" spc="-1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knowledge:</a:t>
            </a:r>
            <a:r>
              <a:rPr sz="1100" b="1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if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cell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current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plan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now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known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blocked,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discard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plan.</a:t>
            </a:r>
            <a:endParaRPr sz="1100">
              <a:latin typeface="Times New Roman"/>
              <a:cs typeface="Times New Roman"/>
            </a:endParaRPr>
          </a:p>
          <a:p>
            <a:pPr marL="355600" marR="5080" indent="-228600">
              <a:lnSpc>
                <a:spcPct val="110000"/>
              </a:lnSpc>
              <a:spcBef>
                <a:spcPts val="315"/>
              </a:spcBef>
              <a:buFont typeface="Times New Roman"/>
              <a:buAutoNum type="arabicPeriod"/>
              <a:tabLst>
                <a:tab pos="355600" algn="l"/>
              </a:tabLst>
            </a:pPr>
            <a:r>
              <a:rPr sz="1100" b="1" dirty="0">
                <a:latin typeface="Times New Roman"/>
                <a:cs typeface="Times New Roman"/>
              </a:rPr>
              <a:t>Plan:</a:t>
            </a:r>
            <a:r>
              <a:rPr sz="1100" b="1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run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UCS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/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A*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from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current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cell to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over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known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map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using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g(n)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=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accumulated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cost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(1 </a:t>
            </a:r>
            <a:r>
              <a:rPr sz="1100" dirty="0">
                <a:latin typeface="Times New Roman"/>
                <a:cs typeface="Times New Roman"/>
              </a:rPr>
              <a:t>per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move,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+2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risky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cell), with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f(n)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=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g(n)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+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h(n),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=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Manhattan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distance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(admissible</a:t>
            </a:r>
            <a:r>
              <a:rPr sz="1100" spc="-10" dirty="0">
                <a:latin typeface="Times New Roman"/>
                <a:cs typeface="Times New Roman"/>
              </a:rPr>
              <a:t> because </a:t>
            </a:r>
            <a:r>
              <a:rPr sz="1100" dirty="0">
                <a:latin typeface="Times New Roman"/>
                <a:cs typeface="Times New Roman"/>
              </a:rPr>
              <a:t>every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step costs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at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least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1).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06627" y="641450"/>
            <a:ext cx="6051550" cy="1473835"/>
          </a:xfrm>
          <a:prstGeom prst="rect">
            <a:avLst/>
          </a:prstGeom>
        </p:spPr>
        <p:txBody>
          <a:bodyPr vert="horz" wrap="square" lIns="0" tIns="69215" rIns="0" bIns="0" rtlCol="0">
            <a:spAutoFit/>
          </a:bodyPr>
          <a:lstStyle/>
          <a:p>
            <a:pPr marL="354965" indent="-227965" algn="just">
              <a:lnSpc>
                <a:spcPct val="100000"/>
              </a:lnSpc>
              <a:spcBef>
                <a:spcPts val="545"/>
              </a:spcBef>
              <a:buFont typeface="Times New Roman"/>
              <a:buAutoNum type="arabicPeriod" startAt="5"/>
              <a:tabLst>
                <a:tab pos="354965" algn="l"/>
              </a:tabLst>
            </a:pPr>
            <a:r>
              <a:rPr sz="1100" b="1" dirty="0">
                <a:latin typeface="Times New Roman"/>
                <a:cs typeface="Times New Roman"/>
              </a:rPr>
              <a:t>Act: </a:t>
            </a:r>
            <a:r>
              <a:rPr sz="1100" dirty="0">
                <a:latin typeface="Times New Roman"/>
                <a:cs typeface="Times New Roman"/>
              </a:rPr>
              <a:t>execute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only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first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move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cheapest path and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add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its cost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 </a:t>
            </a:r>
            <a:r>
              <a:rPr sz="1100" spc="-10" dirty="0">
                <a:latin typeface="Times New Roman"/>
                <a:cs typeface="Times New Roman"/>
              </a:rPr>
              <a:t>total.</a:t>
            </a:r>
            <a:endParaRPr sz="1100">
              <a:latin typeface="Times New Roman"/>
              <a:cs typeface="Times New Roman"/>
            </a:endParaRPr>
          </a:p>
          <a:p>
            <a:pPr marL="355600" marR="215900" indent="-228600" algn="just">
              <a:lnSpc>
                <a:spcPct val="110000"/>
              </a:lnSpc>
              <a:spcBef>
                <a:spcPts val="315"/>
              </a:spcBef>
              <a:buFont typeface="Times New Roman"/>
              <a:buAutoNum type="arabicPeriod" startAt="5"/>
              <a:tabLst>
                <a:tab pos="355600" algn="l"/>
              </a:tabLst>
            </a:pPr>
            <a:r>
              <a:rPr sz="1100" b="1" dirty="0">
                <a:latin typeface="Times New Roman"/>
                <a:cs typeface="Times New Roman"/>
              </a:rPr>
              <a:t>Dead</a:t>
            </a:r>
            <a:r>
              <a:rPr sz="1100" b="1" spc="-1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ends: </a:t>
            </a:r>
            <a:r>
              <a:rPr sz="1100" dirty="0">
                <a:latin typeface="Times New Roman"/>
                <a:cs typeface="Times New Roman"/>
              </a:rPr>
              <a:t>if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no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path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exists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known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map,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move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nearest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frontier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(unexplored)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cell </a:t>
            </a:r>
            <a:r>
              <a:rPr sz="1100" spc="-25" dirty="0">
                <a:latin typeface="Times New Roman"/>
                <a:cs typeface="Times New Roman"/>
              </a:rPr>
              <a:t>and </a:t>
            </a:r>
            <a:r>
              <a:rPr sz="1100" dirty="0">
                <a:latin typeface="Times New Roman"/>
                <a:cs typeface="Times New Roman"/>
              </a:rPr>
              <a:t>explore;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if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robot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boxed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in,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backtrack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last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cell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that had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unexplored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neighbour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(as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in </a:t>
            </a:r>
            <a:r>
              <a:rPr sz="1100" dirty="0">
                <a:latin typeface="Times New Roman"/>
                <a:cs typeface="Times New Roman"/>
              </a:rPr>
              <a:t>LRTA*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/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online</a:t>
            </a:r>
            <a:r>
              <a:rPr sz="1100" spc="-20" dirty="0">
                <a:latin typeface="Times New Roman"/>
                <a:cs typeface="Times New Roman"/>
              </a:rPr>
              <a:t> DFS).</a:t>
            </a:r>
            <a:endParaRPr sz="1100">
              <a:latin typeface="Times New Roman"/>
              <a:cs typeface="Times New Roman"/>
            </a:endParaRPr>
          </a:p>
          <a:p>
            <a:pPr marL="355600" marR="5080" indent="-228600">
              <a:lnSpc>
                <a:spcPct val="110900"/>
              </a:lnSpc>
              <a:spcBef>
                <a:spcPts val="285"/>
              </a:spcBef>
              <a:buFont typeface="Times New Roman"/>
              <a:buAutoNum type="arabicPeriod" startAt="5"/>
              <a:tabLst>
                <a:tab pos="355600" algn="l"/>
              </a:tabLst>
            </a:pPr>
            <a:r>
              <a:rPr sz="1100" b="1" dirty="0">
                <a:latin typeface="Times New Roman"/>
                <a:cs typeface="Times New Roman"/>
              </a:rPr>
              <a:t>Repeat</a:t>
            </a:r>
            <a:r>
              <a:rPr sz="1100" b="1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Sense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→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Update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→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Plan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→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Act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until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current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cell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(survivor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reached).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Return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path </a:t>
            </a:r>
            <a:r>
              <a:rPr sz="1100" dirty="0">
                <a:latin typeface="Times New Roman"/>
                <a:cs typeface="Times New Roman"/>
              </a:rPr>
              <a:t>travelled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total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cost.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100" b="1" spc="-10" dirty="0">
                <a:latin typeface="Times New Roman"/>
                <a:cs typeface="Times New Roman"/>
              </a:rPr>
              <a:t>Pseudocode: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27836" y="2191778"/>
            <a:ext cx="6031865" cy="554990"/>
          </a:xfrm>
          <a:custGeom>
            <a:avLst/>
            <a:gdLst/>
            <a:ahLst/>
            <a:cxnLst/>
            <a:rect l="l" t="t" r="r" b="b"/>
            <a:pathLst>
              <a:path w="6031865" h="554989">
                <a:moveTo>
                  <a:pt x="6031357" y="416052"/>
                </a:moveTo>
                <a:lnTo>
                  <a:pt x="0" y="416052"/>
                </a:lnTo>
                <a:lnTo>
                  <a:pt x="0" y="554723"/>
                </a:lnTo>
                <a:lnTo>
                  <a:pt x="6031357" y="554723"/>
                </a:lnTo>
                <a:lnTo>
                  <a:pt x="6031357" y="416052"/>
                </a:lnTo>
                <a:close/>
              </a:path>
              <a:path w="6031865" h="554989">
                <a:moveTo>
                  <a:pt x="6031357" y="0"/>
                </a:moveTo>
                <a:lnTo>
                  <a:pt x="0" y="0"/>
                </a:lnTo>
                <a:lnTo>
                  <a:pt x="0" y="138671"/>
                </a:lnTo>
                <a:lnTo>
                  <a:pt x="0" y="277355"/>
                </a:lnTo>
                <a:lnTo>
                  <a:pt x="0" y="416039"/>
                </a:lnTo>
                <a:lnTo>
                  <a:pt x="6031357" y="416039"/>
                </a:lnTo>
                <a:lnTo>
                  <a:pt x="6031357" y="277355"/>
                </a:lnTo>
                <a:lnTo>
                  <a:pt x="6031357" y="138671"/>
                </a:lnTo>
                <a:lnTo>
                  <a:pt x="6031357" y="0"/>
                </a:lnTo>
                <a:close/>
              </a:path>
            </a:pathLst>
          </a:custGeom>
          <a:solidFill>
            <a:srgbClr val="F3F3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084322" y="2587497"/>
            <a:ext cx="1100455" cy="17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950" dirty="0">
                <a:latin typeface="Times New Roman"/>
                <a:cs typeface="Times New Roman"/>
              </a:rPr>
              <a:t>#</a:t>
            </a:r>
            <a:r>
              <a:rPr sz="950" spc="-1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free</a:t>
            </a:r>
            <a:r>
              <a:rPr sz="950" spc="-15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/</a:t>
            </a:r>
            <a:r>
              <a:rPr sz="950" spc="-1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blocked</a:t>
            </a:r>
            <a:r>
              <a:rPr sz="950" spc="-1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/</a:t>
            </a:r>
            <a:r>
              <a:rPr sz="950" spc="-20" dirty="0">
                <a:latin typeface="Times New Roman"/>
                <a:cs typeface="Times New Roman"/>
              </a:rPr>
              <a:t> risky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27836" y="2746501"/>
            <a:ext cx="6031865" cy="277495"/>
          </a:xfrm>
          <a:custGeom>
            <a:avLst/>
            <a:gdLst/>
            <a:ahLst/>
            <a:cxnLst/>
            <a:rect l="l" t="t" r="r" b="b"/>
            <a:pathLst>
              <a:path w="6031865" h="277494">
                <a:moveTo>
                  <a:pt x="6031357" y="0"/>
                </a:moveTo>
                <a:lnTo>
                  <a:pt x="0" y="0"/>
                </a:lnTo>
                <a:lnTo>
                  <a:pt x="0" y="138684"/>
                </a:lnTo>
                <a:lnTo>
                  <a:pt x="0" y="277368"/>
                </a:lnTo>
                <a:lnTo>
                  <a:pt x="6031357" y="277368"/>
                </a:lnTo>
                <a:lnTo>
                  <a:pt x="6031357" y="138684"/>
                </a:lnTo>
                <a:lnTo>
                  <a:pt x="6031357" y="0"/>
                </a:lnTo>
                <a:close/>
              </a:path>
            </a:pathLst>
          </a:custGeom>
          <a:solidFill>
            <a:srgbClr val="F3F3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846124" y="2171445"/>
            <a:ext cx="2212340" cy="86360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1920" marR="5080" indent="-121920">
              <a:lnSpc>
                <a:spcPts val="1090"/>
              </a:lnSpc>
              <a:spcBef>
                <a:spcPts val="175"/>
              </a:spcBef>
            </a:pPr>
            <a:r>
              <a:rPr sz="950" dirty="0">
                <a:latin typeface="Times New Roman"/>
                <a:cs typeface="Times New Roman"/>
              </a:rPr>
              <a:t>function</a:t>
            </a:r>
            <a:r>
              <a:rPr sz="950" spc="45" dirty="0">
                <a:latin typeface="Times New Roman"/>
                <a:cs typeface="Times New Roman"/>
              </a:rPr>
              <a:t> </a:t>
            </a:r>
            <a:r>
              <a:rPr sz="950" spc="-10" dirty="0">
                <a:latin typeface="Times New Roman"/>
                <a:cs typeface="Times New Roman"/>
              </a:rPr>
              <a:t>ONLINE_RESCUE_AGENT(S,</a:t>
            </a:r>
            <a:r>
              <a:rPr sz="950" spc="60" dirty="0">
                <a:latin typeface="Times New Roman"/>
                <a:cs typeface="Times New Roman"/>
              </a:rPr>
              <a:t> </a:t>
            </a:r>
            <a:r>
              <a:rPr sz="950" spc="-25" dirty="0">
                <a:latin typeface="Times New Roman"/>
                <a:cs typeface="Times New Roman"/>
              </a:rPr>
              <a:t>G): </a:t>
            </a:r>
            <a:r>
              <a:rPr sz="950" dirty="0">
                <a:latin typeface="Times New Roman"/>
                <a:cs typeface="Times New Roman"/>
              </a:rPr>
              <a:t>pos</a:t>
            </a:r>
            <a:r>
              <a:rPr sz="950" spc="-1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&lt;-</a:t>
            </a:r>
            <a:r>
              <a:rPr sz="950" spc="-15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S</a:t>
            </a:r>
            <a:r>
              <a:rPr sz="950" spc="-5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;</a:t>
            </a:r>
            <a:r>
              <a:rPr sz="950" spc="-2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known</a:t>
            </a:r>
            <a:r>
              <a:rPr sz="950" spc="-1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&lt;-</a:t>
            </a:r>
            <a:r>
              <a:rPr sz="950" spc="-15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{S}</a:t>
            </a:r>
            <a:r>
              <a:rPr sz="950" spc="-5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;</a:t>
            </a:r>
            <a:r>
              <a:rPr sz="950" spc="-1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cost</a:t>
            </a:r>
            <a:r>
              <a:rPr sz="950" spc="-5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&lt;-</a:t>
            </a:r>
            <a:r>
              <a:rPr sz="950" spc="-15" dirty="0">
                <a:latin typeface="Times New Roman"/>
                <a:cs typeface="Times New Roman"/>
              </a:rPr>
              <a:t> </a:t>
            </a:r>
            <a:r>
              <a:rPr sz="950" spc="-50" dirty="0">
                <a:latin typeface="Times New Roman"/>
                <a:cs typeface="Times New Roman"/>
              </a:rPr>
              <a:t>0</a:t>
            </a:r>
            <a:endParaRPr sz="950">
              <a:latin typeface="Times New Roman"/>
              <a:cs typeface="Times New Roman"/>
            </a:endParaRPr>
          </a:p>
          <a:p>
            <a:pPr marL="121920">
              <a:lnSpc>
                <a:spcPts val="1040"/>
              </a:lnSpc>
            </a:pPr>
            <a:r>
              <a:rPr sz="950" dirty="0">
                <a:latin typeface="Times New Roman"/>
                <a:cs typeface="Times New Roman"/>
              </a:rPr>
              <a:t>while</a:t>
            </a:r>
            <a:r>
              <a:rPr sz="950" spc="-25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pos</a:t>
            </a:r>
            <a:r>
              <a:rPr sz="950" spc="-2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!=</a:t>
            </a:r>
            <a:r>
              <a:rPr sz="950" spc="-25" dirty="0">
                <a:latin typeface="Times New Roman"/>
                <a:cs typeface="Times New Roman"/>
              </a:rPr>
              <a:t> G:</a:t>
            </a:r>
            <a:endParaRPr sz="950">
              <a:latin typeface="Times New Roman"/>
              <a:cs typeface="Times New Roman"/>
            </a:endParaRPr>
          </a:p>
          <a:p>
            <a:pPr marL="241935" marR="205740">
              <a:lnSpc>
                <a:spcPts val="1090"/>
              </a:lnSpc>
              <a:spcBef>
                <a:spcPts val="55"/>
              </a:spcBef>
            </a:pPr>
            <a:r>
              <a:rPr sz="950" dirty="0">
                <a:latin typeface="Times New Roman"/>
                <a:cs typeface="Times New Roman"/>
              </a:rPr>
              <a:t>percept</a:t>
            </a:r>
            <a:r>
              <a:rPr sz="950" spc="-15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&lt;-</a:t>
            </a:r>
            <a:r>
              <a:rPr sz="950" spc="-20" dirty="0">
                <a:latin typeface="Times New Roman"/>
                <a:cs typeface="Times New Roman"/>
              </a:rPr>
              <a:t> </a:t>
            </a:r>
            <a:r>
              <a:rPr sz="950" spc="-10" dirty="0">
                <a:latin typeface="Times New Roman"/>
                <a:cs typeface="Times New Roman"/>
              </a:rPr>
              <a:t>SENSE(neighbours(pos)) UPDATE(known,</a:t>
            </a:r>
            <a:r>
              <a:rPr sz="950" spc="55" dirty="0">
                <a:latin typeface="Times New Roman"/>
                <a:cs typeface="Times New Roman"/>
              </a:rPr>
              <a:t> </a:t>
            </a:r>
            <a:r>
              <a:rPr sz="950" spc="-10" dirty="0">
                <a:latin typeface="Times New Roman"/>
                <a:cs typeface="Times New Roman"/>
              </a:rPr>
              <a:t>percept)</a:t>
            </a:r>
            <a:endParaRPr sz="950">
              <a:latin typeface="Times New Roman"/>
              <a:cs typeface="Times New Roman"/>
            </a:endParaRPr>
          </a:p>
          <a:p>
            <a:pPr marL="241935">
              <a:lnSpc>
                <a:spcPts val="1065"/>
              </a:lnSpc>
            </a:pPr>
            <a:r>
              <a:rPr sz="950" dirty="0">
                <a:latin typeface="Times New Roman"/>
                <a:cs typeface="Times New Roman"/>
              </a:rPr>
              <a:t>plan &lt;-</a:t>
            </a:r>
            <a:r>
              <a:rPr sz="950" spc="5" dirty="0">
                <a:latin typeface="Times New Roman"/>
                <a:cs typeface="Times New Roman"/>
              </a:rPr>
              <a:t> </a:t>
            </a:r>
            <a:r>
              <a:rPr sz="950" spc="-10" dirty="0">
                <a:latin typeface="Times New Roman"/>
                <a:cs typeface="Times New Roman"/>
              </a:rPr>
              <a:t>A_STAR(known,</a:t>
            </a:r>
            <a:r>
              <a:rPr sz="950" dirty="0">
                <a:latin typeface="Times New Roman"/>
                <a:cs typeface="Times New Roman"/>
              </a:rPr>
              <a:t> pos,</a:t>
            </a:r>
            <a:r>
              <a:rPr sz="950" spc="15" dirty="0">
                <a:latin typeface="Times New Roman"/>
                <a:cs typeface="Times New Roman"/>
              </a:rPr>
              <a:t> </a:t>
            </a:r>
            <a:r>
              <a:rPr sz="950" spc="-25" dirty="0">
                <a:latin typeface="Times New Roman"/>
                <a:cs typeface="Times New Roman"/>
              </a:rPr>
              <a:t>G,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083461" y="2864866"/>
            <a:ext cx="1426845" cy="17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950" dirty="0">
                <a:latin typeface="Times New Roman"/>
                <a:cs typeface="Times New Roman"/>
              </a:rPr>
              <a:t>#</a:t>
            </a:r>
            <a:r>
              <a:rPr sz="950" spc="-2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UCS</a:t>
            </a:r>
            <a:r>
              <a:rPr sz="950" spc="-2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+</a:t>
            </a:r>
            <a:r>
              <a:rPr sz="950" spc="-3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Manhattan</a:t>
            </a:r>
            <a:r>
              <a:rPr sz="950" spc="-15" dirty="0">
                <a:latin typeface="Times New Roman"/>
                <a:cs typeface="Times New Roman"/>
              </a:rPr>
              <a:t> </a:t>
            </a:r>
            <a:r>
              <a:rPr sz="950" spc="-10" dirty="0">
                <a:latin typeface="Times New Roman"/>
                <a:cs typeface="Times New Roman"/>
              </a:rPr>
              <a:t>heuristic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827836" y="3023882"/>
            <a:ext cx="6031865" cy="971550"/>
          </a:xfrm>
          <a:custGeom>
            <a:avLst/>
            <a:gdLst/>
            <a:ahLst/>
            <a:cxnLst/>
            <a:rect l="l" t="t" r="r" b="b"/>
            <a:pathLst>
              <a:path w="6031865" h="971550">
                <a:moveTo>
                  <a:pt x="6031357" y="693801"/>
                </a:moveTo>
                <a:lnTo>
                  <a:pt x="0" y="693801"/>
                </a:lnTo>
                <a:lnTo>
                  <a:pt x="0" y="832472"/>
                </a:lnTo>
                <a:lnTo>
                  <a:pt x="0" y="971156"/>
                </a:lnTo>
                <a:lnTo>
                  <a:pt x="6031357" y="971156"/>
                </a:lnTo>
                <a:lnTo>
                  <a:pt x="6031357" y="832472"/>
                </a:lnTo>
                <a:lnTo>
                  <a:pt x="6031357" y="693801"/>
                </a:lnTo>
                <a:close/>
              </a:path>
              <a:path w="6031865" h="971550">
                <a:moveTo>
                  <a:pt x="6031357" y="277444"/>
                </a:moveTo>
                <a:lnTo>
                  <a:pt x="0" y="277444"/>
                </a:lnTo>
                <a:lnTo>
                  <a:pt x="0" y="416420"/>
                </a:lnTo>
                <a:lnTo>
                  <a:pt x="0" y="555104"/>
                </a:lnTo>
                <a:lnTo>
                  <a:pt x="0" y="693788"/>
                </a:lnTo>
                <a:lnTo>
                  <a:pt x="6031357" y="693788"/>
                </a:lnTo>
                <a:lnTo>
                  <a:pt x="6031357" y="555104"/>
                </a:lnTo>
                <a:lnTo>
                  <a:pt x="6031357" y="416420"/>
                </a:lnTo>
                <a:lnTo>
                  <a:pt x="6031357" y="277444"/>
                </a:lnTo>
                <a:close/>
              </a:path>
              <a:path w="6031865" h="971550">
                <a:moveTo>
                  <a:pt x="6031357" y="0"/>
                </a:moveTo>
                <a:lnTo>
                  <a:pt x="0" y="0"/>
                </a:lnTo>
                <a:lnTo>
                  <a:pt x="0" y="138671"/>
                </a:lnTo>
                <a:lnTo>
                  <a:pt x="0" y="277355"/>
                </a:lnTo>
                <a:lnTo>
                  <a:pt x="6031357" y="277355"/>
                </a:lnTo>
                <a:lnTo>
                  <a:pt x="6031357" y="138671"/>
                </a:lnTo>
                <a:lnTo>
                  <a:pt x="6031357" y="0"/>
                </a:lnTo>
                <a:close/>
              </a:path>
            </a:pathLst>
          </a:custGeom>
          <a:solidFill>
            <a:srgbClr val="F3F3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706627" y="3003549"/>
            <a:ext cx="6128385" cy="3152775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381635" marR="3232785" indent="452120">
              <a:lnSpc>
                <a:spcPts val="1090"/>
              </a:lnSpc>
              <a:spcBef>
                <a:spcPts val="175"/>
              </a:spcBef>
            </a:pPr>
            <a:r>
              <a:rPr sz="950" spc="-10" dirty="0">
                <a:latin typeface="Times New Roman"/>
                <a:cs typeface="Times New Roman"/>
              </a:rPr>
              <a:t>step_cost</a:t>
            </a:r>
            <a:r>
              <a:rPr sz="950" spc="-2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=</a:t>
            </a:r>
            <a:r>
              <a:rPr sz="950" spc="-5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1</a:t>
            </a:r>
            <a:r>
              <a:rPr sz="950" spc="-5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(+2</a:t>
            </a:r>
            <a:r>
              <a:rPr sz="950" spc="-1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if</a:t>
            </a:r>
            <a:r>
              <a:rPr sz="950" spc="-15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risky),</a:t>
            </a:r>
            <a:r>
              <a:rPr sz="950" spc="-1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blocked</a:t>
            </a:r>
            <a:r>
              <a:rPr sz="950" spc="-15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=</a:t>
            </a:r>
            <a:r>
              <a:rPr sz="950" spc="-5" dirty="0">
                <a:latin typeface="Times New Roman"/>
                <a:cs typeface="Times New Roman"/>
              </a:rPr>
              <a:t> </a:t>
            </a:r>
            <a:r>
              <a:rPr sz="950" spc="-20" dirty="0">
                <a:latin typeface="Times New Roman"/>
                <a:cs typeface="Times New Roman"/>
              </a:rPr>
              <a:t>INF) </a:t>
            </a:r>
            <a:r>
              <a:rPr sz="950" dirty="0">
                <a:latin typeface="Times New Roman"/>
                <a:cs typeface="Times New Roman"/>
              </a:rPr>
              <a:t>if</a:t>
            </a:r>
            <a:r>
              <a:rPr sz="950" spc="-2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plan</a:t>
            </a:r>
            <a:r>
              <a:rPr sz="950" spc="-1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is</a:t>
            </a:r>
            <a:r>
              <a:rPr sz="950" spc="-10" dirty="0">
                <a:latin typeface="Times New Roman"/>
                <a:cs typeface="Times New Roman"/>
              </a:rPr>
              <a:t> empty:</a:t>
            </a:r>
            <a:endParaRPr sz="950">
              <a:latin typeface="Times New Roman"/>
              <a:cs typeface="Times New Roman"/>
            </a:endParaRPr>
          </a:p>
          <a:p>
            <a:pPr marL="501650">
              <a:lnSpc>
                <a:spcPts val="1045"/>
              </a:lnSpc>
            </a:pPr>
            <a:r>
              <a:rPr sz="950" dirty="0">
                <a:latin typeface="Times New Roman"/>
                <a:cs typeface="Times New Roman"/>
              </a:rPr>
              <a:t>plan</a:t>
            </a:r>
            <a:r>
              <a:rPr sz="950" spc="45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&lt;-</a:t>
            </a:r>
            <a:r>
              <a:rPr sz="950" spc="50" dirty="0">
                <a:latin typeface="Times New Roman"/>
                <a:cs typeface="Times New Roman"/>
              </a:rPr>
              <a:t> </a:t>
            </a:r>
            <a:r>
              <a:rPr sz="950" spc="-10" dirty="0">
                <a:latin typeface="Times New Roman"/>
                <a:cs typeface="Times New Roman"/>
              </a:rPr>
              <a:t>PATH_TO_NEAREST_FRONTIER(known,</a:t>
            </a:r>
            <a:r>
              <a:rPr sz="950" spc="45" dirty="0">
                <a:latin typeface="Times New Roman"/>
                <a:cs typeface="Times New Roman"/>
              </a:rPr>
              <a:t> </a:t>
            </a:r>
            <a:r>
              <a:rPr sz="950" spc="-20" dirty="0">
                <a:latin typeface="Times New Roman"/>
                <a:cs typeface="Times New Roman"/>
              </a:rPr>
              <a:t>pos)</a:t>
            </a:r>
            <a:endParaRPr sz="950">
              <a:latin typeface="Times New Roman"/>
              <a:cs typeface="Times New Roman"/>
            </a:endParaRPr>
          </a:p>
          <a:p>
            <a:pPr marL="381635" marR="2689860" indent="121920">
              <a:lnSpc>
                <a:spcPts val="1090"/>
              </a:lnSpc>
              <a:spcBef>
                <a:spcPts val="55"/>
              </a:spcBef>
              <a:tabLst>
                <a:tab pos="2325370" algn="l"/>
              </a:tabLst>
            </a:pPr>
            <a:r>
              <a:rPr sz="950" dirty="0">
                <a:latin typeface="Times New Roman"/>
                <a:cs typeface="Times New Roman"/>
              </a:rPr>
              <a:t>if</a:t>
            </a:r>
            <a:r>
              <a:rPr sz="950" spc="-3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plan</a:t>
            </a:r>
            <a:r>
              <a:rPr sz="950" spc="-15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is</a:t>
            </a:r>
            <a:r>
              <a:rPr sz="950" spc="-25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empty:</a:t>
            </a:r>
            <a:r>
              <a:rPr sz="950" spc="-15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return</a:t>
            </a:r>
            <a:r>
              <a:rPr sz="950" spc="-20" dirty="0">
                <a:latin typeface="Times New Roman"/>
                <a:cs typeface="Times New Roman"/>
              </a:rPr>
              <a:t> </a:t>
            </a:r>
            <a:r>
              <a:rPr sz="950" spc="-10" dirty="0">
                <a:latin typeface="Times New Roman"/>
                <a:cs typeface="Times New Roman"/>
              </a:rPr>
              <a:t>FAILURE</a:t>
            </a:r>
            <a:r>
              <a:rPr sz="950" dirty="0">
                <a:latin typeface="Times New Roman"/>
                <a:cs typeface="Times New Roman"/>
              </a:rPr>
              <a:t>	#</a:t>
            </a:r>
            <a:r>
              <a:rPr sz="950" spc="-3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survivor</a:t>
            </a:r>
            <a:r>
              <a:rPr sz="950" spc="-25" dirty="0">
                <a:latin typeface="Times New Roman"/>
                <a:cs typeface="Times New Roman"/>
              </a:rPr>
              <a:t> </a:t>
            </a:r>
            <a:r>
              <a:rPr sz="950" spc="-10" dirty="0">
                <a:latin typeface="Times New Roman"/>
                <a:cs typeface="Times New Roman"/>
              </a:rPr>
              <a:t>unreachable </a:t>
            </a:r>
            <a:r>
              <a:rPr sz="950" dirty="0">
                <a:latin typeface="Times New Roman"/>
                <a:cs typeface="Times New Roman"/>
              </a:rPr>
              <a:t>next</a:t>
            </a:r>
            <a:r>
              <a:rPr sz="950" spc="-2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&lt;-</a:t>
            </a:r>
            <a:r>
              <a:rPr sz="950" spc="-10" dirty="0">
                <a:latin typeface="Times New Roman"/>
                <a:cs typeface="Times New Roman"/>
              </a:rPr>
              <a:t> plan[0]</a:t>
            </a:r>
            <a:endParaRPr sz="950">
              <a:latin typeface="Times New Roman"/>
              <a:cs typeface="Times New Roman"/>
            </a:endParaRPr>
          </a:p>
          <a:p>
            <a:pPr marL="260985" marR="3212465" indent="120014">
              <a:lnSpc>
                <a:spcPts val="1090"/>
              </a:lnSpc>
              <a:spcBef>
                <a:spcPts val="5"/>
              </a:spcBef>
            </a:pPr>
            <a:r>
              <a:rPr sz="950" dirty="0">
                <a:latin typeface="Times New Roman"/>
                <a:cs typeface="Times New Roman"/>
              </a:rPr>
              <a:t>pos</a:t>
            </a:r>
            <a:r>
              <a:rPr sz="950" spc="215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&lt;-</a:t>
            </a:r>
            <a:r>
              <a:rPr sz="950" spc="-15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MOVE(next)</a:t>
            </a:r>
            <a:r>
              <a:rPr sz="950" spc="-2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;</a:t>
            </a:r>
            <a:r>
              <a:rPr sz="950" spc="-1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cost</a:t>
            </a:r>
            <a:r>
              <a:rPr sz="950" spc="-2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&lt;-</a:t>
            </a:r>
            <a:r>
              <a:rPr sz="950" spc="-15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cost</a:t>
            </a:r>
            <a:r>
              <a:rPr sz="950" spc="-1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+</a:t>
            </a:r>
            <a:r>
              <a:rPr sz="950" spc="-20" dirty="0">
                <a:latin typeface="Times New Roman"/>
                <a:cs typeface="Times New Roman"/>
              </a:rPr>
              <a:t> </a:t>
            </a:r>
            <a:r>
              <a:rPr sz="950" spc="-10" dirty="0">
                <a:latin typeface="Times New Roman"/>
                <a:cs typeface="Times New Roman"/>
              </a:rPr>
              <a:t>step_cost(next) </a:t>
            </a:r>
            <a:r>
              <a:rPr sz="950" dirty="0">
                <a:latin typeface="Times New Roman"/>
                <a:cs typeface="Times New Roman"/>
              </a:rPr>
              <a:t>return</a:t>
            </a:r>
            <a:r>
              <a:rPr sz="950" spc="-2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SUCCESS,</a:t>
            </a:r>
            <a:r>
              <a:rPr sz="950" spc="-20" dirty="0">
                <a:latin typeface="Times New Roman"/>
                <a:cs typeface="Times New Roman"/>
              </a:rPr>
              <a:t> cost</a:t>
            </a:r>
            <a:endParaRPr sz="9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5"/>
              </a:spcBef>
            </a:pPr>
            <a:endParaRPr sz="950">
              <a:latin typeface="Times New Roman"/>
              <a:cs typeface="Times New Roman"/>
            </a:endParaRPr>
          </a:p>
          <a:p>
            <a:pPr marL="12700" marR="5080">
              <a:lnSpc>
                <a:spcPct val="110300"/>
              </a:lnSpc>
            </a:pPr>
            <a:r>
              <a:rPr sz="1100" b="1" dirty="0">
                <a:latin typeface="Times New Roman"/>
                <a:cs typeface="Times New Roman"/>
              </a:rPr>
              <a:t>Small</a:t>
            </a:r>
            <a:r>
              <a:rPr sz="1100" b="1" spc="-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illustration:</a:t>
            </a:r>
            <a:r>
              <a:rPr sz="1100" b="1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if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cell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directly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toward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turns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out to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risky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(cost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3)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safe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route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needs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two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extra </a:t>
            </a:r>
            <a:r>
              <a:rPr sz="1100" dirty="0">
                <a:latin typeface="Times New Roman"/>
                <a:cs typeface="Times New Roman"/>
              </a:rPr>
              <a:t>moves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(extra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cost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2),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robot compares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total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costs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after sensing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picks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cheaper,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i.e.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it takes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safe </a:t>
            </a:r>
            <a:r>
              <a:rPr sz="1100" dirty="0">
                <a:latin typeface="Times New Roman"/>
                <a:cs typeface="Times New Roman"/>
              </a:rPr>
              <a:t>route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unless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 safe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route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costs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more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than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risk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penalty.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If a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corridor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 sensed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 blocked,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10" dirty="0">
                <a:latin typeface="Times New Roman"/>
                <a:cs typeface="Times New Roman"/>
              </a:rPr>
              <a:t> robot </a:t>
            </a:r>
            <a:r>
              <a:rPr sz="1100" dirty="0">
                <a:latin typeface="Times New Roman"/>
                <a:cs typeface="Times New Roman"/>
              </a:rPr>
              <a:t>marks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it,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re-plans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moves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via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next cheapest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known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route.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50" b="1" dirty="0">
                <a:latin typeface="Times New Roman"/>
                <a:cs typeface="Times New Roman"/>
              </a:rPr>
              <a:t>c)</a:t>
            </a:r>
            <a:r>
              <a:rPr sz="1250" b="1" spc="-5" dirty="0">
                <a:latin typeface="Times New Roman"/>
                <a:cs typeface="Times New Roman"/>
              </a:rPr>
              <a:t> </a:t>
            </a:r>
            <a:r>
              <a:rPr sz="1250" b="1" spc="-10" dirty="0">
                <a:latin typeface="Times New Roman"/>
                <a:cs typeface="Times New Roman"/>
              </a:rPr>
              <a:t>Application</a:t>
            </a:r>
            <a:r>
              <a:rPr sz="1250" b="1" spc="-5" dirty="0">
                <a:latin typeface="Times New Roman"/>
                <a:cs typeface="Times New Roman"/>
              </a:rPr>
              <a:t> </a:t>
            </a:r>
            <a:r>
              <a:rPr sz="1250" b="1" dirty="0">
                <a:latin typeface="Times New Roman"/>
                <a:cs typeface="Times New Roman"/>
              </a:rPr>
              <a:t>of</a:t>
            </a:r>
            <a:r>
              <a:rPr sz="1250" b="1" spc="10" dirty="0">
                <a:latin typeface="Times New Roman"/>
                <a:cs typeface="Times New Roman"/>
              </a:rPr>
              <a:t> </a:t>
            </a:r>
            <a:r>
              <a:rPr sz="1250" b="1" dirty="0">
                <a:latin typeface="Times New Roman"/>
                <a:cs typeface="Times New Roman"/>
              </a:rPr>
              <a:t>AI </a:t>
            </a:r>
            <a:r>
              <a:rPr sz="1250" b="1" spc="-10" dirty="0">
                <a:latin typeface="Times New Roman"/>
                <a:cs typeface="Times New Roman"/>
              </a:rPr>
              <a:t>concepts</a:t>
            </a:r>
            <a:endParaRPr sz="12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sz="1150" b="1" dirty="0">
                <a:latin typeface="Times New Roman"/>
                <a:cs typeface="Times New Roman"/>
              </a:rPr>
              <a:t>(i)</a:t>
            </a:r>
            <a:r>
              <a:rPr sz="1150" b="1" spc="5" dirty="0">
                <a:latin typeface="Times New Roman"/>
                <a:cs typeface="Times New Roman"/>
              </a:rPr>
              <a:t> </a:t>
            </a:r>
            <a:r>
              <a:rPr sz="1150" b="1" spc="-10" dirty="0">
                <a:latin typeface="Times New Roman"/>
                <a:cs typeface="Times New Roman"/>
              </a:rPr>
              <a:t>Intelligent</a:t>
            </a:r>
            <a:r>
              <a:rPr sz="1150" b="1" spc="10" dirty="0">
                <a:latin typeface="Times New Roman"/>
                <a:cs typeface="Times New Roman"/>
              </a:rPr>
              <a:t> </a:t>
            </a:r>
            <a:r>
              <a:rPr sz="1150" b="1" spc="-20" dirty="0">
                <a:latin typeface="Times New Roman"/>
                <a:cs typeface="Times New Roman"/>
              </a:rPr>
              <a:t>agent</a:t>
            </a:r>
            <a:endParaRPr sz="1150">
              <a:latin typeface="Times New Roman"/>
              <a:cs typeface="Times New Roman"/>
            </a:endParaRPr>
          </a:p>
          <a:p>
            <a:pPr marL="12700" marR="6350">
              <a:lnSpc>
                <a:spcPct val="110500"/>
              </a:lnSpc>
              <a:spcBef>
                <a:spcPts val="204"/>
              </a:spcBef>
            </a:pPr>
            <a:r>
              <a:rPr sz="1100" dirty="0">
                <a:latin typeface="Times New Roman"/>
                <a:cs typeface="Times New Roman"/>
              </a:rPr>
              <a:t>An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agent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perceives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its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environment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through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sensors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acts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it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through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actuators.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rescue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robot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spc="-50" dirty="0">
                <a:latin typeface="Times New Roman"/>
                <a:cs typeface="Times New Roman"/>
              </a:rPr>
              <a:t>a </a:t>
            </a:r>
            <a:r>
              <a:rPr sz="1100" b="1" spc="-10" dirty="0">
                <a:latin typeface="Times New Roman"/>
                <a:cs typeface="Times New Roman"/>
              </a:rPr>
              <a:t>goal-</a:t>
            </a:r>
            <a:r>
              <a:rPr sz="1100" b="1" dirty="0">
                <a:latin typeface="Times New Roman"/>
                <a:cs typeface="Times New Roman"/>
              </a:rPr>
              <a:t>based</a:t>
            </a:r>
            <a:r>
              <a:rPr sz="1100" b="1" spc="-2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and</a:t>
            </a:r>
            <a:r>
              <a:rPr sz="1100" b="1" spc="-5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utility-</a:t>
            </a:r>
            <a:r>
              <a:rPr sz="1100" b="1" dirty="0">
                <a:latin typeface="Times New Roman"/>
                <a:cs typeface="Times New Roman"/>
              </a:rPr>
              <a:t>based agent with</a:t>
            </a:r>
            <a:r>
              <a:rPr sz="1100" b="1" spc="-1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a</a:t>
            </a:r>
            <a:r>
              <a:rPr sz="1100" b="1" spc="-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model</a:t>
            </a:r>
            <a:r>
              <a:rPr sz="1100" b="1" spc="-1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(map) of</a:t>
            </a:r>
            <a:r>
              <a:rPr sz="1100" b="1" spc="-1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the</a:t>
            </a:r>
            <a:r>
              <a:rPr sz="1100" b="1" spc="-1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world</a:t>
            </a:r>
            <a:r>
              <a:rPr sz="1100" dirty="0">
                <a:latin typeface="Times New Roman"/>
                <a:cs typeface="Times New Roman"/>
              </a:rPr>
              <a:t>: it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maintains internal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state, has a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goal </a:t>
            </a:r>
            <a:r>
              <a:rPr sz="1100" dirty="0">
                <a:latin typeface="Times New Roman"/>
                <a:cs typeface="Times New Roman"/>
              </a:rPr>
              <a:t>(reach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survivor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at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G)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utility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measure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(lowest cost,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avoid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risk).</a:t>
            </a:r>
            <a:endParaRPr sz="1100">
              <a:latin typeface="Times New Roman"/>
              <a:cs typeface="Times New Roman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719327" y="6231000"/>
          <a:ext cx="6122034" cy="138366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792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27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2250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950" b="1" dirty="0">
                          <a:latin typeface="Times New Roman"/>
                          <a:cs typeface="Times New Roman"/>
                        </a:rPr>
                        <a:t>PEAS</a:t>
                      </a:r>
                      <a:r>
                        <a:rPr sz="95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b="1" spc="-10" dirty="0">
                          <a:latin typeface="Times New Roman"/>
                          <a:cs typeface="Times New Roman"/>
                        </a:rPr>
                        <a:t>element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1F3863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950" b="1" dirty="0">
                          <a:latin typeface="Times New Roman"/>
                          <a:cs typeface="Times New Roman"/>
                        </a:rPr>
                        <a:t>Rescue</a:t>
                      </a:r>
                      <a:r>
                        <a:rPr sz="95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b="1" spc="-10" dirty="0">
                          <a:latin typeface="Times New Roman"/>
                          <a:cs typeface="Times New Roman"/>
                        </a:rPr>
                        <a:t>robot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1F38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9410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950" dirty="0">
                          <a:latin typeface="Times New Roman"/>
                          <a:cs typeface="Times New Roman"/>
                        </a:rPr>
                        <a:t>Performance</a:t>
                      </a:r>
                      <a:r>
                        <a:rPr sz="95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10" dirty="0">
                          <a:latin typeface="Times New Roman"/>
                          <a:cs typeface="Times New Roman"/>
                        </a:rPr>
                        <a:t>measure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10160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 marR="291465">
                        <a:lnSpc>
                          <a:spcPts val="1090"/>
                        </a:lnSpc>
                        <a:spcBef>
                          <a:spcPts val="340"/>
                        </a:spcBef>
                      </a:pPr>
                      <a:r>
                        <a:rPr sz="950" dirty="0">
                          <a:latin typeface="Times New Roman"/>
                          <a:cs typeface="Times New Roman"/>
                        </a:rPr>
                        <a:t>Reach</a:t>
                      </a:r>
                      <a:r>
                        <a:rPr sz="95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G</a:t>
                      </a:r>
                      <a:r>
                        <a:rPr sz="95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(survivor</a:t>
                      </a:r>
                      <a:r>
                        <a:rPr sz="95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found);</a:t>
                      </a:r>
                      <a:r>
                        <a:rPr sz="9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minimise</a:t>
                      </a:r>
                      <a:r>
                        <a:rPr sz="95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total</a:t>
                      </a:r>
                      <a:r>
                        <a:rPr sz="9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path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cost</a:t>
                      </a:r>
                      <a:r>
                        <a:rPr sz="9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(moves</a:t>
                      </a:r>
                      <a:r>
                        <a:rPr sz="9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+</a:t>
                      </a:r>
                      <a:r>
                        <a:rPr sz="9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risk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penalties);</a:t>
                      </a:r>
                      <a:r>
                        <a:rPr sz="95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10" dirty="0">
                          <a:latin typeface="Times New Roman"/>
                          <a:cs typeface="Times New Roman"/>
                        </a:rPr>
                        <a:t>avoid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blocked</a:t>
                      </a:r>
                      <a:r>
                        <a:rPr sz="9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/ </a:t>
                      </a:r>
                      <a:r>
                        <a:rPr sz="950" spc="-10" dirty="0">
                          <a:latin typeface="Times New Roman"/>
                          <a:cs typeface="Times New Roman"/>
                        </a:rPr>
                        <a:t>dangerous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cells; </a:t>
                      </a:r>
                      <a:r>
                        <a:rPr sz="950" spc="-10" dirty="0">
                          <a:latin typeface="Times New Roman"/>
                          <a:cs typeface="Times New Roman"/>
                        </a:rPr>
                        <a:t>minimise</a:t>
                      </a:r>
                      <a:r>
                        <a:rPr sz="95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time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4318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0979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950" spc="-10" dirty="0">
                          <a:latin typeface="Times New Roman"/>
                          <a:cs typeface="Times New Roman"/>
                        </a:rPr>
                        <a:t>Environment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950" dirty="0">
                          <a:latin typeface="Times New Roman"/>
                          <a:cs typeface="Times New Roman"/>
                        </a:rPr>
                        <a:t>Grid</a:t>
                      </a:r>
                      <a:r>
                        <a:rPr sz="9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9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rooms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9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95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damaged</a:t>
                      </a:r>
                      <a:r>
                        <a:rPr sz="9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building</a:t>
                      </a:r>
                      <a:r>
                        <a:rPr sz="95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9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10" dirty="0">
                          <a:latin typeface="Times New Roman"/>
                          <a:cs typeface="Times New Roman"/>
                        </a:rPr>
                        <a:t>obstacles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9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risky</a:t>
                      </a:r>
                      <a:r>
                        <a:rPr sz="9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zones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0345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950" spc="-10" dirty="0">
                          <a:latin typeface="Times New Roman"/>
                          <a:cs typeface="Times New Roman"/>
                        </a:rPr>
                        <a:t>Actuators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950" dirty="0">
                          <a:latin typeface="Times New Roman"/>
                          <a:cs typeface="Times New Roman"/>
                        </a:rPr>
                        <a:t>Wheels</a:t>
                      </a:r>
                      <a:r>
                        <a:rPr sz="9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sz="9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motors</a:t>
                      </a:r>
                      <a:r>
                        <a:rPr sz="9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95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Up,</a:t>
                      </a:r>
                      <a:r>
                        <a:rPr sz="9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Down,</a:t>
                      </a:r>
                      <a:r>
                        <a:rPr sz="95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Left,</a:t>
                      </a:r>
                      <a:r>
                        <a:rPr sz="9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Right</a:t>
                      </a:r>
                      <a:r>
                        <a:rPr sz="9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movement;</a:t>
                      </a:r>
                      <a:r>
                        <a:rPr sz="9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rescue</a:t>
                      </a:r>
                      <a:r>
                        <a:rPr sz="95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10" dirty="0">
                          <a:latin typeface="Times New Roman"/>
                          <a:cs typeface="Times New Roman"/>
                        </a:rPr>
                        <a:t>mechanism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680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950" spc="-10" dirty="0">
                          <a:latin typeface="Times New Roman"/>
                          <a:cs typeface="Times New Roman"/>
                        </a:rPr>
                        <a:t>Sensors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10287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marL="57785" marR="209550">
                        <a:lnSpc>
                          <a:spcPts val="1090"/>
                        </a:lnSpc>
                        <a:spcBef>
                          <a:spcPts val="340"/>
                        </a:spcBef>
                      </a:pPr>
                      <a:r>
                        <a:rPr sz="950" dirty="0">
                          <a:latin typeface="Times New Roman"/>
                          <a:cs typeface="Times New Roman"/>
                        </a:rPr>
                        <a:t>Proximity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obstacle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sensors,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10" dirty="0">
                          <a:latin typeface="Times New Roman"/>
                          <a:cs typeface="Times New Roman"/>
                        </a:rPr>
                        <a:t>camera</a:t>
                      </a:r>
                      <a:r>
                        <a:rPr sz="9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sz="9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thermal</a:t>
                      </a:r>
                      <a:r>
                        <a:rPr sz="9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sensor</a:t>
                      </a:r>
                      <a:r>
                        <a:rPr sz="9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covering</a:t>
                      </a:r>
                      <a:r>
                        <a:rPr sz="9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95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4</a:t>
                      </a:r>
                      <a:r>
                        <a:rPr sz="9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adjacent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10" dirty="0">
                          <a:latin typeface="Times New Roman"/>
                          <a:cs typeface="Times New Roman"/>
                        </a:rPr>
                        <a:t>cells;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position</a:t>
                      </a:r>
                      <a:r>
                        <a:rPr sz="9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10" dirty="0">
                          <a:latin typeface="Times New Roman"/>
                          <a:cs typeface="Times New Roman"/>
                        </a:rPr>
                        <a:t>(odometry)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4318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object 11"/>
          <p:cNvSpPr txBox="1"/>
          <p:nvPr/>
        </p:nvSpPr>
        <p:spPr>
          <a:xfrm>
            <a:off x="706627" y="7793583"/>
            <a:ext cx="5981700" cy="19399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30504">
              <a:lnSpc>
                <a:spcPct val="110900"/>
              </a:lnSpc>
              <a:spcBef>
                <a:spcPts val="100"/>
              </a:spcBef>
            </a:pPr>
            <a:r>
              <a:rPr sz="1100" b="1" spc="-10" dirty="0">
                <a:latin typeface="Times New Roman"/>
                <a:cs typeface="Times New Roman"/>
              </a:rPr>
              <a:t>Percept-</a:t>
            </a:r>
            <a:r>
              <a:rPr sz="1100" b="1" dirty="0">
                <a:latin typeface="Times New Roman"/>
                <a:cs typeface="Times New Roman"/>
              </a:rPr>
              <a:t>action</a:t>
            </a:r>
            <a:r>
              <a:rPr sz="1100" b="1" spc="-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cycle:</a:t>
            </a:r>
            <a:r>
              <a:rPr sz="1100" b="1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percept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(adjacent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cells) → update internal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map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→ decide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best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next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move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by </a:t>
            </a:r>
            <a:r>
              <a:rPr sz="1100" dirty="0">
                <a:latin typeface="Times New Roman"/>
                <a:cs typeface="Times New Roman"/>
              </a:rPr>
              <a:t>search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→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action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(move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one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cell)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→ new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percept.</a:t>
            </a:r>
            <a:endParaRPr sz="1100">
              <a:latin typeface="Times New Roman"/>
              <a:cs typeface="Times New Roman"/>
            </a:endParaRPr>
          </a:p>
          <a:p>
            <a:pPr marL="227329" indent="-214629">
              <a:lnSpc>
                <a:spcPct val="100000"/>
              </a:lnSpc>
              <a:spcBef>
                <a:spcPts val="1015"/>
              </a:spcBef>
              <a:buFont typeface="Times New Roman"/>
              <a:buAutoNum type="romanLcParenBoth" startAt="2"/>
              <a:tabLst>
                <a:tab pos="227329" algn="l"/>
              </a:tabLst>
            </a:pPr>
            <a:r>
              <a:rPr sz="1150" b="1" spc="-10" dirty="0">
                <a:latin typeface="Times New Roman"/>
                <a:cs typeface="Times New Roman"/>
              </a:rPr>
              <a:t>Rationality</a:t>
            </a:r>
            <a:endParaRPr sz="1150">
              <a:latin typeface="Times New Roman"/>
              <a:cs typeface="Times New Roman"/>
            </a:endParaRPr>
          </a:p>
          <a:p>
            <a:pPr marL="12700" marR="306705">
              <a:lnSpc>
                <a:spcPct val="110900"/>
              </a:lnSpc>
              <a:spcBef>
                <a:spcPts val="204"/>
              </a:spcBef>
            </a:pP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rational agent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selects,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every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percept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sequence,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action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expected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maximise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its</a:t>
            </a:r>
            <a:r>
              <a:rPr sz="1100" spc="-10" dirty="0">
                <a:latin typeface="Times New Roman"/>
                <a:cs typeface="Times New Roman"/>
              </a:rPr>
              <a:t> performance </a:t>
            </a:r>
            <a:r>
              <a:rPr sz="1100" dirty="0">
                <a:latin typeface="Times New Roman"/>
                <a:cs typeface="Times New Roman"/>
              </a:rPr>
              <a:t>measure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given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its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built-in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knowledge.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robot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rational </a:t>
            </a:r>
            <a:r>
              <a:rPr sz="1100" spc="-10" dirty="0">
                <a:latin typeface="Times New Roman"/>
                <a:cs typeface="Times New Roman"/>
              </a:rPr>
              <a:t>because:</a:t>
            </a:r>
            <a:endParaRPr sz="1100">
              <a:latin typeface="Times New Roman"/>
              <a:cs typeface="Times New Roman"/>
            </a:endParaRPr>
          </a:p>
          <a:p>
            <a:pPr marL="355600" marR="230504" lvl="1" indent="-170815">
              <a:lnSpc>
                <a:spcPct val="110900"/>
              </a:lnSpc>
              <a:spcBef>
                <a:spcPts val="480"/>
              </a:spcBef>
              <a:buChar char="•"/>
              <a:tabLst>
                <a:tab pos="355600" algn="l"/>
              </a:tabLst>
            </a:pPr>
            <a:r>
              <a:rPr sz="1100" dirty="0">
                <a:latin typeface="Times New Roman"/>
                <a:cs typeface="Times New Roman"/>
              </a:rPr>
              <a:t>it uses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all percepts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collected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so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far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(the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updated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map)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 never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repeats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invalid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action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such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as </a:t>
            </a:r>
            <a:r>
              <a:rPr sz="1100" dirty="0">
                <a:latin typeface="Times New Roman"/>
                <a:cs typeface="Times New Roman"/>
              </a:rPr>
              <a:t>walking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into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known </a:t>
            </a:r>
            <a:r>
              <a:rPr sz="1100" spc="-10" dirty="0">
                <a:latin typeface="Times New Roman"/>
                <a:cs typeface="Times New Roman"/>
              </a:rPr>
              <a:t>obstacle;</a:t>
            </a:r>
            <a:endParaRPr sz="1100">
              <a:latin typeface="Times New Roman"/>
              <a:cs typeface="Times New Roman"/>
            </a:endParaRPr>
          </a:p>
          <a:p>
            <a:pPr marL="355600" marR="5080" lvl="1" indent="-170815">
              <a:lnSpc>
                <a:spcPct val="110000"/>
              </a:lnSpc>
              <a:spcBef>
                <a:spcPts val="300"/>
              </a:spcBef>
              <a:buChar char="•"/>
              <a:tabLst>
                <a:tab pos="355600" algn="l"/>
              </a:tabLst>
            </a:pPr>
            <a:r>
              <a:rPr sz="1100" dirty="0">
                <a:latin typeface="Times New Roman"/>
                <a:cs typeface="Times New Roman"/>
              </a:rPr>
              <a:t>it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picks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move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cheapest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known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path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G,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trading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off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distance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against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risk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penalty,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so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it </a:t>
            </a:r>
            <a:r>
              <a:rPr sz="1100" dirty="0">
                <a:latin typeface="Times New Roman"/>
                <a:cs typeface="Times New Roman"/>
              </a:rPr>
              <a:t>maximises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performance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measure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information</a:t>
            </a:r>
            <a:r>
              <a:rPr sz="1100" spc="-10" dirty="0">
                <a:latin typeface="Times New Roman"/>
                <a:cs typeface="Times New Roman"/>
              </a:rPr>
              <a:t> available;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06627" y="679804"/>
            <a:ext cx="5954395" cy="11106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283845" indent="-170815">
              <a:lnSpc>
                <a:spcPct val="110900"/>
              </a:lnSpc>
              <a:spcBef>
                <a:spcPts val="100"/>
              </a:spcBef>
              <a:buChar char="•"/>
              <a:tabLst>
                <a:tab pos="355600" algn="l"/>
              </a:tabLst>
            </a:pPr>
            <a:r>
              <a:rPr sz="1100" dirty="0">
                <a:latin typeface="Times New Roman"/>
                <a:cs typeface="Times New Roman"/>
              </a:rPr>
              <a:t>it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explores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unknown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cells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only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when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necessary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(information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gathering),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it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learns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from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new </a:t>
            </a:r>
            <a:r>
              <a:rPr sz="1100" dirty="0">
                <a:latin typeface="Times New Roman"/>
                <a:cs typeface="Times New Roman"/>
              </a:rPr>
              <a:t>percepts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by </a:t>
            </a:r>
            <a:r>
              <a:rPr sz="1100" spc="-10" dirty="0">
                <a:latin typeface="Times New Roman"/>
                <a:cs typeface="Times New Roman"/>
              </a:rPr>
              <a:t>re-planning.</a:t>
            </a:r>
            <a:endParaRPr sz="1100">
              <a:latin typeface="Times New Roman"/>
              <a:cs typeface="Times New Roman"/>
            </a:endParaRPr>
          </a:p>
          <a:p>
            <a:pPr marL="12700" marR="5080">
              <a:lnSpc>
                <a:spcPct val="110000"/>
              </a:lnSpc>
              <a:spcBef>
                <a:spcPts val="300"/>
              </a:spcBef>
            </a:pPr>
            <a:r>
              <a:rPr sz="1100" dirty="0">
                <a:latin typeface="Times New Roman"/>
                <a:cs typeface="Times New Roman"/>
              </a:rPr>
              <a:t>Rationality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here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bounded</a:t>
            </a:r>
            <a:r>
              <a:rPr sz="1100" dirty="0">
                <a:latin typeface="Times New Roman"/>
                <a:cs typeface="Times New Roman"/>
              </a:rPr>
              <a:t>: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robot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cannot be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optimal over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whole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unseen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building,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but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it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optimal </a:t>
            </a:r>
            <a:r>
              <a:rPr sz="1100" dirty="0">
                <a:latin typeface="Times New Roman"/>
                <a:cs typeface="Times New Roman"/>
              </a:rPr>
              <a:t>with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respect to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its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current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knowledge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cost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model,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it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never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takes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action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it knows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</a:t>
            </a:r>
            <a:r>
              <a:rPr sz="1100" spc="-10" dirty="0">
                <a:latin typeface="Times New Roman"/>
                <a:cs typeface="Times New Roman"/>
              </a:rPr>
              <a:t> worse.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30"/>
              </a:spcBef>
            </a:pPr>
            <a:r>
              <a:rPr sz="1150" b="1" dirty="0">
                <a:latin typeface="Times New Roman"/>
                <a:cs typeface="Times New Roman"/>
              </a:rPr>
              <a:t>(iii)</a:t>
            </a:r>
            <a:r>
              <a:rPr sz="1150" b="1" spc="-55" dirty="0">
                <a:latin typeface="Times New Roman"/>
                <a:cs typeface="Times New Roman"/>
              </a:rPr>
              <a:t> </a:t>
            </a:r>
            <a:r>
              <a:rPr sz="1150" b="1" dirty="0">
                <a:latin typeface="Times New Roman"/>
                <a:cs typeface="Times New Roman"/>
              </a:rPr>
              <a:t>Environment</a:t>
            </a:r>
            <a:r>
              <a:rPr sz="1150" b="1" spc="-50" dirty="0">
                <a:latin typeface="Times New Roman"/>
                <a:cs typeface="Times New Roman"/>
              </a:rPr>
              <a:t> </a:t>
            </a:r>
            <a:r>
              <a:rPr sz="1150" b="1" spc="-20" dirty="0">
                <a:latin typeface="Times New Roman"/>
                <a:cs typeface="Times New Roman"/>
              </a:rPr>
              <a:t>type</a:t>
            </a:r>
            <a:endParaRPr sz="1150">
              <a:latin typeface="Times New Roman"/>
              <a:cs typeface="Times New Roman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719327" y="1830577"/>
          <a:ext cx="6120129" cy="246189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03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457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0979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950" b="1" spc="-10" dirty="0">
                          <a:latin typeface="Times New Roman"/>
                          <a:cs typeface="Times New Roman"/>
                        </a:rPr>
                        <a:t>Property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1F3863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950" b="1" spc="-10" dirty="0">
                          <a:latin typeface="Times New Roman"/>
                          <a:cs typeface="Times New Roman"/>
                        </a:rPr>
                        <a:t>Classification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1F3863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950" b="1" spc="-10" dirty="0">
                          <a:latin typeface="Times New Roman"/>
                          <a:cs typeface="Times New Roman"/>
                        </a:rPr>
                        <a:t>Reason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1F38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0345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950" spc="-10" dirty="0">
                          <a:latin typeface="Times New Roman"/>
                          <a:cs typeface="Times New Roman"/>
                        </a:rPr>
                        <a:t>Observability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950" dirty="0">
                          <a:latin typeface="Times New Roman"/>
                          <a:cs typeface="Times New Roman"/>
                        </a:rPr>
                        <a:t>Partially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10" dirty="0">
                          <a:latin typeface="Times New Roman"/>
                          <a:cs typeface="Times New Roman"/>
                        </a:rPr>
                        <a:t>observable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950" dirty="0">
                          <a:latin typeface="Times New Roman"/>
                          <a:cs typeface="Times New Roman"/>
                        </a:rPr>
                        <a:t>Sees</a:t>
                      </a:r>
                      <a:r>
                        <a:rPr sz="95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only</a:t>
                      </a:r>
                      <a:r>
                        <a:rPr sz="95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adjacent</a:t>
                      </a:r>
                      <a:r>
                        <a:rPr sz="9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10" dirty="0">
                          <a:latin typeface="Times New Roman"/>
                          <a:cs typeface="Times New Roman"/>
                        </a:rPr>
                        <a:t>cells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680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950" spc="-10" dirty="0">
                          <a:latin typeface="Times New Roman"/>
                          <a:cs typeface="Times New Roman"/>
                        </a:rPr>
                        <a:t>Agents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103505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950" dirty="0">
                          <a:latin typeface="Times New Roman"/>
                          <a:cs typeface="Times New Roman"/>
                        </a:rPr>
                        <a:t>Single</a:t>
                      </a:r>
                      <a:r>
                        <a:rPr sz="9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10" dirty="0">
                          <a:latin typeface="Times New Roman"/>
                          <a:cs typeface="Times New Roman"/>
                        </a:rPr>
                        <a:t>agent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103505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marL="57785" marR="271780">
                        <a:lnSpc>
                          <a:spcPts val="1100"/>
                        </a:lnSpc>
                        <a:spcBef>
                          <a:spcPts val="330"/>
                        </a:spcBef>
                      </a:pPr>
                      <a:r>
                        <a:rPr sz="950" dirty="0">
                          <a:latin typeface="Times New Roman"/>
                          <a:cs typeface="Times New Roman"/>
                        </a:rPr>
                        <a:t>Only</a:t>
                      </a:r>
                      <a:r>
                        <a:rPr sz="9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one</a:t>
                      </a:r>
                      <a:r>
                        <a:rPr sz="95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robot;</a:t>
                      </a:r>
                      <a:r>
                        <a:rPr sz="95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survivors</a:t>
                      </a:r>
                      <a:r>
                        <a:rPr sz="95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95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debris</a:t>
                      </a:r>
                      <a:r>
                        <a:rPr sz="95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are</a:t>
                      </a:r>
                      <a:r>
                        <a:rPr sz="95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not</a:t>
                      </a:r>
                      <a:r>
                        <a:rPr sz="95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10" dirty="0">
                          <a:latin typeface="Times New Roman"/>
                          <a:cs typeface="Times New Roman"/>
                        </a:rPr>
                        <a:t>decision-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making</a:t>
                      </a:r>
                      <a:r>
                        <a:rPr sz="95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10" dirty="0">
                          <a:latin typeface="Times New Roman"/>
                          <a:cs typeface="Times New Roman"/>
                        </a:rPr>
                        <a:t>agents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4191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410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950" spc="-10" dirty="0">
                          <a:latin typeface="Times New Roman"/>
                          <a:cs typeface="Times New Roman"/>
                        </a:rPr>
                        <a:t>Determinism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10160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950" spc="-10" dirty="0">
                          <a:latin typeface="Times New Roman"/>
                          <a:cs typeface="Times New Roman"/>
                        </a:rPr>
                        <a:t>Deterministic</a:t>
                      </a:r>
                      <a:r>
                        <a:rPr sz="950" spc="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10" dirty="0">
                          <a:latin typeface="Times New Roman"/>
                          <a:cs typeface="Times New Roman"/>
                        </a:rPr>
                        <a:t>(assumed)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10160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 marR="370840">
                        <a:lnSpc>
                          <a:spcPts val="1090"/>
                        </a:lnSpc>
                        <a:spcBef>
                          <a:spcPts val="340"/>
                        </a:spcBef>
                      </a:pPr>
                      <a:r>
                        <a:rPr sz="95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95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move</a:t>
                      </a:r>
                      <a:r>
                        <a:rPr sz="95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leads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95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intended</a:t>
                      </a:r>
                      <a:r>
                        <a:rPr sz="95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neighbour;</a:t>
                      </a:r>
                      <a:r>
                        <a:rPr sz="9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it</a:t>
                      </a:r>
                      <a:r>
                        <a:rPr sz="95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10" dirty="0">
                          <a:latin typeface="Times New Roman"/>
                          <a:cs typeface="Times New Roman"/>
                        </a:rPr>
                        <a:t>becomes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stochastic</a:t>
                      </a:r>
                      <a:r>
                        <a:rPr sz="95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if</a:t>
                      </a:r>
                      <a:r>
                        <a:rPr sz="95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wheels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slip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sz="95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debris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10" dirty="0">
                          <a:latin typeface="Times New Roman"/>
                          <a:cs typeface="Times New Roman"/>
                        </a:rPr>
                        <a:t>shifts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4318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45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950" dirty="0">
                          <a:latin typeface="Times New Roman"/>
                          <a:cs typeface="Times New Roman"/>
                        </a:rPr>
                        <a:t>Episodic</a:t>
                      </a:r>
                      <a:r>
                        <a:rPr sz="9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sz="95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10" dirty="0">
                          <a:latin typeface="Times New Roman"/>
                          <a:cs typeface="Times New Roman"/>
                        </a:rPr>
                        <a:t>sequential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10160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950" spc="-10" dirty="0">
                          <a:latin typeface="Times New Roman"/>
                          <a:cs typeface="Times New Roman"/>
                        </a:rPr>
                        <a:t>Sequential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10160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marL="57785" marR="303530">
                        <a:lnSpc>
                          <a:spcPts val="1090"/>
                        </a:lnSpc>
                        <a:spcBef>
                          <a:spcPts val="340"/>
                        </a:spcBef>
                      </a:pPr>
                      <a:r>
                        <a:rPr sz="950" dirty="0">
                          <a:latin typeface="Times New Roman"/>
                          <a:cs typeface="Times New Roman"/>
                        </a:rPr>
                        <a:t>Each</a:t>
                      </a:r>
                      <a:r>
                        <a:rPr sz="9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move</a:t>
                      </a:r>
                      <a:r>
                        <a:rPr sz="95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changes</a:t>
                      </a:r>
                      <a:r>
                        <a:rPr sz="95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95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position</a:t>
                      </a:r>
                      <a:r>
                        <a:rPr sz="9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affects</a:t>
                      </a:r>
                      <a:r>
                        <a:rPr sz="9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all</a:t>
                      </a:r>
                      <a:r>
                        <a:rPr sz="9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10" dirty="0">
                          <a:latin typeface="Times New Roman"/>
                          <a:cs typeface="Times New Roman"/>
                        </a:rPr>
                        <a:t>future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costs</a:t>
                      </a:r>
                      <a:r>
                        <a:rPr sz="95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10" dirty="0">
                          <a:latin typeface="Times New Roman"/>
                          <a:cs typeface="Times New Roman"/>
                        </a:rPr>
                        <a:t>choices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4318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9410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950" dirty="0">
                          <a:latin typeface="Times New Roman"/>
                          <a:cs typeface="Times New Roman"/>
                        </a:rPr>
                        <a:t>Static</a:t>
                      </a:r>
                      <a:r>
                        <a:rPr sz="9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sz="950" spc="-10" dirty="0">
                          <a:latin typeface="Times New Roman"/>
                          <a:cs typeface="Times New Roman"/>
                        </a:rPr>
                        <a:t> dynamic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103505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 marR="422909">
                        <a:lnSpc>
                          <a:spcPts val="1090"/>
                        </a:lnSpc>
                        <a:spcBef>
                          <a:spcPts val="340"/>
                        </a:spcBef>
                      </a:pPr>
                      <a:r>
                        <a:rPr sz="950" dirty="0">
                          <a:latin typeface="Times New Roman"/>
                          <a:cs typeface="Times New Roman"/>
                        </a:rPr>
                        <a:t>Static</a:t>
                      </a:r>
                      <a:r>
                        <a:rPr sz="95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10" dirty="0">
                          <a:latin typeface="Times New Roman"/>
                          <a:cs typeface="Times New Roman"/>
                        </a:rPr>
                        <a:t>(assumed)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sz="95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semi-</a:t>
                      </a:r>
                      <a:r>
                        <a:rPr sz="950" spc="-10" dirty="0">
                          <a:latin typeface="Times New Roman"/>
                          <a:cs typeface="Times New Roman"/>
                        </a:rPr>
                        <a:t>dynamic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4318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 marR="163195">
                        <a:lnSpc>
                          <a:spcPts val="1090"/>
                        </a:lnSpc>
                        <a:spcBef>
                          <a:spcPts val="340"/>
                        </a:spcBef>
                      </a:pPr>
                      <a:r>
                        <a:rPr sz="950" dirty="0">
                          <a:latin typeface="Times New Roman"/>
                          <a:cs typeface="Times New Roman"/>
                        </a:rPr>
                        <a:t>Layout</a:t>
                      </a:r>
                      <a:r>
                        <a:rPr sz="9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10" dirty="0">
                          <a:latin typeface="Times New Roman"/>
                          <a:cs typeface="Times New Roman"/>
                        </a:rPr>
                        <a:t>assumed</a:t>
                      </a:r>
                      <a:r>
                        <a:rPr sz="9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fixed</a:t>
                      </a:r>
                      <a:r>
                        <a:rPr sz="9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while</a:t>
                      </a:r>
                      <a:r>
                        <a:rPr sz="95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planning,</a:t>
                      </a:r>
                      <a:r>
                        <a:rPr sz="95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but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10" dirty="0">
                          <a:latin typeface="Times New Roman"/>
                          <a:cs typeface="Times New Roman"/>
                        </a:rPr>
                        <a:t>aftershocks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can</a:t>
                      </a:r>
                      <a:r>
                        <a:rPr sz="95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change</a:t>
                      </a:r>
                      <a:r>
                        <a:rPr sz="9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it;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hence</a:t>
                      </a:r>
                      <a:r>
                        <a:rPr sz="9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10" dirty="0">
                          <a:latin typeface="Times New Roman"/>
                          <a:cs typeface="Times New Roman"/>
                        </a:rPr>
                        <a:t>re-planning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4318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0345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950" dirty="0">
                          <a:latin typeface="Times New Roman"/>
                          <a:cs typeface="Times New Roman"/>
                        </a:rPr>
                        <a:t>Discrete</a:t>
                      </a:r>
                      <a:r>
                        <a:rPr sz="95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sz="9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10" dirty="0">
                          <a:latin typeface="Times New Roman"/>
                          <a:cs typeface="Times New Roman"/>
                        </a:rPr>
                        <a:t>continuous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950" spc="-10" dirty="0">
                          <a:latin typeface="Times New Roman"/>
                          <a:cs typeface="Times New Roman"/>
                        </a:rPr>
                        <a:t>Discrete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950" dirty="0">
                          <a:latin typeface="Times New Roman"/>
                          <a:cs typeface="Times New Roman"/>
                        </a:rPr>
                        <a:t>Grid</a:t>
                      </a:r>
                      <a:r>
                        <a:rPr sz="95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cells,</a:t>
                      </a:r>
                      <a:r>
                        <a:rPr sz="95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four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fixed</a:t>
                      </a:r>
                      <a:r>
                        <a:rPr sz="95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10" dirty="0">
                          <a:latin typeface="Times New Roman"/>
                          <a:cs typeface="Times New Roman"/>
                        </a:rPr>
                        <a:t>actions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680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950" dirty="0">
                          <a:latin typeface="Times New Roman"/>
                          <a:cs typeface="Times New Roman"/>
                        </a:rPr>
                        <a:t>Known</a:t>
                      </a:r>
                      <a:r>
                        <a:rPr sz="95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sz="9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10" dirty="0">
                          <a:latin typeface="Times New Roman"/>
                          <a:cs typeface="Times New Roman"/>
                        </a:rPr>
                        <a:t>unknown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10287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950" dirty="0">
                          <a:latin typeface="Times New Roman"/>
                          <a:cs typeface="Times New Roman"/>
                        </a:rPr>
                        <a:t>Partly </a:t>
                      </a:r>
                      <a:r>
                        <a:rPr sz="950" spc="-10" dirty="0">
                          <a:latin typeface="Times New Roman"/>
                          <a:cs typeface="Times New Roman"/>
                        </a:rPr>
                        <a:t>unknown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10287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 marR="256540">
                        <a:lnSpc>
                          <a:spcPts val="1090"/>
                        </a:lnSpc>
                        <a:spcBef>
                          <a:spcPts val="350"/>
                        </a:spcBef>
                      </a:pPr>
                      <a:r>
                        <a:rPr sz="95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map</a:t>
                      </a:r>
                      <a:r>
                        <a:rPr sz="9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9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not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known</a:t>
                      </a:r>
                      <a:r>
                        <a:rPr sz="9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950" spc="-10" dirty="0">
                          <a:latin typeface="Times New Roman"/>
                          <a:cs typeface="Times New Roman"/>
                        </a:rPr>
                        <a:t> advance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95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9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learned</a:t>
                      </a:r>
                      <a:r>
                        <a:rPr sz="950" spc="-10" dirty="0">
                          <a:latin typeface="Times New Roman"/>
                          <a:cs typeface="Times New Roman"/>
                        </a:rPr>
                        <a:t> while moving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4445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706627" y="4350802"/>
            <a:ext cx="6057900" cy="2756535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193040" indent="-180340">
              <a:lnSpc>
                <a:spcPct val="100000"/>
              </a:lnSpc>
              <a:spcBef>
                <a:spcPts val="725"/>
              </a:spcBef>
              <a:buFont typeface="Times New Roman"/>
              <a:buAutoNum type="alphaLcParenR" startAt="4"/>
              <a:tabLst>
                <a:tab pos="193040" algn="l"/>
              </a:tabLst>
            </a:pPr>
            <a:r>
              <a:rPr sz="1250" b="1" dirty="0">
                <a:latin typeface="Times New Roman"/>
                <a:cs typeface="Times New Roman"/>
              </a:rPr>
              <a:t>Justification</a:t>
            </a:r>
            <a:r>
              <a:rPr sz="1250" b="1" spc="-40" dirty="0">
                <a:latin typeface="Times New Roman"/>
                <a:cs typeface="Times New Roman"/>
              </a:rPr>
              <a:t> </a:t>
            </a:r>
            <a:r>
              <a:rPr sz="1250" b="1" dirty="0">
                <a:latin typeface="Times New Roman"/>
                <a:cs typeface="Times New Roman"/>
              </a:rPr>
              <a:t>of</a:t>
            </a:r>
            <a:r>
              <a:rPr sz="1250" b="1" spc="-30" dirty="0">
                <a:latin typeface="Times New Roman"/>
                <a:cs typeface="Times New Roman"/>
              </a:rPr>
              <a:t> </a:t>
            </a:r>
            <a:r>
              <a:rPr sz="1250" b="1" dirty="0">
                <a:latin typeface="Times New Roman"/>
                <a:cs typeface="Times New Roman"/>
              </a:rPr>
              <a:t>the</a:t>
            </a:r>
            <a:r>
              <a:rPr sz="1250" b="1" spc="-40" dirty="0">
                <a:latin typeface="Times New Roman"/>
                <a:cs typeface="Times New Roman"/>
              </a:rPr>
              <a:t> </a:t>
            </a:r>
            <a:r>
              <a:rPr sz="1250" b="1" dirty="0">
                <a:latin typeface="Times New Roman"/>
                <a:cs typeface="Times New Roman"/>
              </a:rPr>
              <a:t>chosen</a:t>
            </a:r>
            <a:r>
              <a:rPr sz="1250" b="1" spc="-40" dirty="0">
                <a:latin typeface="Times New Roman"/>
                <a:cs typeface="Times New Roman"/>
              </a:rPr>
              <a:t> </a:t>
            </a:r>
            <a:r>
              <a:rPr sz="1250" b="1" spc="-10" dirty="0">
                <a:latin typeface="Times New Roman"/>
                <a:cs typeface="Times New Roman"/>
              </a:rPr>
              <a:t>approach</a:t>
            </a:r>
            <a:endParaRPr sz="1250">
              <a:latin typeface="Times New Roman"/>
              <a:cs typeface="Times New Roman"/>
            </a:endParaRPr>
          </a:p>
          <a:p>
            <a:pPr marL="355600" marR="5080" lvl="1" indent="-170815">
              <a:lnSpc>
                <a:spcPct val="110000"/>
              </a:lnSpc>
              <a:spcBef>
                <a:spcPts val="425"/>
              </a:spcBef>
              <a:buFont typeface="Times New Roman"/>
              <a:buChar char="•"/>
              <a:tabLst>
                <a:tab pos="355600" algn="l"/>
              </a:tabLst>
            </a:pPr>
            <a:r>
              <a:rPr sz="1100" b="1" dirty="0">
                <a:latin typeface="Times New Roman"/>
                <a:cs typeface="Times New Roman"/>
              </a:rPr>
              <a:t>Handles</a:t>
            </a:r>
            <a:r>
              <a:rPr sz="1100" b="1" spc="-1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partial</a:t>
            </a:r>
            <a:r>
              <a:rPr sz="1100" b="1" spc="-2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observability:</a:t>
            </a:r>
            <a:r>
              <a:rPr sz="1100" b="1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online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agent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that interleaves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sensing,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planning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acting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does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not </a:t>
            </a:r>
            <a:r>
              <a:rPr sz="1100" dirty="0">
                <a:latin typeface="Times New Roman"/>
                <a:cs typeface="Times New Roman"/>
              </a:rPr>
              <a:t>need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full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map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 advance,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which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 offline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planner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would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require.</a:t>
            </a:r>
            <a:endParaRPr sz="1100">
              <a:latin typeface="Times New Roman"/>
              <a:cs typeface="Times New Roman"/>
            </a:endParaRPr>
          </a:p>
          <a:p>
            <a:pPr marL="355600" marR="22860" lvl="1" indent="-170815">
              <a:lnSpc>
                <a:spcPct val="110000"/>
              </a:lnSpc>
              <a:spcBef>
                <a:spcPts val="300"/>
              </a:spcBef>
              <a:buFont typeface="Times New Roman"/>
              <a:buChar char="•"/>
              <a:tabLst>
                <a:tab pos="355600" algn="l"/>
              </a:tabLst>
            </a:pPr>
            <a:r>
              <a:rPr sz="1100" b="1" dirty="0">
                <a:latin typeface="Times New Roman"/>
                <a:cs typeface="Times New Roman"/>
              </a:rPr>
              <a:t>Handles</a:t>
            </a:r>
            <a:r>
              <a:rPr sz="1100" b="1" spc="-10" dirty="0">
                <a:latin typeface="Times New Roman"/>
                <a:cs typeface="Times New Roman"/>
              </a:rPr>
              <a:t> non-</a:t>
            </a:r>
            <a:r>
              <a:rPr sz="1100" b="1" dirty="0">
                <a:latin typeface="Times New Roman"/>
                <a:cs typeface="Times New Roman"/>
              </a:rPr>
              <a:t>uniform</a:t>
            </a:r>
            <a:r>
              <a:rPr sz="1100" b="1" spc="-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costs:</a:t>
            </a:r>
            <a:r>
              <a:rPr sz="1100" b="1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UCS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/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A*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minimise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sum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step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costs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including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+2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risk</a:t>
            </a:r>
            <a:r>
              <a:rPr sz="1100" spc="-10" dirty="0">
                <a:latin typeface="Times New Roman"/>
                <a:cs typeface="Times New Roman"/>
              </a:rPr>
              <a:t> penalty. </a:t>
            </a:r>
            <a:r>
              <a:rPr sz="1100" dirty="0">
                <a:latin typeface="Times New Roman"/>
                <a:cs typeface="Times New Roman"/>
              </a:rPr>
              <a:t>BFS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only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minimises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number of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steps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may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route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through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risky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cells.</a:t>
            </a:r>
            <a:endParaRPr sz="1100">
              <a:latin typeface="Times New Roman"/>
              <a:cs typeface="Times New Roman"/>
            </a:endParaRPr>
          </a:p>
          <a:p>
            <a:pPr marL="355600" marR="85090" lvl="1" indent="-170815">
              <a:lnSpc>
                <a:spcPct val="110000"/>
              </a:lnSpc>
              <a:spcBef>
                <a:spcPts val="315"/>
              </a:spcBef>
              <a:buFont typeface="Times New Roman"/>
              <a:buChar char="•"/>
              <a:tabLst>
                <a:tab pos="355600" algn="l"/>
              </a:tabLst>
            </a:pPr>
            <a:r>
              <a:rPr sz="1100" b="1" dirty="0">
                <a:latin typeface="Times New Roman"/>
                <a:cs typeface="Times New Roman"/>
              </a:rPr>
              <a:t>Optimal</a:t>
            </a:r>
            <a:r>
              <a:rPr sz="1100" b="1" spc="-1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and</a:t>
            </a:r>
            <a:r>
              <a:rPr sz="1100" b="1" spc="-2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complete</a:t>
            </a:r>
            <a:r>
              <a:rPr sz="1100" b="1" spc="-1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on</a:t>
            </a:r>
            <a:r>
              <a:rPr sz="1100" b="1" spc="-2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known</a:t>
            </a:r>
            <a:r>
              <a:rPr sz="1100" b="1" spc="-3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information: </a:t>
            </a:r>
            <a:r>
              <a:rPr sz="1100" dirty="0">
                <a:latin typeface="Times New Roman"/>
                <a:cs typeface="Times New Roman"/>
              </a:rPr>
              <a:t>UCS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/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A*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admissible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heuristic</a:t>
            </a:r>
            <a:r>
              <a:rPr sz="1100" spc="-10" dirty="0">
                <a:latin typeface="Times New Roman"/>
                <a:cs typeface="Times New Roman"/>
              </a:rPr>
              <a:t> (Manhattan </a:t>
            </a:r>
            <a:r>
              <a:rPr sz="1100" dirty="0">
                <a:latin typeface="Times New Roman"/>
                <a:cs typeface="Times New Roman"/>
              </a:rPr>
              <a:t>distance,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as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every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step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costs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≥ 1)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guarantee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cheapest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path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known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map,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re-</a:t>
            </a:r>
            <a:r>
              <a:rPr sz="1100" spc="-10" dirty="0">
                <a:latin typeface="Times New Roman"/>
                <a:cs typeface="Times New Roman"/>
              </a:rPr>
              <a:t>planning </a:t>
            </a:r>
            <a:r>
              <a:rPr sz="1100" dirty="0">
                <a:latin typeface="Times New Roman"/>
                <a:cs typeface="Times New Roman"/>
              </a:rPr>
              <a:t>ensures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robot finishes if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 safe path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exists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 finite</a:t>
            </a:r>
            <a:r>
              <a:rPr sz="1100" spc="-10" dirty="0">
                <a:latin typeface="Times New Roman"/>
                <a:cs typeface="Times New Roman"/>
              </a:rPr>
              <a:t> grid.</a:t>
            </a:r>
            <a:endParaRPr sz="1100">
              <a:latin typeface="Times New Roman"/>
              <a:cs typeface="Times New Roman"/>
            </a:endParaRPr>
          </a:p>
          <a:p>
            <a:pPr marL="355600" marR="19050" lvl="1" indent="-170815">
              <a:lnSpc>
                <a:spcPct val="110000"/>
              </a:lnSpc>
              <a:spcBef>
                <a:spcPts val="300"/>
              </a:spcBef>
              <a:buFont typeface="Times New Roman"/>
              <a:buChar char="•"/>
              <a:tabLst>
                <a:tab pos="355600" algn="l"/>
              </a:tabLst>
            </a:pPr>
            <a:r>
              <a:rPr sz="1100" b="1" dirty="0">
                <a:latin typeface="Times New Roman"/>
                <a:cs typeface="Times New Roman"/>
              </a:rPr>
              <a:t>Efficient:</a:t>
            </a:r>
            <a:r>
              <a:rPr sz="1100" b="1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Manhattan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heuristic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focuses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search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toward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goal,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which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expands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far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fewer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nodes </a:t>
            </a:r>
            <a:r>
              <a:rPr sz="1100" dirty="0">
                <a:latin typeface="Times New Roman"/>
                <a:cs typeface="Times New Roman"/>
              </a:rPr>
              <a:t>than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plain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UCS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(as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seen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Question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2: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9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vs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19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nodes).</a:t>
            </a:r>
            <a:endParaRPr sz="1100">
              <a:latin typeface="Times New Roman"/>
              <a:cs typeface="Times New Roman"/>
            </a:endParaRPr>
          </a:p>
          <a:p>
            <a:pPr marL="355600" marR="123825" lvl="1" indent="-170815">
              <a:lnSpc>
                <a:spcPct val="110000"/>
              </a:lnSpc>
              <a:spcBef>
                <a:spcPts val="310"/>
              </a:spcBef>
              <a:buFont typeface="Times New Roman"/>
              <a:buChar char="•"/>
              <a:tabLst>
                <a:tab pos="355600" algn="l"/>
              </a:tabLst>
            </a:pPr>
            <a:r>
              <a:rPr sz="1100" b="1" dirty="0">
                <a:latin typeface="Times New Roman"/>
                <a:cs typeface="Times New Roman"/>
              </a:rPr>
              <a:t>Adaptive</a:t>
            </a:r>
            <a:r>
              <a:rPr sz="1100" b="1" spc="-2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and</a:t>
            </a:r>
            <a:r>
              <a:rPr sz="1100" b="1" spc="-1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safe: </a:t>
            </a:r>
            <a:r>
              <a:rPr sz="1100" dirty="0">
                <a:latin typeface="Times New Roman"/>
                <a:cs typeface="Times New Roman"/>
              </a:rPr>
              <a:t>blocked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cells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get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infinite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cost and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risky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cells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high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cost,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so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safety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part of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the </a:t>
            </a:r>
            <a:r>
              <a:rPr sz="1100" dirty="0">
                <a:latin typeface="Times New Roman"/>
                <a:cs typeface="Times New Roman"/>
              </a:rPr>
              <a:t>decision;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new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obstacles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trigger </a:t>
            </a:r>
            <a:r>
              <a:rPr sz="1100" spc="-10" dirty="0">
                <a:latin typeface="Times New Roman"/>
                <a:cs typeface="Times New Roman"/>
              </a:rPr>
              <a:t>re-</a:t>
            </a:r>
            <a:r>
              <a:rPr sz="1100" dirty="0">
                <a:latin typeface="Times New Roman"/>
                <a:cs typeface="Times New Roman"/>
              </a:rPr>
              <a:t>planning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rather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than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failure.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1100" b="1" dirty="0">
                <a:latin typeface="Times New Roman"/>
                <a:cs typeface="Times New Roman"/>
              </a:rPr>
              <a:t>Why</a:t>
            </a:r>
            <a:r>
              <a:rPr sz="1100" b="1" spc="-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not</a:t>
            </a:r>
            <a:r>
              <a:rPr sz="1100" b="1" spc="-1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the </a:t>
            </a:r>
            <a:r>
              <a:rPr sz="1100" b="1" spc="-10" dirty="0">
                <a:latin typeface="Times New Roman"/>
                <a:cs typeface="Times New Roman"/>
              </a:rPr>
              <a:t>alternatives?</a:t>
            </a:r>
            <a:endParaRPr sz="1100">
              <a:latin typeface="Times New Roman"/>
              <a:cs typeface="Times New Roman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719327" y="7183500"/>
          <a:ext cx="6121400" cy="160273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89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0345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950" b="1" spc="-10" dirty="0">
                          <a:latin typeface="Times New Roman"/>
                          <a:cs typeface="Times New Roman"/>
                        </a:rPr>
                        <a:t>Strategy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1F3863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950" b="1" dirty="0">
                          <a:latin typeface="Times New Roman"/>
                          <a:cs typeface="Times New Roman"/>
                        </a:rPr>
                        <a:t>Limitation</a:t>
                      </a:r>
                      <a:r>
                        <a:rPr sz="95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b="1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95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b="1" dirty="0">
                          <a:latin typeface="Times New Roman"/>
                          <a:cs typeface="Times New Roman"/>
                        </a:rPr>
                        <a:t>this</a:t>
                      </a:r>
                      <a:r>
                        <a:rPr sz="95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b="1" spc="-10" dirty="0">
                          <a:latin typeface="Times New Roman"/>
                          <a:cs typeface="Times New Roman"/>
                        </a:rPr>
                        <a:t>problem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1F38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0979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950" spc="-25" dirty="0">
                          <a:latin typeface="Times New Roman"/>
                          <a:cs typeface="Times New Roman"/>
                        </a:rPr>
                        <a:t>BFS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950" dirty="0">
                          <a:latin typeface="Times New Roman"/>
                          <a:cs typeface="Times New Roman"/>
                        </a:rPr>
                        <a:t>Ignores</a:t>
                      </a:r>
                      <a:r>
                        <a:rPr sz="95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step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costs</a:t>
                      </a:r>
                      <a:r>
                        <a:rPr sz="9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risk;</a:t>
                      </a:r>
                      <a:r>
                        <a:rPr sz="95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optimal</a:t>
                      </a:r>
                      <a:r>
                        <a:rPr sz="95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only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when</a:t>
                      </a:r>
                      <a:r>
                        <a:rPr sz="95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all</a:t>
                      </a:r>
                      <a:r>
                        <a:rPr sz="9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costs</a:t>
                      </a:r>
                      <a:r>
                        <a:rPr sz="95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are</a:t>
                      </a:r>
                      <a:r>
                        <a:rPr sz="95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equal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2250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950" dirty="0">
                          <a:latin typeface="Times New Roman"/>
                          <a:cs typeface="Times New Roman"/>
                        </a:rPr>
                        <a:t>DFS</a:t>
                      </a:r>
                      <a:r>
                        <a:rPr sz="9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sz="95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10" dirty="0">
                          <a:latin typeface="Times New Roman"/>
                          <a:cs typeface="Times New Roman"/>
                        </a:rPr>
                        <a:t>Depth-limited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950" dirty="0">
                          <a:latin typeface="Times New Roman"/>
                          <a:cs typeface="Times New Roman"/>
                        </a:rPr>
                        <a:t>Not</a:t>
                      </a:r>
                      <a:r>
                        <a:rPr sz="95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optimal,</a:t>
                      </a:r>
                      <a:r>
                        <a:rPr sz="95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may</a:t>
                      </a:r>
                      <a:r>
                        <a:rPr sz="9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wander</a:t>
                      </a:r>
                      <a:r>
                        <a:rPr sz="95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through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risky</a:t>
                      </a:r>
                      <a:r>
                        <a:rPr sz="9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zones</a:t>
                      </a:r>
                      <a:r>
                        <a:rPr sz="95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9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waste</a:t>
                      </a:r>
                      <a:r>
                        <a:rPr sz="95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cost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0345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950" dirty="0">
                          <a:latin typeface="Times New Roman"/>
                          <a:cs typeface="Times New Roman"/>
                        </a:rPr>
                        <a:t>Greedy</a:t>
                      </a:r>
                      <a:r>
                        <a:rPr sz="95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10" dirty="0">
                          <a:latin typeface="Times New Roman"/>
                          <a:cs typeface="Times New Roman"/>
                        </a:rPr>
                        <a:t>best-first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950" dirty="0">
                          <a:latin typeface="Times New Roman"/>
                          <a:cs typeface="Times New Roman"/>
                        </a:rPr>
                        <a:t>Ignores</a:t>
                      </a:r>
                      <a:r>
                        <a:rPr sz="9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cost</a:t>
                      </a:r>
                      <a:r>
                        <a:rPr sz="9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already</a:t>
                      </a:r>
                      <a:r>
                        <a:rPr sz="95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incurred;</a:t>
                      </a:r>
                      <a:r>
                        <a:rPr sz="95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not</a:t>
                      </a:r>
                      <a:r>
                        <a:rPr sz="9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optimal</a:t>
                      </a:r>
                      <a:r>
                        <a:rPr sz="95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can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enter</a:t>
                      </a:r>
                      <a:r>
                        <a:rPr sz="95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risky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10" dirty="0">
                          <a:latin typeface="Times New Roman"/>
                          <a:cs typeface="Times New Roman"/>
                        </a:rPr>
                        <a:t>cells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410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950" dirty="0">
                          <a:latin typeface="Times New Roman"/>
                          <a:cs typeface="Times New Roman"/>
                        </a:rPr>
                        <a:t>Offline</a:t>
                      </a:r>
                      <a:r>
                        <a:rPr sz="9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A*</a:t>
                      </a:r>
                      <a:r>
                        <a:rPr sz="95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sz="95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UCS</a:t>
                      </a:r>
                      <a:r>
                        <a:rPr sz="95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alone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10160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marL="57785" marR="201295">
                        <a:lnSpc>
                          <a:spcPts val="1090"/>
                        </a:lnSpc>
                        <a:spcBef>
                          <a:spcPts val="340"/>
                        </a:spcBef>
                      </a:pPr>
                      <a:r>
                        <a:rPr sz="950" dirty="0">
                          <a:latin typeface="Times New Roman"/>
                          <a:cs typeface="Times New Roman"/>
                        </a:rPr>
                        <a:t>Needs</a:t>
                      </a:r>
                      <a:r>
                        <a:rPr sz="95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9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complete</a:t>
                      </a:r>
                      <a:r>
                        <a:rPr sz="95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map</a:t>
                      </a:r>
                      <a:r>
                        <a:rPr sz="95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10" dirty="0">
                          <a:latin typeface="Times New Roman"/>
                          <a:cs typeface="Times New Roman"/>
                        </a:rPr>
                        <a:t>beforehand,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which a</a:t>
                      </a:r>
                      <a:r>
                        <a:rPr sz="9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partially</a:t>
                      </a:r>
                      <a:r>
                        <a:rPr sz="95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10" dirty="0">
                          <a:latin typeface="Times New Roman"/>
                          <a:cs typeface="Times New Roman"/>
                        </a:rPr>
                        <a:t>observable environment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does</a:t>
                      </a:r>
                      <a:r>
                        <a:rPr sz="95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not</a:t>
                      </a:r>
                      <a:r>
                        <a:rPr sz="95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10" dirty="0">
                          <a:latin typeface="Times New Roman"/>
                          <a:cs typeface="Times New Roman"/>
                        </a:rPr>
                        <a:t>provide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4318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9410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950" dirty="0">
                          <a:latin typeface="Times New Roman"/>
                          <a:cs typeface="Times New Roman"/>
                        </a:rPr>
                        <a:t>Online</a:t>
                      </a:r>
                      <a:r>
                        <a:rPr sz="9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agent</a:t>
                      </a:r>
                      <a:r>
                        <a:rPr sz="9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95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UCS</a:t>
                      </a:r>
                      <a:r>
                        <a:rPr sz="9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sz="9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A*</a:t>
                      </a:r>
                      <a:r>
                        <a:rPr sz="9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10" dirty="0">
                          <a:latin typeface="Times New Roman"/>
                          <a:cs typeface="Times New Roman"/>
                        </a:rPr>
                        <a:t>(chosen)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103505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E1EEDA"/>
                    </a:solidFill>
                  </a:tcPr>
                </a:tc>
                <a:tc>
                  <a:txBody>
                    <a:bodyPr/>
                    <a:lstStyle/>
                    <a:p>
                      <a:pPr marL="57785" marR="404495">
                        <a:lnSpc>
                          <a:spcPts val="1090"/>
                        </a:lnSpc>
                        <a:spcBef>
                          <a:spcPts val="340"/>
                        </a:spcBef>
                      </a:pPr>
                      <a:r>
                        <a:rPr sz="950" dirty="0">
                          <a:latin typeface="Times New Roman"/>
                          <a:cs typeface="Times New Roman"/>
                        </a:rPr>
                        <a:t>Handles</a:t>
                      </a:r>
                      <a:r>
                        <a:rPr sz="95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unknown</a:t>
                      </a:r>
                      <a:r>
                        <a:rPr sz="9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map,</a:t>
                      </a:r>
                      <a:r>
                        <a:rPr sz="95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risk</a:t>
                      </a:r>
                      <a:r>
                        <a:rPr sz="95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costs,</a:t>
                      </a:r>
                      <a:r>
                        <a:rPr sz="95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9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re-planning;</a:t>
                      </a:r>
                      <a:r>
                        <a:rPr sz="95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optimal</a:t>
                      </a:r>
                      <a:r>
                        <a:rPr sz="95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9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respect</a:t>
                      </a:r>
                      <a:r>
                        <a:rPr sz="95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25" dirty="0">
                          <a:latin typeface="Times New Roman"/>
                          <a:cs typeface="Times New Roman"/>
                        </a:rPr>
                        <a:t>to </a:t>
                      </a:r>
                      <a:r>
                        <a:rPr sz="950" dirty="0">
                          <a:latin typeface="Times New Roman"/>
                          <a:cs typeface="Times New Roman"/>
                        </a:rPr>
                        <a:t>current</a:t>
                      </a:r>
                      <a:r>
                        <a:rPr sz="9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spc="-10" dirty="0">
                          <a:latin typeface="Times New Roman"/>
                          <a:cs typeface="Times New Roman"/>
                        </a:rPr>
                        <a:t>knowledge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4318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E1EE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706627" y="8968587"/>
            <a:ext cx="6049645" cy="7645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0300"/>
              </a:lnSpc>
              <a:spcBef>
                <a:spcPts val="95"/>
              </a:spcBef>
            </a:pPr>
            <a:r>
              <a:rPr sz="1100" b="1" dirty="0">
                <a:latin typeface="Times New Roman"/>
                <a:cs typeface="Times New Roman"/>
              </a:rPr>
              <a:t>Conclusion:</a:t>
            </a:r>
            <a:r>
              <a:rPr sz="1100" b="1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online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search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agent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that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plans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Uniform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Cost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Search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(accelerated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admissible </a:t>
            </a:r>
            <a:r>
              <a:rPr sz="1100" dirty="0">
                <a:latin typeface="Times New Roman"/>
                <a:cs typeface="Times New Roman"/>
              </a:rPr>
              <a:t>Manhattan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heuristic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as A*)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updates its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map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after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each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sensing step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most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suitable strategy.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It </a:t>
            </a:r>
            <a:r>
              <a:rPr sz="1100" dirty="0">
                <a:latin typeface="Times New Roman"/>
                <a:cs typeface="Times New Roman"/>
              </a:rPr>
              <a:t>respects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all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hard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constraints,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minimises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total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cost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including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risk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penalty,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copes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partial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observability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rational with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respect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information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available.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Words>4146</Words>
  <Application>Microsoft Office PowerPoint</Application>
  <PresentationFormat>Custom</PresentationFormat>
  <Paragraphs>464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Bookman Old Style</vt:lpstr>
      <vt:lpstr>Calibri</vt:lpstr>
      <vt:lpstr>Segoe UI Symbol</vt:lpstr>
      <vt:lpstr>Times New Roman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Assessment Tool 2 – Constraint-Based Problem Solving</dc:title>
  <dc:creator>Student</dc:creator>
  <cp:lastModifiedBy>naga koushal</cp:lastModifiedBy>
  <cp:revision>2</cp:revision>
  <dcterms:created xsi:type="dcterms:W3CDTF">2026-10-11T09:55:03Z</dcterms:created>
  <dcterms:modified xsi:type="dcterms:W3CDTF">2026-10-11T10:02:37Z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2026-10-09T00:00:00Z</vt:filetime>
  </property>
  <property fmtid="{D5CDD505-2E9C-101B-9397-08002B2CF9AE}" pid="4" name="Creator">
    <vt:lpwstr>Microsoft® Word 2021</vt:lpwstr>
  </property>
  <property fmtid="{D5CDD505-2E9C-101B-9397-08002B2CF9AE}" pid="5" name="LastSaved">
    <vt:filetime>2026-10-11T00:00:00Z</vt:filetime>
  </property>
  <property fmtid="{D5CDD505-2E9C-101B-9397-08002B2CF9AE}" pid="6" name="Producer">
    <vt:lpwstr>Microsoft® Word 2021</vt:lpwstr>
  </property>
</Properties>
</file>