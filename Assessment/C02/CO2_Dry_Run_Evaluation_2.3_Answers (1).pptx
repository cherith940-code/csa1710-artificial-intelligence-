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</p:sldIdLst>
  <p:sldSz cx="7772400" cy="10058400"/>
  <p:notesSz cx="7772400" cy="100584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82930" y="3118104"/>
            <a:ext cx="6606540" cy="21122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65860" y="5632704"/>
            <a:ext cx="5440680" cy="251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388620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002786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8620" y="402336"/>
            <a:ext cx="6995160" cy="16093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8620" y="2313432"/>
            <a:ext cx="6995160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2642616" y="9354312"/>
            <a:ext cx="2487168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388620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5596128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891154" y="570991"/>
            <a:ext cx="1991360" cy="6026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latin typeface="Arial"/>
                <a:cs typeface="Arial"/>
              </a:rPr>
              <a:t>SIMATS</a:t>
            </a:r>
            <a:r>
              <a:rPr dirty="0" sz="1400" spc="-35" b="1">
                <a:latin typeface="Arial"/>
                <a:cs typeface="Arial"/>
              </a:rPr>
              <a:t> </a:t>
            </a:r>
            <a:r>
              <a:rPr dirty="0" sz="1400" spc="-10" b="1">
                <a:latin typeface="Arial"/>
                <a:cs typeface="Arial"/>
              </a:rPr>
              <a:t>ENGINEERING</a:t>
            </a:r>
            <a:endParaRPr sz="1400">
              <a:latin typeface="Arial"/>
              <a:cs typeface="Arial"/>
            </a:endParaRPr>
          </a:p>
          <a:p>
            <a:pPr marL="36830">
              <a:lnSpc>
                <a:spcPct val="100000"/>
              </a:lnSpc>
              <a:spcBef>
                <a:spcPts val="1180"/>
              </a:spcBef>
            </a:pPr>
            <a:r>
              <a:rPr dirty="0" sz="1400" b="1">
                <a:latin typeface="Arial"/>
                <a:cs typeface="Arial"/>
              </a:rPr>
              <a:t>ASSESSMENT</a:t>
            </a:r>
            <a:r>
              <a:rPr dirty="0" sz="1400" spc="-3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TOOL</a:t>
            </a:r>
            <a:r>
              <a:rPr dirty="0" sz="1400" spc="-30" b="1">
                <a:latin typeface="Arial"/>
                <a:cs typeface="Arial"/>
              </a:rPr>
              <a:t> </a:t>
            </a:r>
            <a:r>
              <a:rPr dirty="0" sz="1400" spc="-50" b="1">
                <a:latin typeface="Arial"/>
                <a:cs typeface="Arial"/>
              </a:rPr>
              <a:t>3</a:t>
            </a:r>
            <a:endParaRPr sz="1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30604" y="1593850"/>
            <a:ext cx="5046980" cy="169291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132205" algn="l"/>
              </a:tabLst>
            </a:pPr>
            <a:r>
              <a:rPr dirty="0" sz="1000" b="1">
                <a:latin typeface="Arial"/>
                <a:cs typeface="Arial"/>
              </a:rPr>
              <a:t>COURSE</a:t>
            </a:r>
            <a:r>
              <a:rPr dirty="0" sz="1000" spc="-35" b="1">
                <a:latin typeface="Arial"/>
                <a:cs typeface="Arial"/>
              </a:rPr>
              <a:t> </a:t>
            </a:r>
            <a:r>
              <a:rPr dirty="0" sz="1000" spc="-20" b="1">
                <a:latin typeface="Arial"/>
                <a:cs typeface="Arial"/>
              </a:rPr>
              <a:t>NAME:</a:t>
            </a:r>
            <a:r>
              <a:rPr dirty="0" sz="1000" b="1">
                <a:latin typeface="Arial"/>
                <a:cs typeface="Arial"/>
              </a:rPr>
              <a:t>	Artificial</a:t>
            </a:r>
            <a:r>
              <a:rPr dirty="0" sz="1000" spc="-30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Intelligence</a:t>
            </a:r>
            <a:r>
              <a:rPr dirty="0" sz="1000" spc="-15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COURSE</a:t>
            </a:r>
            <a:r>
              <a:rPr dirty="0" sz="1000" spc="-25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CODE:</a:t>
            </a:r>
            <a:r>
              <a:rPr dirty="0" sz="1000" spc="-15" b="1">
                <a:latin typeface="Arial"/>
                <a:cs typeface="Arial"/>
              </a:rPr>
              <a:t> </a:t>
            </a:r>
            <a:r>
              <a:rPr dirty="0" sz="1000" spc="-10" b="1">
                <a:latin typeface="Arial"/>
                <a:cs typeface="Arial"/>
              </a:rPr>
              <a:t>CSA17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115"/>
              </a:spcBef>
            </a:pPr>
            <a:r>
              <a:rPr dirty="0" sz="1000" b="1">
                <a:latin typeface="Arial"/>
                <a:cs typeface="Arial"/>
              </a:rPr>
              <a:t>COURSE</a:t>
            </a:r>
            <a:r>
              <a:rPr dirty="0" sz="1000" spc="-40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OUTCOME</a:t>
            </a:r>
            <a:r>
              <a:rPr dirty="0" sz="1000" spc="-35" b="1">
                <a:latin typeface="Arial"/>
                <a:cs typeface="Arial"/>
              </a:rPr>
              <a:t> </a:t>
            </a:r>
            <a:r>
              <a:rPr dirty="0" sz="1000" spc="-10" b="1">
                <a:latin typeface="Arial"/>
                <a:cs typeface="Arial"/>
              </a:rPr>
              <a:t>COVERED</a:t>
            </a:r>
            <a:endParaRPr sz="1000">
              <a:latin typeface="Arial"/>
              <a:cs typeface="Arial"/>
            </a:endParaRPr>
          </a:p>
          <a:p>
            <a:pPr algn="just" marL="12700" marR="5080">
              <a:lnSpc>
                <a:spcPct val="110000"/>
              </a:lnSpc>
              <a:spcBef>
                <a:spcPts val="1010"/>
              </a:spcBef>
            </a:pPr>
            <a:r>
              <a:rPr dirty="0" sz="1000" b="1" i="1">
                <a:latin typeface="Arial"/>
                <a:cs typeface="Arial"/>
              </a:rPr>
              <a:t>CO2:</a:t>
            </a:r>
            <a:r>
              <a:rPr dirty="0" sz="1000" spc="-15" b="1" i="1">
                <a:latin typeface="Arial"/>
                <a:cs typeface="Arial"/>
              </a:rPr>
              <a:t> </a:t>
            </a:r>
            <a:r>
              <a:rPr dirty="0" sz="1000" i="1">
                <a:latin typeface="Arial"/>
                <a:cs typeface="Arial"/>
              </a:rPr>
              <a:t>Experiment</a:t>
            </a:r>
            <a:r>
              <a:rPr dirty="0" sz="1000" spc="-20" i="1">
                <a:latin typeface="Arial"/>
                <a:cs typeface="Arial"/>
              </a:rPr>
              <a:t> </a:t>
            </a:r>
            <a:r>
              <a:rPr dirty="0" sz="1000" i="1">
                <a:latin typeface="Arial"/>
                <a:cs typeface="Arial"/>
              </a:rPr>
              <a:t>search</a:t>
            </a:r>
            <a:r>
              <a:rPr dirty="0" sz="1000" spc="-10" i="1">
                <a:latin typeface="Arial"/>
                <a:cs typeface="Arial"/>
              </a:rPr>
              <a:t> </a:t>
            </a:r>
            <a:r>
              <a:rPr dirty="0" sz="1000" i="1">
                <a:latin typeface="Arial"/>
                <a:cs typeface="Arial"/>
              </a:rPr>
              <a:t>and</a:t>
            </a:r>
            <a:r>
              <a:rPr dirty="0" sz="1000" spc="-20" i="1">
                <a:latin typeface="Arial"/>
                <a:cs typeface="Arial"/>
              </a:rPr>
              <a:t> </a:t>
            </a:r>
            <a:r>
              <a:rPr dirty="0" sz="1000" spc="-10" i="1">
                <a:latin typeface="Arial"/>
                <a:cs typeface="Arial"/>
              </a:rPr>
              <a:t>game-</a:t>
            </a:r>
            <a:r>
              <a:rPr dirty="0" sz="1000" i="1">
                <a:latin typeface="Arial"/>
                <a:cs typeface="Arial"/>
              </a:rPr>
              <a:t>solving</a:t>
            </a:r>
            <a:r>
              <a:rPr dirty="0" sz="1000" spc="-10" i="1">
                <a:latin typeface="Arial"/>
                <a:cs typeface="Arial"/>
              </a:rPr>
              <a:t> </a:t>
            </a:r>
            <a:r>
              <a:rPr dirty="0" sz="1000" i="1">
                <a:latin typeface="Arial"/>
                <a:cs typeface="Arial"/>
              </a:rPr>
              <a:t>techniques</a:t>
            </a:r>
            <a:r>
              <a:rPr dirty="0" sz="1000" spc="-15" i="1">
                <a:latin typeface="Arial"/>
                <a:cs typeface="Arial"/>
              </a:rPr>
              <a:t> </a:t>
            </a:r>
            <a:r>
              <a:rPr dirty="0" sz="1000" i="1">
                <a:latin typeface="Arial"/>
                <a:cs typeface="Arial"/>
              </a:rPr>
              <a:t>such</a:t>
            </a:r>
            <a:r>
              <a:rPr dirty="0" sz="1000" spc="-15" i="1">
                <a:latin typeface="Arial"/>
                <a:cs typeface="Arial"/>
              </a:rPr>
              <a:t> </a:t>
            </a:r>
            <a:r>
              <a:rPr dirty="0" sz="1000" i="1">
                <a:latin typeface="Arial"/>
                <a:cs typeface="Arial"/>
              </a:rPr>
              <a:t>as</a:t>
            </a:r>
            <a:r>
              <a:rPr dirty="0" sz="1000" spc="-15" i="1">
                <a:latin typeface="Arial"/>
                <a:cs typeface="Arial"/>
              </a:rPr>
              <a:t> </a:t>
            </a:r>
            <a:r>
              <a:rPr dirty="0" sz="1000" i="1">
                <a:latin typeface="Arial"/>
                <a:cs typeface="Arial"/>
              </a:rPr>
              <a:t>Greedy</a:t>
            </a:r>
            <a:r>
              <a:rPr dirty="0" sz="1000" spc="-15" i="1">
                <a:latin typeface="Arial"/>
                <a:cs typeface="Arial"/>
              </a:rPr>
              <a:t> </a:t>
            </a:r>
            <a:r>
              <a:rPr dirty="0" sz="1000" i="1">
                <a:latin typeface="Arial"/>
                <a:cs typeface="Arial"/>
              </a:rPr>
              <a:t>Search,</a:t>
            </a:r>
            <a:r>
              <a:rPr dirty="0" sz="1000" spc="-10" i="1">
                <a:latin typeface="Arial"/>
                <a:cs typeface="Arial"/>
              </a:rPr>
              <a:t> </a:t>
            </a:r>
            <a:r>
              <a:rPr dirty="0" sz="1000" i="1">
                <a:latin typeface="Arial"/>
                <a:cs typeface="Arial"/>
              </a:rPr>
              <a:t>A*,</a:t>
            </a:r>
            <a:r>
              <a:rPr dirty="0" sz="1000" spc="-5" i="1">
                <a:latin typeface="Arial"/>
                <a:cs typeface="Arial"/>
              </a:rPr>
              <a:t> </a:t>
            </a:r>
            <a:r>
              <a:rPr dirty="0" sz="1000" spc="-20" i="1">
                <a:latin typeface="Arial"/>
                <a:cs typeface="Arial"/>
              </a:rPr>
              <a:t>CSP, </a:t>
            </a:r>
            <a:r>
              <a:rPr dirty="0" sz="1000" i="1">
                <a:latin typeface="Arial"/>
                <a:cs typeface="Arial"/>
              </a:rPr>
              <a:t>Minimax,</a:t>
            </a:r>
            <a:r>
              <a:rPr dirty="0" sz="1000" spc="-25" i="1">
                <a:latin typeface="Arial"/>
                <a:cs typeface="Arial"/>
              </a:rPr>
              <a:t> </a:t>
            </a:r>
            <a:r>
              <a:rPr dirty="0" sz="1000" i="1">
                <a:latin typeface="Arial"/>
                <a:cs typeface="Arial"/>
              </a:rPr>
              <a:t>and</a:t>
            </a:r>
            <a:r>
              <a:rPr dirty="0" sz="1000" spc="-20" i="1">
                <a:latin typeface="Arial"/>
                <a:cs typeface="Arial"/>
              </a:rPr>
              <a:t> </a:t>
            </a:r>
            <a:r>
              <a:rPr dirty="0" sz="1000" spc="-10" i="1">
                <a:latin typeface="Arial"/>
                <a:cs typeface="Arial"/>
              </a:rPr>
              <a:t>Alpha-</a:t>
            </a:r>
            <a:r>
              <a:rPr dirty="0" sz="1000" i="1">
                <a:latin typeface="Arial"/>
                <a:cs typeface="Arial"/>
              </a:rPr>
              <a:t>Beta</a:t>
            </a:r>
            <a:r>
              <a:rPr dirty="0" sz="1000" spc="-15" i="1">
                <a:latin typeface="Arial"/>
                <a:cs typeface="Arial"/>
              </a:rPr>
              <a:t> </a:t>
            </a:r>
            <a:r>
              <a:rPr dirty="0" sz="1000" i="1">
                <a:latin typeface="Arial"/>
                <a:cs typeface="Arial"/>
              </a:rPr>
              <a:t>pruning</a:t>
            </a:r>
            <a:r>
              <a:rPr dirty="0" sz="1000" spc="-20" i="1">
                <a:latin typeface="Arial"/>
                <a:cs typeface="Arial"/>
              </a:rPr>
              <a:t> </a:t>
            </a:r>
            <a:r>
              <a:rPr dirty="0" sz="1000" i="1">
                <a:latin typeface="Arial"/>
                <a:cs typeface="Arial"/>
              </a:rPr>
              <a:t>with</a:t>
            </a:r>
            <a:r>
              <a:rPr dirty="0" sz="1000" spc="-15" i="1">
                <a:latin typeface="Arial"/>
                <a:cs typeface="Arial"/>
              </a:rPr>
              <a:t> </a:t>
            </a:r>
            <a:r>
              <a:rPr dirty="0" sz="1000" i="1">
                <a:latin typeface="Arial"/>
                <a:cs typeface="Arial"/>
              </a:rPr>
              <a:t>heuristic</a:t>
            </a:r>
            <a:r>
              <a:rPr dirty="0" sz="1000" spc="-15" i="1">
                <a:latin typeface="Arial"/>
                <a:cs typeface="Arial"/>
              </a:rPr>
              <a:t> </a:t>
            </a:r>
            <a:r>
              <a:rPr dirty="0" sz="1000" i="1">
                <a:latin typeface="Arial"/>
                <a:cs typeface="Arial"/>
              </a:rPr>
              <a:t>functions</a:t>
            </a:r>
            <a:r>
              <a:rPr dirty="0" sz="1000" spc="-15" i="1">
                <a:latin typeface="Arial"/>
                <a:cs typeface="Arial"/>
              </a:rPr>
              <a:t> </a:t>
            </a:r>
            <a:r>
              <a:rPr dirty="0" sz="1000" i="1">
                <a:latin typeface="Arial"/>
                <a:cs typeface="Arial"/>
              </a:rPr>
              <a:t>for</a:t>
            </a:r>
            <a:r>
              <a:rPr dirty="0" sz="1000" spc="-15" i="1">
                <a:latin typeface="Arial"/>
                <a:cs typeface="Arial"/>
              </a:rPr>
              <a:t> </a:t>
            </a:r>
            <a:r>
              <a:rPr dirty="0" sz="1000" i="1">
                <a:latin typeface="Arial"/>
                <a:cs typeface="Arial"/>
              </a:rPr>
              <a:t>solving</a:t>
            </a:r>
            <a:r>
              <a:rPr dirty="0" sz="1000" spc="-30" i="1">
                <a:latin typeface="Arial"/>
                <a:cs typeface="Arial"/>
              </a:rPr>
              <a:t> </a:t>
            </a:r>
            <a:r>
              <a:rPr dirty="0" sz="1000" i="1">
                <a:latin typeface="Arial"/>
                <a:cs typeface="Arial"/>
              </a:rPr>
              <a:t>complex</a:t>
            </a:r>
            <a:r>
              <a:rPr dirty="0" sz="1000" spc="-15" i="1">
                <a:latin typeface="Arial"/>
                <a:cs typeface="Arial"/>
              </a:rPr>
              <a:t> </a:t>
            </a:r>
            <a:r>
              <a:rPr dirty="0" sz="1000" i="1">
                <a:latin typeface="Arial"/>
                <a:cs typeface="Arial"/>
              </a:rPr>
              <a:t>AI</a:t>
            </a:r>
            <a:r>
              <a:rPr dirty="0" sz="1000" spc="-10" i="1">
                <a:latin typeface="Arial"/>
                <a:cs typeface="Arial"/>
              </a:rPr>
              <a:t> problems </a:t>
            </a:r>
            <a:r>
              <a:rPr dirty="0" sz="1000" i="1">
                <a:latin typeface="Arial"/>
                <a:cs typeface="Arial"/>
              </a:rPr>
              <a:t>efficiently.</a:t>
            </a:r>
            <a:r>
              <a:rPr dirty="0" sz="1000" spc="-35" i="1">
                <a:latin typeface="Arial"/>
                <a:cs typeface="Arial"/>
              </a:rPr>
              <a:t> </a:t>
            </a:r>
            <a:r>
              <a:rPr dirty="0" sz="1000" spc="-10" i="1">
                <a:latin typeface="Arial"/>
                <a:cs typeface="Arial"/>
              </a:rPr>
              <a:t>(BL3)</a:t>
            </a:r>
            <a:endParaRPr sz="1000">
              <a:latin typeface="Arial"/>
              <a:cs typeface="Arial"/>
            </a:endParaRPr>
          </a:p>
          <a:p>
            <a:pPr algn="just" marL="12700">
              <a:lnSpc>
                <a:spcPct val="100000"/>
              </a:lnSpc>
              <a:spcBef>
                <a:spcPts val="1125"/>
              </a:spcBef>
            </a:pPr>
            <a:r>
              <a:rPr dirty="0" sz="1000" i="1">
                <a:latin typeface="Arial"/>
                <a:cs typeface="Arial"/>
              </a:rPr>
              <a:t>Assessment</a:t>
            </a:r>
            <a:r>
              <a:rPr dirty="0" sz="1000" spc="-30" i="1">
                <a:latin typeface="Arial"/>
                <a:cs typeface="Arial"/>
              </a:rPr>
              <a:t> </a:t>
            </a:r>
            <a:r>
              <a:rPr dirty="0" sz="1000" i="1">
                <a:latin typeface="Arial"/>
                <a:cs typeface="Arial"/>
              </a:rPr>
              <a:t>Tool</a:t>
            </a:r>
            <a:r>
              <a:rPr dirty="0" sz="1000" spc="-25" i="1">
                <a:latin typeface="Arial"/>
                <a:cs typeface="Arial"/>
              </a:rPr>
              <a:t> </a:t>
            </a:r>
            <a:r>
              <a:rPr dirty="0" sz="1000" i="1">
                <a:latin typeface="Arial"/>
                <a:cs typeface="Arial"/>
              </a:rPr>
              <a:t>Weightage:</a:t>
            </a:r>
            <a:r>
              <a:rPr dirty="0" sz="1000" spc="-20" i="1">
                <a:latin typeface="Arial"/>
                <a:cs typeface="Arial"/>
              </a:rPr>
              <a:t> </a:t>
            </a:r>
            <a:r>
              <a:rPr dirty="0" sz="1000" spc="-25" i="1">
                <a:latin typeface="Arial"/>
                <a:cs typeface="Arial"/>
              </a:rPr>
              <a:t>40%</a:t>
            </a:r>
            <a:endParaRPr sz="1000">
              <a:latin typeface="Arial"/>
              <a:cs typeface="Arial"/>
            </a:endParaRPr>
          </a:p>
          <a:p>
            <a:pPr marL="1153795">
              <a:lnSpc>
                <a:spcPct val="100000"/>
              </a:lnSpc>
              <a:spcBef>
                <a:spcPts val="1120"/>
              </a:spcBef>
            </a:pPr>
            <a:r>
              <a:rPr dirty="0" sz="1000" b="1">
                <a:latin typeface="Arial"/>
                <a:cs typeface="Arial"/>
              </a:rPr>
              <a:t>Duration:</a:t>
            </a:r>
            <a:r>
              <a:rPr dirty="0" sz="1000" spc="-15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1</a:t>
            </a:r>
            <a:r>
              <a:rPr dirty="0" sz="1000" spc="-20" b="1">
                <a:latin typeface="Arial"/>
                <a:cs typeface="Arial"/>
              </a:rPr>
              <a:t> Hour</a:t>
            </a:r>
            <a:endParaRPr sz="10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30604" y="3698875"/>
            <a:ext cx="92075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b="1">
                <a:latin typeface="Arial"/>
                <a:cs typeface="Arial"/>
              </a:rPr>
              <a:t>QUESTIONS:</a:t>
            </a:r>
            <a:r>
              <a:rPr dirty="0" sz="1000" spc="-45" b="1">
                <a:latin typeface="Arial"/>
                <a:cs typeface="Arial"/>
              </a:rPr>
              <a:t> </a:t>
            </a:r>
            <a:r>
              <a:rPr dirty="0" sz="1000" spc="-50" b="1">
                <a:latin typeface="Arial"/>
                <a:cs typeface="Arial"/>
              </a:rPr>
              <a:t>3</a:t>
            </a:r>
            <a:endParaRPr sz="1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915539" y="3698875"/>
            <a:ext cx="91440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b="1">
                <a:latin typeface="Arial"/>
                <a:cs typeface="Arial"/>
              </a:rPr>
              <a:t>Total</a:t>
            </a:r>
            <a:r>
              <a:rPr dirty="0" sz="1000" spc="-25" b="1">
                <a:latin typeface="Arial"/>
                <a:cs typeface="Arial"/>
              </a:rPr>
              <a:t> </a:t>
            </a:r>
            <a:r>
              <a:rPr dirty="0" sz="1000" spc="-10" b="1">
                <a:latin typeface="Arial"/>
                <a:cs typeface="Arial"/>
              </a:rPr>
              <a:t>Marks:30</a:t>
            </a:r>
            <a:endParaRPr sz="10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30604" y="3994530"/>
            <a:ext cx="68770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latin typeface="Arial"/>
                <a:cs typeface="Arial"/>
              </a:rPr>
              <a:t>Annexure</a:t>
            </a:r>
            <a:r>
              <a:rPr dirty="0" sz="1000" spc="-20">
                <a:latin typeface="Arial"/>
                <a:cs typeface="Arial"/>
              </a:rPr>
              <a:t> </a:t>
            </a:r>
            <a:r>
              <a:rPr dirty="0" sz="1000" spc="-50">
                <a:latin typeface="Arial"/>
                <a:cs typeface="Arial"/>
              </a:rPr>
              <a:t>A</a:t>
            </a:r>
            <a:endParaRPr sz="10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30604" y="4584319"/>
            <a:ext cx="5295900" cy="152527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b="1">
                <a:latin typeface="Arial"/>
                <a:cs typeface="Arial"/>
              </a:rPr>
              <a:t>Dry</a:t>
            </a:r>
            <a:r>
              <a:rPr dirty="0" sz="1000" spc="-35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Run</a:t>
            </a:r>
            <a:r>
              <a:rPr dirty="0" sz="1000" spc="-15" b="1">
                <a:latin typeface="Arial"/>
                <a:cs typeface="Arial"/>
              </a:rPr>
              <a:t> </a:t>
            </a:r>
            <a:r>
              <a:rPr dirty="0" sz="1000" spc="-10" b="1">
                <a:latin typeface="Arial"/>
                <a:cs typeface="Arial"/>
              </a:rPr>
              <a:t>Evaluation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115"/>
              </a:spcBef>
            </a:pPr>
            <a:r>
              <a:rPr dirty="0" sz="1000" b="1" i="1">
                <a:latin typeface="Arial"/>
                <a:cs typeface="Arial"/>
              </a:rPr>
              <a:t>Code</a:t>
            </a:r>
            <a:r>
              <a:rPr dirty="0" sz="1000" spc="-25" b="1" i="1">
                <a:latin typeface="Arial"/>
                <a:cs typeface="Arial"/>
              </a:rPr>
              <a:t> </a:t>
            </a:r>
            <a:r>
              <a:rPr dirty="0" sz="1000" b="1" i="1">
                <a:latin typeface="Arial"/>
                <a:cs typeface="Arial"/>
              </a:rPr>
              <a:t>of</a:t>
            </a:r>
            <a:r>
              <a:rPr dirty="0" sz="1000" spc="-20" b="1" i="1">
                <a:latin typeface="Arial"/>
                <a:cs typeface="Arial"/>
              </a:rPr>
              <a:t> </a:t>
            </a:r>
            <a:r>
              <a:rPr dirty="0" sz="1000" spc="-10" b="1" i="1">
                <a:latin typeface="Arial"/>
                <a:cs typeface="Arial"/>
              </a:rPr>
              <a:t>Conduct:</a:t>
            </a:r>
            <a:endParaRPr sz="1000">
              <a:latin typeface="Arial"/>
              <a:cs typeface="Arial"/>
            </a:endParaRPr>
          </a:p>
          <a:p>
            <a:pPr marL="12700" marR="5080">
              <a:lnSpc>
                <a:spcPct val="110000"/>
              </a:lnSpc>
              <a:spcBef>
                <a:spcPts val="1010"/>
              </a:spcBef>
            </a:pPr>
            <a:r>
              <a:rPr dirty="0" sz="1000" i="1">
                <a:latin typeface="Arial"/>
                <a:cs typeface="Arial"/>
              </a:rPr>
              <a:t>I</a:t>
            </a:r>
            <a:r>
              <a:rPr dirty="0" sz="1000" spc="-30" i="1">
                <a:latin typeface="Arial"/>
                <a:cs typeface="Arial"/>
              </a:rPr>
              <a:t> </a:t>
            </a:r>
            <a:r>
              <a:rPr dirty="0" sz="1000" i="1">
                <a:latin typeface="Arial"/>
                <a:cs typeface="Arial"/>
              </a:rPr>
              <a:t>M.Kushal</a:t>
            </a:r>
            <a:r>
              <a:rPr dirty="0" sz="1000" spc="-30" i="1">
                <a:latin typeface="Arial"/>
                <a:cs typeface="Arial"/>
              </a:rPr>
              <a:t> </a:t>
            </a:r>
            <a:r>
              <a:rPr dirty="0" sz="1000" i="1">
                <a:latin typeface="Arial"/>
                <a:cs typeface="Arial"/>
              </a:rPr>
              <a:t>(1924260243)</a:t>
            </a:r>
            <a:r>
              <a:rPr dirty="0" sz="1000" spc="-20" i="1">
                <a:latin typeface="Arial"/>
                <a:cs typeface="Arial"/>
              </a:rPr>
              <a:t> </a:t>
            </a:r>
            <a:r>
              <a:rPr dirty="0" sz="1000" i="1">
                <a:latin typeface="Arial"/>
                <a:cs typeface="Arial"/>
              </a:rPr>
              <a:t>(Name</a:t>
            </a:r>
            <a:r>
              <a:rPr dirty="0" sz="1000" spc="-20" i="1">
                <a:latin typeface="Arial"/>
                <a:cs typeface="Arial"/>
              </a:rPr>
              <a:t> </a:t>
            </a:r>
            <a:r>
              <a:rPr dirty="0" sz="1000" i="1">
                <a:latin typeface="Arial"/>
                <a:cs typeface="Arial"/>
              </a:rPr>
              <a:t>/</a:t>
            </a:r>
            <a:r>
              <a:rPr dirty="0" sz="1000" spc="-30" i="1">
                <a:latin typeface="Arial"/>
                <a:cs typeface="Arial"/>
              </a:rPr>
              <a:t> </a:t>
            </a:r>
            <a:r>
              <a:rPr dirty="0" sz="1000" i="1">
                <a:latin typeface="Arial"/>
                <a:cs typeface="Arial"/>
              </a:rPr>
              <a:t>Reg</a:t>
            </a:r>
            <a:r>
              <a:rPr dirty="0" sz="1000" spc="-25" i="1">
                <a:latin typeface="Arial"/>
                <a:cs typeface="Arial"/>
              </a:rPr>
              <a:t> </a:t>
            </a:r>
            <a:r>
              <a:rPr dirty="0" sz="1000" i="1">
                <a:latin typeface="Arial"/>
                <a:cs typeface="Arial"/>
              </a:rPr>
              <a:t>No)</a:t>
            </a:r>
            <a:r>
              <a:rPr dirty="0" sz="1000" spc="-20" i="1">
                <a:latin typeface="Arial"/>
                <a:cs typeface="Arial"/>
              </a:rPr>
              <a:t> </a:t>
            </a:r>
            <a:r>
              <a:rPr dirty="0" sz="1000" i="1">
                <a:latin typeface="Arial"/>
                <a:cs typeface="Arial"/>
              </a:rPr>
              <a:t>certify</a:t>
            </a:r>
            <a:r>
              <a:rPr dirty="0" sz="1000" spc="-20" i="1">
                <a:latin typeface="Arial"/>
                <a:cs typeface="Arial"/>
              </a:rPr>
              <a:t> </a:t>
            </a:r>
            <a:r>
              <a:rPr dirty="0" sz="1000" i="1">
                <a:latin typeface="Arial"/>
                <a:cs typeface="Arial"/>
              </a:rPr>
              <a:t>that</a:t>
            </a:r>
            <a:r>
              <a:rPr dirty="0" sz="1000" spc="-20" i="1">
                <a:latin typeface="Arial"/>
                <a:cs typeface="Arial"/>
              </a:rPr>
              <a:t> </a:t>
            </a:r>
            <a:r>
              <a:rPr dirty="0" sz="1000" i="1">
                <a:latin typeface="Arial"/>
                <a:cs typeface="Arial"/>
              </a:rPr>
              <a:t>this</a:t>
            </a:r>
            <a:r>
              <a:rPr dirty="0" sz="1000" spc="-20" i="1">
                <a:latin typeface="Arial"/>
                <a:cs typeface="Arial"/>
              </a:rPr>
              <a:t> </a:t>
            </a:r>
            <a:r>
              <a:rPr dirty="0" sz="1000" i="1">
                <a:latin typeface="Arial"/>
                <a:cs typeface="Arial"/>
              </a:rPr>
              <a:t>submission</a:t>
            </a:r>
            <a:r>
              <a:rPr dirty="0" sz="1000" spc="-20" i="1">
                <a:latin typeface="Arial"/>
                <a:cs typeface="Arial"/>
              </a:rPr>
              <a:t> </a:t>
            </a:r>
            <a:r>
              <a:rPr dirty="0" sz="1000" i="1">
                <a:latin typeface="Arial"/>
                <a:cs typeface="Arial"/>
              </a:rPr>
              <a:t>is</a:t>
            </a:r>
            <a:r>
              <a:rPr dirty="0" sz="1000" spc="-25" i="1">
                <a:latin typeface="Arial"/>
                <a:cs typeface="Arial"/>
              </a:rPr>
              <a:t> </a:t>
            </a:r>
            <a:r>
              <a:rPr dirty="0" sz="1000" i="1">
                <a:latin typeface="Arial"/>
                <a:cs typeface="Arial"/>
              </a:rPr>
              <a:t>my</a:t>
            </a:r>
            <a:r>
              <a:rPr dirty="0" sz="1000" spc="-20" i="1">
                <a:latin typeface="Arial"/>
                <a:cs typeface="Arial"/>
              </a:rPr>
              <a:t> </a:t>
            </a:r>
            <a:r>
              <a:rPr dirty="0" sz="1000" i="1">
                <a:latin typeface="Arial"/>
                <a:cs typeface="Arial"/>
              </a:rPr>
              <a:t>original</a:t>
            </a:r>
            <a:r>
              <a:rPr dirty="0" sz="1000" spc="-20" i="1">
                <a:latin typeface="Arial"/>
                <a:cs typeface="Arial"/>
              </a:rPr>
              <a:t> </a:t>
            </a:r>
            <a:r>
              <a:rPr dirty="0" sz="1000" i="1">
                <a:latin typeface="Arial"/>
                <a:cs typeface="Arial"/>
              </a:rPr>
              <a:t>work</a:t>
            </a:r>
            <a:r>
              <a:rPr dirty="0" sz="1000" spc="-25" i="1">
                <a:latin typeface="Arial"/>
                <a:cs typeface="Arial"/>
              </a:rPr>
              <a:t> and </a:t>
            </a:r>
            <a:r>
              <a:rPr dirty="0" sz="1000" i="1">
                <a:latin typeface="Arial"/>
                <a:cs typeface="Arial"/>
              </a:rPr>
              <a:t>that</a:t>
            </a:r>
            <a:r>
              <a:rPr dirty="0" sz="1000" spc="-20" i="1">
                <a:latin typeface="Arial"/>
                <a:cs typeface="Arial"/>
              </a:rPr>
              <a:t> </a:t>
            </a:r>
            <a:r>
              <a:rPr dirty="0" sz="1000" i="1">
                <a:latin typeface="Arial"/>
                <a:cs typeface="Arial"/>
              </a:rPr>
              <a:t>I</a:t>
            </a:r>
            <a:r>
              <a:rPr dirty="0" sz="1000" spc="-10" i="1">
                <a:latin typeface="Arial"/>
                <a:cs typeface="Arial"/>
              </a:rPr>
              <a:t> </a:t>
            </a:r>
            <a:r>
              <a:rPr dirty="0" sz="1000" i="1">
                <a:latin typeface="Arial"/>
                <a:cs typeface="Arial"/>
              </a:rPr>
              <a:t>have</a:t>
            </a:r>
            <a:r>
              <a:rPr dirty="0" sz="1000" spc="-10" i="1">
                <a:latin typeface="Arial"/>
                <a:cs typeface="Arial"/>
              </a:rPr>
              <a:t> </a:t>
            </a:r>
            <a:r>
              <a:rPr dirty="0" sz="1000" i="1">
                <a:latin typeface="Arial"/>
                <a:cs typeface="Arial"/>
              </a:rPr>
              <a:t>adhered</a:t>
            </a:r>
            <a:r>
              <a:rPr dirty="0" sz="1000" spc="-10" i="1">
                <a:latin typeface="Arial"/>
                <a:cs typeface="Arial"/>
              </a:rPr>
              <a:t> </a:t>
            </a:r>
            <a:r>
              <a:rPr dirty="0" sz="1000" i="1">
                <a:latin typeface="Arial"/>
                <a:cs typeface="Arial"/>
              </a:rPr>
              <a:t>to</a:t>
            </a:r>
            <a:r>
              <a:rPr dirty="0" sz="1000" spc="-25" i="1">
                <a:latin typeface="Arial"/>
                <a:cs typeface="Arial"/>
              </a:rPr>
              <a:t> </a:t>
            </a:r>
            <a:r>
              <a:rPr dirty="0" sz="1000" i="1">
                <a:latin typeface="Arial"/>
                <a:cs typeface="Arial"/>
              </a:rPr>
              <a:t>the</a:t>
            </a:r>
            <a:r>
              <a:rPr dirty="0" sz="1000" spc="-25" i="1">
                <a:latin typeface="Arial"/>
                <a:cs typeface="Arial"/>
              </a:rPr>
              <a:t> </a:t>
            </a:r>
            <a:r>
              <a:rPr dirty="0" sz="1000" i="1">
                <a:latin typeface="Arial"/>
                <a:cs typeface="Arial"/>
              </a:rPr>
              <a:t>guidelines</a:t>
            </a:r>
            <a:r>
              <a:rPr dirty="0" sz="1000" spc="-15" i="1">
                <a:latin typeface="Arial"/>
                <a:cs typeface="Arial"/>
              </a:rPr>
              <a:t> </a:t>
            </a:r>
            <a:r>
              <a:rPr dirty="0" sz="1000" i="1">
                <a:latin typeface="Arial"/>
                <a:cs typeface="Arial"/>
              </a:rPr>
              <a:t>specified</a:t>
            </a:r>
            <a:r>
              <a:rPr dirty="0" sz="1000" spc="-20" i="1">
                <a:latin typeface="Arial"/>
                <a:cs typeface="Arial"/>
              </a:rPr>
              <a:t> </a:t>
            </a:r>
            <a:r>
              <a:rPr dirty="0" sz="1000" i="1">
                <a:latin typeface="Arial"/>
                <a:cs typeface="Arial"/>
              </a:rPr>
              <a:t>for</a:t>
            </a:r>
            <a:r>
              <a:rPr dirty="0" sz="1000" spc="-20" i="1">
                <a:latin typeface="Arial"/>
                <a:cs typeface="Arial"/>
              </a:rPr>
              <a:t> </a:t>
            </a:r>
            <a:r>
              <a:rPr dirty="0" sz="1000" i="1">
                <a:latin typeface="Arial"/>
                <a:cs typeface="Arial"/>
              </a:rPr>
              <a:t>this</a:t>
            </a:r>
            <a:r>
              <a:rPr dirty="0" sz="1000" spc="-15" i="1">
                <a:latin typeface="Arial"/>
                <a:cs typeface="Arial"/>
              </a:rPr>
              <a:t> </a:t>
            </a:r>
            <a:r>
              <a:rPr dirty="0" sz="1000" spc="-10" i="1">
                <a:latin typeface="Arial"/>
                <a:cs typeface="Arial"/>
              </a:rPr>
              <a:t>assessment.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130"/>
              </a:spcBef>
            </a:pPr>
            <a:r>
              <a:rPr dirty="0" sz="1000" i="1">
                <a:latin typeface="Arial"/>
                <a:cs typeface="Arial"/>
              </a:rPr>
              <a:t>I</a:t>
            </a:r>
            <a:r>
              <a:rPr dirty="0" sz="1000" spc="-30" i="1">
                <a:latin typeface="Arial"/>
                <a:cs typeface="Arial"/>
              </a:rPr>
              <a:t> </a:t>
            </a:r>
            <a:r>
              <a:rPr dirty="0" sz="1000" i="1">
                <a:latin typeface="Arial"/>
                <a:cs typeface="Arial"/>
              </a:rPr>
              <a:t>understand</a:t>
            </a:r>
            <a:r>
              <a:rPr dirty="0" sz="1000" spc="-15" i="1">
                <a:latin typeface="Arial"/>
                <a:cs typeface="Arial"/>
              </a:rPr>
              <a:t> </a:t>
            </a:r>
            <a:r>
              <a:rPr dirty="0" sz="1000" i="1">
                <a:latin typeface="Arial"/>
                <a:cs typeface="Arial"/>
              </a:rPr>
              <a:t>that</a:t>
            </a:r>
            <a:r>
              <a:rPr dirty="0" sz="1000" spc="-15" i="1">
                <a:latin typeface="Arial"/>
                <a:cs typeface="Arial"/>
              </a:rPr>
              <a:t> </a:t>
            </a:r>
            <a:r>
              <a:rPr dirty="0" sz="1000" i="1">
                <a:latin typeface="Arial"/>
                <a:cs typeface="Arial"/>
              </a:rPr>
              <a:t>any</a:t>
            </a:r>
            <a:r>
              <a:rPr dirty="0" sz="1000" spc="-25" i="1">
                <a:latin typeface="Arial"/>
                <a:cs typeface="Arial"/>
              </a:rPr>
              <a:t> </a:t>
            </a:r>
            <a:r>
              <a:rPr dirty="0" sz="1000" i="1">
                <a:latin typeface="Arial"/>
                <a:cs typeface="Arial"/>
              </a:rPr>
              <a:t>violation</a:t>
            </a:r>
            <a:r>
              <a:rPr dirty="0" sz="1000" spc="-30" i="1">
                <a:latin typeface="Arial"/>
                <a:cs typeface="Arial"/>
              </a:rPr>
              <a:t> </a:t>
            </a:r>
            <a:r>
              <a:rPr dirty="0" sz="1000" i="1">
                <a:latin typeface="Arial"/>
                <a:cs typeface="Arial"/>
              </a:rPr>
              <a:t>of</a:t>
            </a:r>
            <a:r>
              <a:rPr dirty="0" sz="1000" spc="-15" i="1">
                <a:latin typeface="Arial"/>
                <a:cs typeface="Arial"/>
              </a:rPr>
              <a:t> </a:t>
            </a:r>
            <a:r>
              <a:rPr dirty="0" sz="1000" i="1">
                <a:latin typeface="Arial"/>
                <a:cs typeface="Arial"/>
              </a:rPr>
              <a:t>academic</a:t>
            </a:r>
            <a:r>
              <a:rPr dirty="0" sz="1000" spc="-20" i="1">
                <a:latin typeface="Arial"/>
                <a:cs typeface="Arial"/>
              </a:rPr>
              <a:t> </a:t>
            </a:r>
            <a:r>
              <a:rPr dirty="0" sz="1000" i="1">
                <a:latin typeface="Arial"/>
                <a:cs typeface="Arial"/>
              </a:rPr>
              <a:t>integrity</a:t>
            </a:r>
            <a:r>
              <a:rPr dirty="0" sz="1000" spc="-25" i="1">
                <a:latin typeface="Arial"/>
                <a:cs typeface="Arial"/>
              </a:rPr>
              <a:t> </a:t>
            </a:r>
            <a:r>
              <a:rPr dirty="0" sz="1000" i="1">
                <a:latin typeface="Arial"/>
                <a:cs typeface="Arial"/>
              </a:rPr>
              <a:t>rules</a:t>
            </a:r>
            <a:r>
              <a:rPr dirty="0" sz="1000" spc="-20" i="1">
                <a:latin typeface="Arial"/>
                <a:cs typeface="Arial"/>
              </a:rPr>
              <a:t> </a:t>
            </a:r>
            <a:r>
              <a:rPr dirty="0" sz="1000" i="1">
                <a:latin typeface="Arial"/>
                <a:cs typeface="Arial"/>
              </a:rPr>
              <a:t>will</a:t>
            </a:r>
            <a:r>
              <a:rPr dirty="0" sz="1000" spc="-30" i="1">
                <a:latin typeface="Arial"/>
                <a:cs typeface="Arial"/>
              </a:rPr>
              <a:t> </a:t>
            </a:r>
            <a:r>
              <a:rPr dirty="0" sz="1000" i="1">
                <a:latin typeface="Arial"/>
                <a:cs typeface="Arial"/>
              </a:rPr>
              <a:t>result</a:t>
            </a:r>
            <a:r>
              <a:rPr dirty="0" sz="1000" spc="-15" i="1">
                <a:latin typeface="Arial"/>
                <a:cs typeface="Arial"/>
              </a:rPr>
              <a:t> </a:t>
            </a:r>
            <a:r>
              <a:rPr dirty="0" sz="1000" i="1">
                <a:latin typeface="Arial"/>
                <a:cs typeface="Arial"/>
              </a:rPr>
              <a:t>in</a:t>
            </a:r>
            <a:r>
              <a:rPr dirty="0" sz="1000" spc="-30" i="1">
                <a:latin typeface="Arial"/>
                <a:cs typeface="Arial"/>
              </a:rPr>
              <a:t> </a:t>
            </a:r>
            <a:r>
              <a:rPr dirty="0" sz="1000" i="1">
                <a:latin typeface="Arial"/>
                <a:cs typeface="Arial"/>
              </a:rPr>
              <a:t>disciplinary</a:t>
            </a:r>
            <a:r>
              <a:rPr dirty="0" sz="1000" spc="-15" i="1">
                <a:latin typeface="Arial"/>
                <a:cs typeface="Arial"/>
              </a:rPr>
              <a:t> </a:t>
            </a:r>
            <a:r>
              <a:rPr dirty="0" sz="1000" spc="-10" i="1">
                <a:latin typeface="Arial"/>
                <a:cs typeface="Arial"/>
              </a:rPr>
              <a:t>action.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115"/>
              </a:spcBef>
            </a:pPr>
            <a:r>
              <a:rPr dirty="0" sz="1000" b="1" i="1">
                <a:latin typeface="Arial"/>
                <a:cs typeface="Arial"/>
              </a:rPr>
              <a:t>Signature</a:t>
            </a:r>
            <a:r>
              <a:rPr dirty="0" sz="1000" spc="-20" b="1" i="1">
                <a:latin typeface="Arial"/>
                <a:cs typeface="Arial"/>
              </a:rPr>
              <a:t> </a:t>
            </a:r>
            <a:r>
              <a:rPr dirty="0" sz="1000" b="1" i="1">
                <a:latin typeface="Arial"/>
                <a:cs typeface="Arial"/>
              </a:rPr>
              <a:t>of</a:t>
            </a:r>
            <a:r>
              <a:rPr dirty="0" sz="1000" spc="-15" b="1" i="1">
                <a:latin typeface="Arial"/>
                <a:cs typeface="Arial"/>
              </a:rPr>
              <a:t> </a:t>
            </a:r>
            <a:r>
              <a:rPr dirty="0" sz="1000" b="1" i="1">
                <a:latin typeface="Arial"/>
                <a:cs typeface="Arial"/>
              </a:rPr>
              <a:t>the</a:t>
            </a:r>
            <a:r>
              <a:rPr dirty="0" sz="1000" spc="-25" b="1" i="1">
                <a:latin typeface="Arial"/>
                <a:cs typeface="Arial"/>
              </a:rPr>
              <a:t> </a:t>
            </a:r>
            <a:r>
              <a:rPr dirty="0" sz="1000" spc="-10" b="1" i="1">
                <a:latin typeface="Arial"/>
                <a:cs typeface="Arial"/>
              </a:rPr>
              <a:t>student:</a:t>
            </a:r>
            <a:r>
              <a:rPr dirty="0" sz="1000" spc="-10" i="1">
                <a:latin typeface="Arial"/>
                <a:cs typeface="Arial"/>
              </a:rPr>
              <a:t>M.Kushal</a:t>
            </a:r>
            <a:endParaRPr sz="1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604" y="519667"/>
            <a:ext cx="5009515" cy="481965"/>
          </a:xfrm>
          <a:prstGeom prst="rect">
            <a:avLst/>
          </a:prstGeom>
        </p:spPr>
        <p:txBody>
          <a:bodyPr wrap="square" lIns="0" tIns="660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20"/>
              </a:spcBef>
            </a:pPr>
            <a:r>
              <a:rPr dirty="0" sz="1400" b="1">
                <a:solidFill>
                  <a:srgbClr val="365F91"/>
                </a:solidFill>
                <a:latin typeface="Calibri"/>
                <a:cs typeface="Calibri"/>
              </a:rPr>
              <a:t>Question</a:t>
            </a:r>
            <a:r>
              <a:rPr dirty="0" sz="1400" spc="-15" b="1">
                <a:solidFill>
                  <a:srgbClr val="365F91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365F91"/>
                </a:solidFill>
                <a:latin typeface="Calibri"/>
                <a:cs typeface="Calibri"/>
              </a:rPr>
              <a:t>1</a:t>
            </a:r>
            <a:r>
              <a:rPr dirty="0" sz="1400" spc="-25" b="1">
                <a:solidFill>
                  <a:srgbClr val="365F91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365F91"/>
                </a:solidFill>
                <a:latin typeface="Calibri"/>
                <a:cs typeface="Calibri"/>
              </a:rPr>
              <a:t>–</a:t>
            </a:r>
            <a:r>
              <a:rPr dirty="0" sz="1400" spc="-20" b="1">
                <a:solidFill>
                  <a:srgbClr val="365F91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365F91"/>
                </a:solidFill>
                <a:latin typeface="Calibri"/>
                <a:cs typeface="Calibri"/>
              </a:rPr>
              <a:t>Breadth-</a:t>
            </a:r>
            <a:r>
              <a:rPr dirty="0" sz="1400" b="1">
                <a:solidFill>
                  <a:srgbClr val="365F91"/>
                </a:solidFill>
                <a:latin typeface="Calibri"/>
                <a:cs typeface="Calibri"/>
              </a:rPr>
              <a:t>First</a:t>
            </a:r>
            <a:r>
              <a:rPr dirty="0" sz="1400" spc="-15" b="1">
                <a:solidFill>
                  <a:srgbClr val="365F91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365F91"/>
                </a:solidFill>
                <a:latin typeface="Calibri"/>
                <a:cs typeface="Calibri"/>
              </a:rPr>
              <a:t>Search</a:t>
            </a:r>
            <a:r>
              <a:rPr dirty="0" sz="1400" spc="-10" b="1">
                <a:solidFill>
                  <a:srgbClr val="365F91"/>
                </a:solidFill>
                <a:latin typeface="Calibri"/>
                <a:cs typeface="Calibri"/>
              </a:rPr>
              <a:t> </a:t>
            </a:r>
            <a:r>
              <a:rPr dirty="0" sz="1400" spc="-20" b="1">
                <a:solidFill>
                  <a:srgbClr val="365F91"/>
                </a:solidFill>
                <a:latin typeface="Calibri"/>
                <a:cs typeface="Calibri"/>
              </a:rPr>
              <a:t>(BFS)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90"/>
              </a:spcBef>
            </a:pPr>
            <a:r>
              <a:rPr dirty="0" sz="1000">
                <a:latin typeface="Arial"/>
                <a:cs typeface="Arial"/>
              </a:rPr>
              <a:t>Graph:</a:t>
            </a:r>
            <a:r>
              <a:rPr dirty="0" sz="1000" spc="-1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A</a:t>
            </a:r>
            <a:r>
              <a:rPr dirty="0" sz="1000" spc="-2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→</a:t>
            </a:r>
            <a:r>
              <a:rPr dirty="0" sz="1000" spc="-1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(B,</a:t>
            </a:r>
            <a:r>
              <a:rPr dirty="0" sz="1000" spc="-2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C),</a:t>
            </a:r>
            <a:r>
              <a:rPr dirty="0" sz="1000" spc="-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B</a:t>
            </a:r>
            <a:r>
              <a:rPr dirty="0" sz="1000" spc="-2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→</a:t>
            </a:r>
            <a:r>
              <a:rPr dirty="0" sz="1000" spc="-2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(D,</a:t>
            </a:r>
            <a:r>
              <a:rPr dirty="0" sz="1000" spc="-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E),</a:t>
            </a:r>
            <a:r>
              <a:rPr dirty="0" sz="1000" spc="-2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C</a:t>
            </a:r>
            <a:r>
              <a:rPr dirty="0" sz="1000" spc="-1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→</a:t>
            </a:r>
            <a:r>
              <a:rPr dirty="0" sz="1000" spc="-1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(F,</a:t>
            </a:r>
            <a:r>
              <a:rPr dirty="0" sz="1000" spc="-2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G).</a:t>
            </a:r>
            <a:r>
              <a:rPr dirty="0" sz="1000" spc="-1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Assume</a:t>
            </a:r>
            <a:r>
              <a:rPr dirty="0" sz="1000" spc="-2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children</a:t>
            </a:r>
            <a:r>
              <a:rPr dirty="0" sz="1000" spc="-1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are</a:t>
            </a:r>
            <a:r>
              <a:rPr dirty="0" sz="1000" spc="-1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visited</a:t>
            </a:r>
            <a:r>
              <a:rPr dirty="0" sz="1000" spc="-1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from</a:t>
            </a:r>
            <a:r>
              <a:rPr dirty="0" sz="1000" spc="-2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left</a:t>
            </a:r>
            <a:r>
              <a:rPr dirty="0" sz="1000" spc="-2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to</a:t>
            </a:r>
            <a:r>
              <a:rPr dirty="0" sz="1000" spc="-15">
                <a:latin typeface="Arial"/>
                <a:cs typeface="Arial"/>
              </a:rPr>
              <a:t> </a:t>
            </a:r>
            <a:r>
              <a:rPr dirty="0" sz="1000" spc="-10">
                <a:latin typeface="Arial"/>
                <a:cs typeface="Arial"/>
              </a:rPr>
              <a:t>right.</a:t>
            </a:r>
            <a:endParaRPr sz="1000">
              <a:latin typeface="Arial"/>
              <a:cs typeface="Arial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140256" y="1138682"/>
          <a:ext cx="5570220" cy="1219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29435"/>
                <a:gridCol w="1829435"/>
                <a:gridCol w="1829435"/>
              </a:tblGrid>
              <a:tr h="152400">
                <a:tc>
                  <a:txBody>
                    <a:bodyPr/>
                    <a:lstStyle/>
                    <a:p>
                      <a:pPr marL="68580">
                        <a:lnSpc>
                          <a:spcPts val="1100"/>
                        </a:lnSpc>
                      </a:pPr>
                      <a:r>
                        <a:rPr dirty="0" sz="1000" spc="-10">
                          <a:latin typeface="Arial"/>
                          <a:cs typeface="Arial"/>
                        </a:rPr>
                        <a:t>Iteration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100"/>
                        </a:lnSpc>
                      </a:pPr>
                      <a:r>
                        <a:rPr dirty="0" sz="1000">
                          <a:latin typeface="Arial"/>
                          <a:cs typeface="Arial"/>
                        </a:rPr>
                        <a:t>Queue</a:t>
                      </a:r>
                      <a:r>
                        <a:rPr dirty="0" sz="1000" spc="-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>
                          <a:latin typeface="Arial"/>
                          <a:cs typeface="Arial"/>
                        </a:rPr>
                        <a:t>(front</a:t>
                      </a:r>
                      <a:r>
                        <a:rPr dirty="0" sz="1000" spc="-2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>
                          <a:latin typeface="Arial"/>
                          <a:cs typeface="Arial"/>
                        </a:rPr>
                        <a:t>→</a:t>
                      </a:r>
                      <a:r>
                        <a:rPr dirty="0" sz="1000" spc="-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 spc="-10">
                          <a:latin typeface="Arial"/>
                          <a:cs typeface="Arial"/>
                        </a:rPr>
                        <a:t>rear)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100"/>
                        </a:lnSpc>
                      </a:pPr>
                      <a:r>
                        <a:rPr dirty="0" sz="1000">
                          <a:latin typeface="Arial"/>
                          <a:cs typeface="Arial"/>
                        </a:rPr>
                        <a:t>Visited</a:t>
                      </a:r>
                      <a:r>
                        <a:rPr dirty="0" sz="1000" spc="-4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 spc="-20">
                          <a:latin typeface="Arial"/>
                          <a:cs typeface="Arial"/>
                        </a:rPr>
                        <a:t>Node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marL="68580">
                        <a:lnSpc>
                          <a:spcPts val="1100"/>
                        </a:lnSpc>
                      </a:pPr>
                      <a:r>
                        <a:rPr dirty="0" sz="1000" spc="-50">
                          <a:latin typeface="Arial"/>
                          <a:cs typeface="Arial"/>
                        </a:rPr>
                        <a:t>1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100"/>
                        </a:lnSpc>
                      </a:pPr>
                      <a:r>
                        <a:rPr dirty="0" sz="1000">
                          <a:latin typeface="Arial"/>
                          <a:cs typeface="Arial"/>
                        </a:rPr>
                        <a:t>[B,</a:t>
                      </a:r>
                      <a:r>
                        <a:rPr dirty="0" sz="1000" spc="-1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 spc="-25">
                          <a:latin typeface="Arial"/>
                          <a:cs typeface="Arial"/>
                        </a:rPr>
                        <a:t>C]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100"/>
                        </a:lnSpc>
                      </a:pPr>
                      <a:r>
                        <a:rPr dirty="0" sz="1000" spc="-50">
                          <a:latin typeface="Arial"/>
                          <a:cs typeface="Arial"/>
                        </a:rPr>
                        <a:t>A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marL="68580">
                        <a:lnSpc>
                          <a:spcPts val="1100"/>
                        </a:lnSpc>
                      </a:pPr>
                      <a:r>
                        <a:rPr dirty="0" sz="1000" spc="-50">
                          <a:latin typeface="Arial"/>
                          <a:cs typeface="Arial"/>
                        </a:rPr>
                        <a:t>2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100"/>
                        </a:lnSpc>
                      </a:pPr>
                      <a:r>
                        <a:rPr dirty="0" sz="1000">
                          <a:latin typeface="Arial"/>
                          <a:cs typeface="Arial"/>
                        </a:rPr>
                        <a:t>[C,</a:t>
                      </a:r>
                      <a:r>
                        <a:rPr dirty="0" sz="1000" spc="-2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>
                          <a:latin typeface="Arial"/>
                          <a:cs typeface="Arial"/>
                        </a:rPr>
                        <a:t>D,</a:t>
                      </a:r>
                      <a:r>
                        <a:rPr dirty="0" sz="1000" spc="-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 spc="-25">
                          <a:latin typeface="Arial"/>
                          <a:cs typeface="Arial"/>
                        </a:rPr>
                        <a:t>E]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100"/>
                        </a:lnSpc>
                      </a:pPr>
                      <a:r>
                        <a:rPr dirty="0" sz="1000" spc="-50">
                          <a:latin typeface="Arial"/>
                          <a:cs typeface="Arial"/>
                        </a:rPr>
                        <a:t>B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marL="68580">
                        <a:lnSpc>
                          <a:spcPts val="1100"/>
                        </a:lnSpc>
                      </a:pPr>
                      <a:r>
                        <a:rPr dirty="0" sz="1000" spc="-50">
                          <a:latin typeface="Arial"/>
                          <a:cs typeface="Arial"/>
                        </a:rPr>
                        <a:t>3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100"/>
                        </a:lnSpc>
                      </a:pPr>
                      <a:r>
                        <a:rPr dirty="0" sz="1000">
                          <a:latin typeface="Arial"/>
                          <a:cs typeface="Arial"/>
                        </a:rPr>
                        <a:t>[D,</a:t>
                      </a:r>
                      <a:r>
                        <a:rPr dirty="0" sz="1000" spc="-2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>
                          <a:latin typeface="Arial"/>
                          <a:cs typeface="Arial"/>
                        </a:rPr>
                        <a:t>E,</a:t>
                      </a:r>
                      <a:r>
                        <a:rPr dirty="0" sz="1000" spc="-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>
                          <a:latin typeface="Arial"/>
                          <a:cs typeface="Arial"/>
                        </a:rPr>
                        <a:t>F,</a:t>
                      </a:r>
                      <a:r>
                        <a:rPr dirty="0" sz="1000" spc="-1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 spc="-25">
                          <a:latin typeface="Arial"/>
                          <a:cs typeface="Arial"/>
                        </a:rPr>
                        <a:t>G]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100"/>
                        </a:lnSpc>
                      </a:pPr>
                      <a:r>
                        <a:rPr dirty="0" sz="1000" spc="-50">
                          <a:latin typeface="Arial"/>
                          <a:cs typeface="Arial"/>
                        </a:rPr>
                        <a:t>C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marL="68580">
                        <a:lnSpc>
                          <a:spcPts val="1100"/>
                        </a:lnSpc>
                      </a:pPr>
                      <a:r>
                        <a:rPr dirty="0" sz="1000" spc="-50">
                          <a:latin typeface="Arial"/>
                          <a:cs typeface="Arial"/>
                        </a:rPr>
                        <a:t>4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100"/>
                        </a:lnSpc>
                      </a:pPr>
                      <a:r>
                        <a:rPr dirty="0" sz="1000">
                          <a:latin typeface="Arial"/>
                          <a:cs typeface="Arial"/>
                        </a:rPr>
                        <a:t>[E,</a:t>
                      </a:r>
                      <a:r>
                        <a:rPr dirty="0" sz="1000" spc="-1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>
                          <a:latin typeface="Arial"/>
                          <a:cs typeface="Arial"/>
                        </a:rPr>
                        <a:t>F,</a:t>
                      </a:r>
                      <a:r>
                        <a:rPr dirty="0" sz="1000" spc="-1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 spc="-25">
                          <a:latin typeface="Arial"/>
                          <a:cs typeface="Arial"/>
                        </a:rPr>
                        <a:t>G]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100"/>
                        </a:lnSpc>
                      </a:pPr>
                      <a:r>
                        <a:rPr dirty="0" sz="1000" spc="-50">
                          <a:latin typeface="Arial"/>
                          <a:cs typeface="Arial"/>
                        </a:rPr>
                        <a:t>D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marL="68580">
                        <a:lnSpc>
                          <a:spcPts val="1100"/>
                        </a:lnSpc>
                      </a:pPr>
                      <a:r>
                        <a:rPr dirty="0" sz="1000" spc="-50">
                          <a:latin typeface="Arial"/>
                          <a:cs typeface="Arial"/>
                        </a:rPr>
                        <a:t>5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100"/>
                        </a:lnSpc>
                      </a:pPr>
                      <a:r>
                        <a:rPr dirty="0" sz="1000">
                          <a:latin typeface="Arial"/>
                          <a:cs typeface="Arial"/>
                        </a:rPr>
                        <a:t>[F,</a:t>
                      </a:r>
                      <a:r>
                        <a:rPr dirty="0" sz="1000" spc="-2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 spc="-25">
                          <a:latin typeface="Arial"/>
                          <a:cs typeface="Arial"/>
                        </a:rPr>
                        <a:t>G]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100"/>
                        </a:lnSpc>
                      </a:pPr>
                      <a:r>
                        <a:rPr dirty="0" sz="1000" spc="-50">
                          <a:latin typeface="Arial"/>
                          <a:cs typeface="Arial"/>
                        </a:rPr>
                        <a:t>E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marL="68580">
                        <a:lnSpc>
                          <a:spcPts val="1100"/>
                        </a:lnSpc>
                      </a:pPr>
                      <a:r>
                        <a:rPr dirty="0" sz="1000" spc="-50">
                          <a:latin typeface="Arial"/>
                          <a:cs typeface="Arial"/>
                        </a:rPr>
                        <a:t>6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100"/>
                        </a:lnSpc>
                      </a:pPr>
                      <a:r>
                        <a:rPr dirty="0" sz="1000" spc="-25">
                          <a:latin typeface="Arial"/>
                          <a:cs typeface="Arial"/>
                        </a:rPr>
                        <a:t>[G]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100"/>
                        </a:lnSpc>
                      </a:pPr>
                      <a:r>
                        <a:rPr dirty="0" sz="1000" spc="-50">
                          <a:latin typeface="Arial"/>
                          <a:cs typeface="Arial"/>
                        </a:rPr>
                        <a:t>F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marL="68580">
                        <a:lnSpc>
                          <a:spcPts val="1100"/>
                        </a:lnSpc>
                      </a:pPr>
                      <a:r>
                        <a:rPr dirty="0" sz="1000" spc="-50">
                          <a:latin typeface="Arial"/>
                          <a:cs typeface="Arial"/>
                        </a:rPr>
                        <a:t>7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100"/>
                        </a:lnSpc>
                      </a:pPr>
                      <a:r>
                        <a:rPr dirty="0" sz="1000" spc="-25">
                          <a:latin typeface="Arial"/>
                          <a:cs typeface="Arial"/>
                        </a:rPr>
                        <a:t>[]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100"/>
                        </a:lnSpc>
                      </a:pPr>
                      <a:r>
                        <a:rPr dirty="0" sz="1000" spc="-50">
                          <a:latin typeface="Arial"/>
                          <a:cs typeface="Arial"/>
                        </a:rPr>
                        <a:t>G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1130604" y="2343657"/>
            <a:ext cx="5335270" cy="15309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52400" indent="-139700">
              <a:lnSpc>
                <a:spcPct val="100000"/>
              </a:lnSpc>
              <a:spcBef>
                <a:spcPts val="95"/>
              </a:spcBef>
              <a:buAutoNum type="arabicPeriod"/>
              <a:tabLst>
                <a:tab pos="152400" algn="l"/>
              </a:tabLst>
            </a:pPr>
            <a:r>
              <a:rPr dirty="0" sz="1000">
                <a:latin typeface="Arial"/>
                <a:cs typeface="Arial"/>
              </a:rPr>
              <a:t>BFS</a:t>
            </a:r>
            <a:r>
              <a:rPr dirty="0" sz="1000" spc="-1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traversal</a:t>
            </a:r>
            <a:r>
              <a:rPr dirty="0" sz="1000" spc="-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order:</a:t>
            </a:r>
            <a:r>
              <a:rPr dirty="0" sz="1000" spc="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A, B,</a:t>
            </a:r>
            <a:r>
              <a:rPr dirty="0" sz="1000" spc="-1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C,</a:t>
            </a:r>
            <a:r>
              <a:rPr dirty="0" sz="1000" spc="-1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D, E,</a:t>
            </a:r>
            <a:r>
              <a:rPr dirty="0" sz="1000" spc="-1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F,</a:t>
            </a:r>
            <a:r>
              <a:rPr dirty="0" sz="1000" spc="-15">
                <a:latin typeface="Arial"/>
                <a:cs typeface="Arial"/>
              </a:rPr>
              <a:t> </a:t>
            </a:r>
            <a:r>
              <a:rPr dirty="0" sz="1000" spc="-25">
                <a:latin typeface="Arial"/>
                <a:cs typeface="Arial"/>
              </a:rPr>
              <a:t>G.</a:t>
            </a:r>
            <a:endParaRPr sz="1000">
              <a:latin typeface="Arial"/>
              <a:cs typeface="Arial"/>
            </a:endParaRPr>
          </a:p>
          <a:p>
            <a:pPr marL="12700" marR="5080" indent="139700">
              <a:lnSpc>
                <a:spcPct val="110000"/>
              </a:lnSpc>
              <a:spcBef>
                <a:spcPts val="1010"/>
              </a:spcBef>
              <a:buAutoNum type="arabicPeriod"/>
              <a:tabLst>
                <a:tab pos="152400" algn="l"/>
              </a:tabLst>
            </a:pPr>
            <a:r>
              <a:rPr dirty="0" sz="1000">
                <a:latin typeface="Arial"/>
                <a:cs typeface="Arial"/>
              </a:rPr>
              <a:t>Queue</a:t>
            </a:r>
            <a:r>
              <a:rPr dirty="0" sz="1000" spc="-2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contents</a:t>
            </a:r>
            <a:r>
              <a:rPr dirty="0" sz="1000" spc="-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after</a:t>
            </a:r>
            <a:r>
              <a:rPr dirty="0" sz="1000" spc="-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each</a:t>
            </a:r>
            <a:r>
              <a:rPr dirty="0" sz="1000" spc="-2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iteration</a:t>
            </a:r>
            <a:r>
              <a:rPr dirty="0" sz="1000" spc="-2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are</a:t>
            </a:r>
            <a:r>
              <a:rPr dirty="0" sz="1000" spc="-2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shown</a:t>
            </a:r>
            <a:r>
              <a:rPr dirty="0" sz="1000" spc="-1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in</a:t>
            </a:r>
            <a:r>
              <a:rPr dirty="0" sz="1000" spc="-1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the</a:t>
            </a:r>
            <a:r>
              <a:rPr dirty="0" sz="1000" spc="-1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table.</a:t>
            </a:r>
            <a:r>
              <a:rPr dirty="0" sz="1000" spc="-1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The</a:t>
            </a:r>
            <a:r>
              <a:rPr dirty="0" sz="1000" spc="-1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queue</a:t>
            </a:r>
            <a:r>
              <a:rPr dirty="0" sz="1000" spc="-1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is</a:t>
            </a:r>
            <a:r>
              <a:rPr dirty="0" sz="1000" spc="-1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FIFO</a:t>
            </a:r>
            <a:r>
              <a:rPr dirty="0" sz="1000" spc="-1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(First</a:t>
            </a:r>
            <a:r>
              <a:rPr dirty="0" sz="1000" spc="-2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In,</a:t>
            </a:r>
            <a:r>
              <a:rPr dirty="0" sz="1000" spc="-20">
                <a:latin typeface="Arial"/>
                <a:cs typeface="Arial"/>
              </a:rPr>
              <a:t> </a:t>
            </a:r>
            <a:r>
              <a:rPr dirty="0" sz="1000" spc="-10">
                <a:latin typeface="Arial"/>
                <a:cs typeface="Arial"/>
              </a:rPr>
              <a:t>First Out).</a:t>
            </a:r>
            <a:endParaRPr sz="10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29"/>
              </a:spcBef>
            </a:pP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400" b="1">
                <a:solidFill>
                  <a:srgbClr val="365F91"/>
                </a:solidFill>
                <a:latin typeface="Calibri"/>
                <a:cs typeface="Calibri"/>
              </a:rPr>
              <a:t>Question</a:t>
            </a:r>
            <a:r>
              <a:rPr dirty="0" sz="1400" spc="-15" b="1">
                <a:solidFill>
                  <a:srgbClr val="365F91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365F91"/>
                </a:solidFill>
                <a:latin typeface="Calibri"/>
                <a:cs typeface="Calibri"/>
              </a:rPr>
              <a:t>2</a:t>
            </a:r>
            <a:r>
              <a:rPr dirty="0" sz="1400" spc="-25" b="1">
                <a:solidFill>
                  <a:srgbClr val="365F91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365F91"/>
                </a:solidFill>
                <a:latin typeface="Calibri"/>
                <a:cs typeface="Calibri"/>
              </a:rPr>
              <a:t>–</a:t>
            </a:r>
            <a:r>
              <a:rPr dirty="0" sz="1400" spc="-25" b="1">
                <a:solidFill>
                  <a:srgbClr val="365F91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365F91"/>
                </a:solidFill>
                <a:latin typeface="Calibri"/>
                <a:cs typeface="Calibri"/>
              </a:rPr>
              <a:t>Depth-</a:t>
            </a:r>
            <a:r>
              <a:rPr dirty="0" sz="1400" b="1">
                <a:solidFill>
                  <a:srgbClr val="365F91"/>
                </a:solidFill>
                <a:latin typeface="Calibri"/>
                <a:cs typeface="Calibri"/>
              </a:rPr>
              <a:t>First</a:t>
            </a:r>
            <a:r>
              <a:rPr dirty="0" sz="1400" spc="-10" b="1">
                <a:solidFill>
                  <a:srgbClr val="365F91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365F91"/>
                </a:solidFill>
                <a:latin typeface="Calibri"/>
                <a:cs typeface="Calibri"/>
              </a:rPr>
              <a:t>Search</a:t>
            </a:r>
            <a:r>
              <a:rPr dirty="0" sz="1400" spc="-15" b="1">
                <a:solidFill>
                  <a:srgbClr val="365F91"/>
                </a:solidFill>
                <a:latin typeface="Calibri"/>
                <a:cs typeface="Calibri"/>
              </a:rPr>
              <a:t> </a:t>
            </a:r>
            <a:r>
              <a:rPr dirty="0" sz="1400" spc="-20" b="1">
                <a:solidFill>
                  <a:srgbClr val="365F91"/>
                </a:solidFill>
                <a:latin typeface="Calibri"/>
                <a:cs typeface="Calibri"/>
              </a:rPr>
              <a:t>(DFS)</a:t>
            </a:r>
            <a:endParaRPr sz="1400">
              <a:latin typeface="Calibri"/>
              <a:cs typeface="Calibri"/>
            </a:endParaRPr>
          </a:p>
          <a:p>
            <a:pPr marL="12700" marR="610235">
              <a:lnSpc>
                <a:spcPct val="110000"/>
              </a:lnSpc>
              <a:spcBef>
                <a:spcPts val="160"/>
              </a:spcBef>
            </a:pPr>
            <a:r>
              <a:rPr dirty="0" sz="1000">
                <a:latin typeface="Arial"/>
                <a:cs typeface="Arial"/>
              </a:rPr>
              <a:t>Using</a:t>
            </a:r>
            <a:r>
              <a:rPr dirty="0" sz="1000" spc="-15">
                <a:latin typeface="Arial"/>
                <a:cs typeface="Arial"/>
              </a:rPr>
              <a:t> </a:t>
            </a:r>
            <a:r>
              <a:rPr dirty="0" sz="1000" spc="-10">
                <a:latin typeface="Arial"/>
                <a:cs typeface="Arial"/>
              </a:rPr>
              <a:t>left-to-</a:t>
            </a:r>
            <a:r>
              <a:rPr dirty="0" sz="1000">
                <a:latin typeface="Arial"/>
                <a:cs typeface="Arial"/>
              </a:rPr>
              <a:t>right</a:t>
            </a:r>
            <a:r>
              <a:rPr dirty="0" sz="1000" spc="-1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traversal,</a:t>
            </a:r>
            <a:r>
              <a:rPr dirty="0" sz="1000" spc="-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DFS</a:t>
            </a:r>
            <a:r>
              <a:rPr dirty="0" sz="1000" spc="-1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explores</a:t>
            </a:r>
            <a:r>
              <a:rPr dirty="0" sz="1000" spc="-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each</a:t>
            </a:r>
            <a:r>
              <a:rPr dirty="0" sz="1000" spc="-1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branch</a:t>
            </a:r>
            <a:r>
              <a:rPr dirty="0" sz="1000" spc="-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as</a:t>
            </a:r>
            <a:r>
              <a:rPr dirty="0" sz="1000" spc="-1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deeply</a:t>
            </a:r>
            <a:r>
              <a:rPr dirty="0" sz="1000" spc="-1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as possible</a:t>
            </a:r>
            <a:r>
              <a:rPr dirty="0" sz="1000" spc="-10">
                <a:latin typeface="Arial"/>
                <a:cs typeface="Arial"/>
              </a:rPr>
              <a:t> before backtracking.</a:t>
            </a:r>
            <a:endParaRPr sz="1000">
              <a:latin typeface="Arial"/>
              <a:cs typeface="Arial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1071676" y="4013326"/>
          <a:ext cx="5570220" cy="1219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29435"/>
                <a:gridCol w="1829435"/>
                <a:gridCol w="1829435"/>
              </a:tblGrid>
              <a:tr h="152400">
                <a:tc>
                  <a:txBody>
                    <a:bodyPr/>
                    <a:lstStyle/>
                    <a:p>
                      <a:pPr marL="68580">
                        <a:lnSpc>
                          <a:spcPts val="1100"/>
                        </a:lnSpc>
                      </a:pPr>
                      <a:r>
                        <a:rPr dirty="0" sz="1000" spc="-20">
                          <a:latin typeface="Arial"/>
                          <a:cs typeface="Arial"/>
                        </a:rPr>
                        <a:t>Step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100"/>
                        </a:lnSpc>
                      </a:pPr>
                      <a:r>
                        <a:rPr dirty="0" sz="1000">
                          <a:latin typeface="Arial"/>
                          <a:cs typeface="Arial"/>
                        </a:rPr>
                        <a:t>Node</a:t>
                      </a:r>
                      <a:r>
                        <a:rPr dirty="0" sz="1000" spc="-3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 spc="-10">
                          <a:latin typeface="Arial"/>
                          <a:cs typeface="Arial"/>
                        </a:rPr>
                        <a:t>visited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100"/>
                        </a:lnSpc>
                      </a:pPr>
                      <a:r>
                        <a:rPr dirty="0" sz="1000">
                          <a:latin typeface="Arial"/>
                          <a:cs typeface="Arial"/>
                        </a:rPr>
                        <a:t>Stack</a:t>
                      </a:r>
                      <a:r>
                        <a:rPr dirty="0" sz="1000" spc="-1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>
                          <a:latin typeface="Arial"/>
                          <a:cs typeface="Arial"/>
                        </a:rPr>
                        <a:t>(top</a:t>
                      </a:r>
                      <a:r>
                        <a:rPr dirty="0" sz="1000" spc="-1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>
                          <a:latin typeface="Arial"/>
                          <a:cs typeface="Arial"/>
                        </a:rPr>
                        <a:t>at</a:t>
                      </a:r>
                      <a:r>
                        <a:rPr dirty="0" sz="1000" spc="-1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>
                          <a:latin typeface="Arial"/>
                          <a:cs typeface="Arial"/>
                        </a:rPr>
                        <a:t>right;</a:t>
                      </a:r>
                      <a:r>
                        <a:rPr dirty="0" sz="1000" spc="-1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 spc="-10">
                          <a:latin typeface="Arial"/>
                          <a:cs typeface="Arial"/>
                        </a:rPr>
                        <a:t>simplified)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marL="68580">
                        <a:lnSpc>
                          <a:spcPts val="1100"/>
                        </a:lnSpc>
                      </a:pPr>
                      <a:r>
                        <a:rPr dirty="0" sz="1000" spc="-50">
                          <a:latin typeface="Arial"/>
                          <a:cs typeface="Arial"/>
                        </a:rPr>
                        <a:t>1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100"/>
                        </a:lnSpc>
                      </a:pPr>
                      <a:r>
                        <a:rPr dirty="0" sz="1000" spc="-50">
                          <a:latin typeface="Arial"/>
                          <a:cs typeface="Arial"/>
                        </a:rPr>
                        <a:t>A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100"/>
                        </a:lnSpc>
                      </a:pPr>
                      <a:r>
                        <a:rPr dirty="0" sz="1000" spc="-25">
                          <a:latin typeface="Arial"/>
                          <a:cs typeface="Arial"/>
                        </a:rPr>
                        <a:t>[A]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marL="68580">
                        <a:lnSpc>
                          <a:spcPts val="1100"/>
                        </a:lnSpc>
                      </a:pPr>
                      <a:r>
                        <a:rPr dirty="0" sz="1000" spc="-50">
                          <a:latin typeface="Arial"/>
                          <a:cs typeface="Arial"/>
                        </a:rPr>
                        <a:t>2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100"/>
                        </a:lnSpc>
                      </a:pPr>
                      <a:r>
                        <a:rPr dirty="0" sz="1000" spc="-50">
                          <a:latin typeface="Arial"/>
                          <a:cs typeface="Arial"/>
                        </a:rPr>
                        <a:t>B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100"/>
                        </a:lnSpc>
                      </a:pPr>
                      <a:r>
                        <a:rPr dirty="0" sz="1000">
                          <a:latin typeface="Arial"/>
                          <a:cs typeface="Arial"/>
                        </a:rPr>
                        <a:t>[A, </a:t>
                      </a:r>
                      <a:r>
                        <a:rPr dirty="0" sz="1000" spc="-25">
                          <a:latin typeface="Arial"/>
                          <a:cs typeface="Arial"/>
                        </a:rPr>
                        <a:t>B]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marL="68580">
                        <a:lnSpc>
                          <a:spcPts val="1100"/>
                        </a:lnSpc>
                      </a:pPr>
                      <a:r>
                        <a:rPr dirty="0" sz="1000" spc="-50">
                          <a:latin typeface="Arial"/>
                          <a:cs typeface="Arial"/>
                        </a:rPr>
                        <a:t>3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100"/>
                        </a:lnSpc>
                      </a:pPr>
                      <a:r>
                        <a:rPr dirty="0" sz="1000" spc="-50">
                          <a:latin typeface="Arial"/>
                          <a:cs typeface="Arial"/>
                        </a:rPr>
                        <a:t>D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100"/>
                        </a:lnSpc>
                      </a:pPr>
                      <a:r>
                        <a:rPr dirty="0" sz="1000">
                          <a:latin typeface="Arial"/>
                          <a:cs typeface="Arial"/>
                        </a:rPr>
                        <a:t>[A,</a:t>
                      </a:r>
                      <a:r>
                        <a:rPr dirty="0" sz="1000" spc="-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>
                          <a:latin typeface="Arial"/>
                          <a:cs typeface="Arial"/>
                        </a:rPr>
                        <a:t>B,</a:t>
                      </a:r>
                      <a:r>
                        <a:rPr dirty="0" sz="1000" spc="-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 spc="-25">
                          <a:latin typeface="Arial"/>
                          <a:cs typeface="Arial"/>
                        </a:rPr>
                        <a:t>D]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marL="68580">
                        <a:lnSpc>
                          <a:spcPts val="1100"/>
                        </a:lnSpc>
                      </a:pPr>
                      <a:r>
                        <a:rPr dirty="0" sz="1000" spc="-50">
                          <a:latin typeface="Arial"/>
                          <a:cs typeface="Arial"/>
                        </a:rPr>
                        <a:t>4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100"/>
                        </a:lnSpc>
                      </a:pPr>
                      <a:r>
                        <a:rPr dirty="0" sz="1000" spc="-50">
                          <a:latin typeface="Arial"/>
                          <a:cs typeface="Arial"/>
                        </a:rPr>
                        <a:t>E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100"/>
                        </a:lnSpc>
                      </a:pPr>
                      <a:r>
                        <a:rPr dirty="0" sz="1000">
                          <a:latin typeface="Arial"/>
                          <a:cs typeface="Arial"/>
                        </a:rPr>
                        <a:t>[A,</a:t>
                      </a:r>
                      <a:r>
                        <a:rPr dirty="0" sz="1000" spc="-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>
                          <a:latin typeface="Arial"/>
                          <a:cs typeface="Arial"/>
                        </a:rPr>
                        <a:t>B, E]</a:t>
                      </a:r>
                      <a:r>
                        <a:rPr dirty="0" sz="1000" spc="-1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>
                          <a:latin typeface="Arial"/>
                          <a:cs typeface="Arial"/>
                        </a:rPr>
                        <a:t>after</a:t>
                      </a:r>
                      <a:r>
                        <a:rPr dirty="0" sz="1000" spc="-10">
                          <a:latin typeface="Arial"/>
                          <a:cs typeface="Arial"/>
                        </a:rPr>
                        <a:t> backtracking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marL="68580">
                        <a:lnSpc>
                          <a:spcPts val="1100"/>
                        </a:lnSpc>
                      </a:pPr>
                      <a:r>
                        <a:rPr dirty="0" sz="1000" spc="-50">
                          <a:latin typeface="Arial"/>
                          <a:cs typeface="Arial"/>
                        </a:rPr>
                        <a:t>5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100"/>
                        </a:lnSpc>
                      </a:pPr>
                      <a:r>
                        <a:rPr dirty="0" sz="1000" spc="-50">
                          <a:latin typeface="Arial"/>
                          <a:cs typeface="Arial"/>
                        </a:rPr>
                        <a:t>C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100"/>
                        </a:lnSpc>
                      </a:pPr>
                      <a:r>
                        <a:rPr dirty="0" sz="1000">
                          <a:latin typeface="Arial"/>
                          <a:cs typeface="Arial"/>
                        </a:rPr>
                        <a:t>[A,</a:t>
                      </a:r>
                      <a:r>
                        <a:rPr dirty="0" sz="1000" spc="-1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>
                          <a:latin typeface="Arial"/>
                          <a:cs typeface="Arial"/>
                        </a:rPr>
                        <a:t>C] after</a:t>
                      </a:r>
                      <a:r>
                        <a:rPr dirty="0" sz="1000" spc="-10">
                          <a:latin typeface="Arial"/>
                          <a:cs typeface="Arial"/>
                        </a:rPr>
                        <a:t> backtracking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marL="68580">
                        <a:lnSpc>
                          <a:spcPts val="1100"/>
                        </a:lnSpc>
                      </a:pPr>
                      <a:r>
                        <a:rPr dirty="0" sz="1000" spc="-50">
                          <a:latin typeface="Arial"/>
                          <a:cs typeface="Arial"/>
                        </a:rPr>
                        <a:t>6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100"/>
                        </a:lnSpc>
                      </a:pPr>
                      <a:r>
                        <a:rPr dirty="0" sz="1000" spc="-50">
                          <a:latin typeface="Arial"/>
                          <a:cs typeface="Arial"/>
                        </a:rPr>
                        <a:t>F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100"/>
                        </a:lnSpc>
                      </a:pPr>
                      <a:r>
                        <a:rPr dirty="0" sz="1000">
                          <a:latin typeface="Arial"/>
                          <a:cs typeface="Arial"/>
                        </a:rPr>
                        <a:t>[A,</a:t>
                      </a:r>
                      <a:r>
                        <a:rPr dirty="0" sz="1000" spc="-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>
                          <a:latin typeface="Arial"/>
                          <a:cs typeface="Arial"/>
                        </a:rPr>
                        <a:t>C, </a:t>
                      </a:r>
                      <a:r>
                        <a:rPr dirty="0" sz="1000" spc="-25">
                          <a:latin typeface="Arial"/>
                          <a:cs typeface="Arial"/>
                        </a:rPr>
                        <a:t>F]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marL="68580">
                        <a:lnSpc>
                          <a:spcPts val="1100"/>
                        </a:lnSpc>
                      </a:pPr>
                      <a:r>
                        <a:rPr dirty="0" sz="1000" spc="-50">
                          <a:latin typeface="Arial"/>
                          <a:cs typeface="Arial"/>
                        </a:rPr>
                        <a:t>7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100"/>
                        </a:lnSpc>
                      </a:pPr>
                      <a:r>
                        <a:rPr dirty="0" sz="1000" spc="-50">
                          <a:latin typeface="Arial"/>
                          <a:cs typeface="Arial"/>
                        </a:rPr>
                        <a:t>G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100"/>
                        </a:lnSpc>
                      </a:pPr>
                      <a:r>
                        <a:rPr dirty="0" sz="1000">
                          <a:latin typeface="Arial"/>
                          <a:cs typeface="Arial"/>
                        </a:rPr>
                        <a:t>[A,</a:t>
                      </a:r>
                      <a:r>
                        <a:rPr dirty="0" sz="1000" spc="-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>
                          <a:latin typeface="Arial"/>
                          <a:cs typeface="Arial"/>
                        </a:rPr>
                        <a:t>C, </a:t>
                      </a:r>
                      <a:r>
                        <a:rPr dirty="0" sz="1000" spc="-25">
                          <a:latin typeface="Arial"/>
                          <a:cs typeface="Arial"/>
                        </a:rPr>
                        <a:t>G]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1130604" y="5218557"/>
            <a:ext cx="5412740" cy="308737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latin typeface="Arial"/>
                <a:cs typeface="Arial"/>
              </a:rPr>
              <a:t>DFS</a:t>
            </a:r>
            <a:r>
              <a:rPr dirty="0" sz="1000" spc="-1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traversal</a:t>
            </a:r>
            <a:r>
              <a:rPr dirty="0" sz="1000" spc="-1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order: A,</a:t>
            </a:r>
            <a:r>
              <a:rPr dirty="0" sz="1000" spc="-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B,</a:t>
            </a:r>
            <a:r>
              <a:rPr dirty="0" sz="1000" spc="-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D,</a:t>
            </a:r>
            <a:r>
              <a:rPr dirty="0" sz="1000" spc="-1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E, C,</a:t>
            </a:r>
            <a:r>
              <a:rPr dirty="0" sz="1000" spc="-1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F,</a:t>
            </a:r>
            <a:r>
              <a:rPr dirty="0" sz="1000" spc="-15">
                <a:latin typeface="Arial"/>
                <a:cs typeface="Arial"/>
              </a:rPr>
              <a:t> </a:t>
            </a:r>
            <a:r>
              <a:rPr dirty="0" sz="1000" spc="-25">
                <a:latin typeface="Arial"/>
                <a:cs typeface="Arial"/>
              </a:rPr>
              <a:t>G.</a:t>
            </a:r>
            <a:endParaRPr sz="10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400" b="1">
                <a:solidFill>
                  <a:srgbClr val="365F91"/>
                </a:solidFill>
                <a:latin typeface="Calibri"/>
                <a:cs typeface="Calibri"/>
              </a:rPr>
              <a:t>Question</a:t>
            </a:r>
            <a:r>
              <a:rPr dirty="0" sz="1400" spc="-25" b="1">
                <a:solidFill>
                  <a:srgbClr val="365F91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365F91"/>
                </a:solidFill>
                <a:latin typeface="Calibri"/>
                <a:cs typeface="Calibri"/>
              </a:rPr>
              <a:t>3</a:t>
            </a:r>
            <a:r>
              <a:rPr dirty="0" sz="1400" spc="-35" b="1">
                <a:solidFill>
                  <a:srgbClr val="365F91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365F91"/>
                </a:solidFill>
                <a:latin typeface="Calibri"/>
                <a:cs typeface="Calibri"/>
              </a:rPr>
              <a:t>–</a:t>
            </a:r>
            <a:r>
              <a:rPr dirty="0" sz="1400" spc="-30" b="1">
                <a:solidFill>
                  <a:srgbClr val="365F91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365F91"/>
                </a:solidFill>
                <a:latin typeface="Calibri"/>
                <a:cs typeface="Calibri"/>
              </a:rPr>
              <a:t>8-</a:t>
            </a:r>
            <a:r>
              <a:rPr dirty="0" sz="1400" b="1">
                <a:solidFill>
                  <a:srgbClr val="365F91"/>
                </a:solidFill>
                <a:latin typeface="Calibri"/>
                <a:cs typeface="Calibri"/>
              </a:rPr>
              <a:t>Puzzle:</a:t>
            </a:r>
            <a:r>
              <a:rPr dirty="0" sz="1400" spc="-35" b="1">
                <a:solidFill>
                  <a:srgbClr val="365F91"/>
                </a:solidFill>
                <a:latin typeface="Calibri"/>
                <a:cs typeface="Calibri"/>
              </a:rPr>
              <a:t> </a:t>
            </a:r>
            <a:r>
              <a:rPr dirty="0" sz="1400" spc="-25" b="1">
                <a:solidFill>
                  <a:srgbClr val="365F91"/>
                </a:solidFill>
                <a:latin typeface="Calibri"/>
                <a:cs typeface="Calibri"/>
              </a:rPr>
              <a:t>BFS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95"/>
              </a:spcBef>
            </a:pPr>
            <a:r>
              <a:rPr dirty="0" sz="1000">
                <a:latin typeface="Arial"/>
                <a:cs typeface="Arial"/>
              </a:rPr>
              <a:t>Initial</a:t>
            </a:r>
            <a:r>
              <a:rPr dirty="0" sz="1000" spc="-35">
                <a:latin typeface="Arial"/>
                <a:cs typeface="Arial"/>
              </a:rPr>
              <a:t> </a:t>
            </a:r>
            <a:r>
              <a:rPr dirty="0" sz="1000" spc="-10">
                <a:latin typeface="Arial"/>
                <a:cs typeface="Arial"/>
              </a:rPr>
              <a:t>state: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115"/>
              </a:spcBef>
            </a:pPr>
            <a:r>
              <a:rPr dirty="0" sz="1000">
                <a:latin typeface="Arial"/>
                <a:cs typeface="Arial"/>
              </a:rPr>
              <a:t>1</a:t>
            </a:r>
            <a:r>
              <a:rPr dirty="0" sz="1000" spc="26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3</a:t>
            </a:r>
            <a:r>
              <a:rPr dirty="0" sz="1000" spc="275">
                <a:latin typeface="Arial"/>
                <a:cs typeface="Arial"/>
              </a:rPr>
              <a:t> </a:t>
            </a:r>
            <a:r>
              <a:rPr dirty="0" sz="1000" spc="-50">
                <a:latin typeface="Arial"/>
                <a:cs typeface="Arial"/>
              </a:rPr>
              <a:t>6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000">
                <a:latin typeface="Arial"/>
                <a:cs typeface="Arial"/>
              </a:rPr>
              <a:t>5</a:t>
            </a:r>
            <a:r>
              <a:rPr dirty="0" sz="1000" spc="26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0</a:t>
            </a:r>
            <a:r>
              <a:rPr dirty="0" sz="1000" spc="275">
                <a:latin typeface="Arial"/>
                <a:cs typeface="Arial"/>
              </a:rPr>
              <a:t> </a:t>
            </a:r>
            <a:r>
              <a:rPr dirty="0" sz="1000" spc="-50">
                <a:latin typeface="Arial"/>
                <a:cs typeface="Arial"/>
              </a:rPr>
              <a:t>2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000">
                <a:latin typeface="Arial"/>
                <a:cs typeface="Arial"/>
              </a:rPr>
              <a:t>4</a:t>
            </a:r>
            <a:r>
              <a:rPr dirty="0" sz="1000" spc="26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7</a:t>
            </a:r>
            <a:r>
              <a:rPr dirty="0" sz="1000" spc="275">
                <a:latin typeface="Arial"/>
                <a:cs typeface="Arial"/>
              </a:rPr>
              <a:t> </a:t>
            </a:r>
            <a:r>
              <a:rPr dirty="0" sz="1000" spc="-50">
                <a:latin typeface="Arial"/>
                <a:cs typeface="Arial"/>
              </a:rPr>
              <a:t>8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115"/>
              </a:spcBef>
            </a:pPr>
            <a:r>
              <a:rPr dirty="0" sz="1000">
                <a:latin typeface="Arial"/>
                <a:cs typeface="Arial"/>
              </a:rPr>
              <a:t>Goal</a:t>
            </a:r>
            <a:r>
              <a:rPr dirty="0" sz="1000" spc="-35">
                <a:latin typeface="Arial"/>
                <a:cs typeface="Arial"/>
              </a:rPr>
              <a:t> </a:t>
            </a:r>
            <a:r>
              <a:rPr dirty="0" sz="1000" spc="-10">
                <a:latin typeface="Arial"/>
                <a:cs typeface="Arial"/>
              </a:rPr>
              <a:t>state: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130"/>
              </a:spcBef>
            </a:pPr>
            <a:r>
              <a:rPr dirty="0" sz="1000">
                <a:latin typeface="Arial"/>
                <a:cs typeface="Arial"/>
              </a:rPr>
              <a:t>1</a:t>
            </a:r>
            <a:r>
              <a:rPr dirty="0" sz="1000" spc="26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2</a:t>
            </a:r>
            <a:r>
              <a:rPr dirty="0" sz="1000" spc="275">
                <a:latin typeface="Arial"/>
                <a:cs typeface="Arial"/>
              </a:rPr>
              <a:t> </a:t>
            </a:r>
            <a:r>
              <a:rPr dirty="0" sz="1000" spc="-50">
                <a:latin typeface="Arial"/>
                <a:cs typeface="Arial"/>
              </a:rPr>
              <a:t>3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000">
                <a:latin typeface="Arial"/>
                <a:cs typeface="Arial"/>
              </a:rPr>
              <a:t>4</a:t>
            </a:r>
            <a:r>
              <a:rPr dirty="0" sz="1000" spc="26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5</a:t>
            </a:r>
            <a:r>
              <a:rPr dirty="0" sz="1000" spc="275">
                <a:latin typeface="Arial"/>
                <a:cs typeface="Arial"/>
              </a:rPr>
              <a:t> </a:t>
            </a:r>
            <a:r>
              <a:rPr dirty="0" sz="1000" spc="-50">
                <a:latin typeface="Arial"/>
                <a:cs typeface="Arial"/>
              </a:rPr>
              <a:t>6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000">
                <a:latin typeface="Arial"/>
                <a:cs typeface="Arial"/>
              </a:rPr>
              <a:t>7</a:t>
            </a:r>
            <a:r>
              <a:rPr dirty="0" sz="1000" spc="26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8</a:t>
            </a:r>
            <a:r>
              <a:rPr dirty="0" sz="1000" spc="275">
                <a:latin typeface="Arial"/>
                <a:cs typeface="Arial"/>
              </a:rPr>
              <a:t> </a:t>
            </a:r>
            <a:r>
              <a:rPr dirty="0" sz="1000" spc="-50">
                <a:latin typeface="Arial"/>
                <a:cs typeface="Arial"/>
              </a:rPr>
              <a:t>0</a:t>
            </a:r>
            <a:endParaRPr sz="1000">
              <a:latin typeface="Arial"/>
              <a:cs typeface="Arial"/>
            </a:endParaRPr>
          </a:p>
          <a:p>
            <a:pPr marL="12700" marR="5080">
              <a:lnSpc>
                <a:spcPct val="110000"/>
              </a:lnSpc>
              <a:spcBef>
                <a:spcPts val="1005"/>
              </a:spcBef>
            </a:pPr>
            <a:r>
              <a:rPr dirty="0" sz="1000">
                <a:latin typeface="Arial"/>
                <a:cs typeface="Arial"/>
              </a:rPr>
              <a:t>The</a:t>
            </a:r>
            <a:r>
              <a:rPr dirty="0" sz="1000" spc="-20">
                <a:latin typeface="Arial"/>
                <a:cs typeface="Arial"/>
              </a:rPr>
              <a:t> </a:t>
            </a:r>
            <a:r>
              <a:rPr dirty="0" sz="1000" spc="-10">
                <a:latin typeface="Arial"/>
                <a:cs typeface="Arial"/>
              </a:rPr>
              <a:t>five-</a:t>
            </a:r>
            <a:r>
              <a:rPr dirty="0" sz="1000">
                <a:latin typeface="Arial"/>
                <a:cs typeface="Arial"/>
              </a:rPr>
              <a:t>row</a:t>
            </a:r>
            <a:r>
              <a:rPr dirty="0" sz="1000" spc="-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table</a:t>
            </a:r>
            <a:r>
              <a:rPr dirty="0" sz="1000" spc="-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in</a:t>
            </a:r>
            <a:r>
              <a:rPr dirty="0" sz="1000" spc="-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the</a:t>
            </a:r>
            <a:r>
              <a:rPr dirty="0" sz="1000" spc="-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question is</a:t>
            </a:r>
            <a:r>
              <a:rPr dirty="0" sz="1000" spc="-1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not</a:t>
            </a:r>
            <a:r>
              <a:rPr dirty="0" sz="1000" spc="-1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enough</a:t>
            </a:r>
            <a:r>
              <a:rPr dirty="0" sz="1000" spc="-2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to</a:t>
            </a:r>
            <a:r>
              <a:rPr dirty="0" sz="1000" spc="-1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reach</a:t>
            </a:r>
            <a:r>
              <a:rPr dirty="0" sz="1000" spc="-1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the</a:t>
            </a:r>
            <a:r>
              <a:rPr dirty="0" sz="1000" spc="-1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goal:</a:t>
            </a:r>
            <a:r>
              <a:rPr dirty="0" sz="1000" spc="-1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the</a:t>
            </a:r>
            <a:r>
              <a:rPr dirty="0" sz="1000" spc="-2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goal</a:t>
            </a:r>
            <a:r>
              <a:rPr dirty="0" sz="1000" spc="-1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is</a:t>
            </a:r>
            <a:r>
              <a:rPr dirty="0" sz="1000" spc="-1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reached</a:t>
            </a:r>
            <a:r>
              <a:rPr dirty="0" sz="1000" spc="-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at</a:t>
            </a:r>
            <a:r>
              <a:rPr dirty="0" sz="1000" spc="-1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depth</a:t>
            </a:r>
            <a:r>
              <a:rPr dirty="0" sz="1000" spc="-5">
                <a:latin typeface="Arial"/>
                <a:cs typeface="Arial"/>
              </a:rPr>
              <a:t> </a:t>
            </a:r>
            <a:r>
              <a:rPr dirty="0" sz="1000" spc="-50">
                <a:latin typeface="Arial"/>
                <a:cs typeface="Arial"/>
              </a:rPr>
              <a:t>8 </a:t>
            </a:r>
            <a:r>
              <a:rPr dirty="0" sz="1000">
                <a:latin typeface="Arial"/>
                <a:cs typeface="Arial"/>
              </a:rPr>
              <a:t>(eight</a:t>
            </a:r>
            <a:r>
              <a:rPr dirty="0" sz="1000" spc="-1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moves).</a:t>
            </a:r>
            <a:r>
              <a:rPr dirty="0" sz="1000" spc="-2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The</a:t>
            </a:r>
            <a:r>
              <a:rPr dirty="0" sz="1000" spc="-2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first</a:t>
            </a:r>
            <a:r>
              <a:rPr dirty="0" sz="1000" spc="-2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five</a:t>
            </a:r>
            <a:r>
              <a:rPr dirty="0" sz="1000" spc="-1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states</a:t>
            </a:r>
            <a:r>
              <a:rPr dirty="0" sz="1000" spc="-1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removed</a:t>
            </a:r>
            <a:r>
              <a:rPr dirty="0" sz="1000" spc="-2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from</a:t>
            </a:r>
            <a:r>
              <a:rPr dirty="0" sz="1000" spc="-2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the</a:t>
            </a:r>
            <a:r>
              <a:rPr dirty="0" sz="1000" spc="-2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BFS</a:t>
            </a:r>
            <a:r>
              <a:rPr dirty="0" sz="1000" spc="-2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queue</a:t>
            </a:r>
            <a:r>
              <a:rPr dirty="0" sz="1000" spc="-1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are</a:t>
            </a:r>
            <a:r>
              <a:rPr dirty="0" sz="1000" spc="-1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listed</a:t>
            </a:r>
            <a:r>
              <a:rPr dirty="0" sz="1000" spc="-2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below.</a:t>
            </a:r>
            <a:r>
              <a:rPr dirty="0" sz="1000" spc="-15">
                <a:latin typeface="Arial"/>
                <a:cs typeface="Arial"/>
              </a:rPr>
              <a:t> </a:t>
            </a:r>
            <a:r>
              <a:rPr dirty="0" sz="1000" spc="-10">
                <a:latin typeface="Arial"/>
                <a:cs typeface="Arial"/>
              </a:rPr>
              <a:t>Queue </a:t>
            </a:r>
            <a:r>
              <a:rPr dirty="0" sz="1000">
                <a:latin typeface="Arial"/>
                <a:cs typeface="Arial"/>
              </a:rPr>
              <a:t>contents</a:t>
            </a:r>
            <a:r>
              <a:rPr dirty="0" sz="1000" spc="-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are</a:t>
            </a:r>
            <a:r>
              <a:rPr dirty="0" sz="1000" spc="-2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abbreviated</a:t>
            </a:r>
            <a:r>
              <a:rPr dirty="0" sz="1000" spc="-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to</a:t>
            </a:r>
            <a:r>
              <a:rPr dirty="0" sz="1000" spc="-1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avoid</a:t>
            </a:r>
            <a:r>
              <a:rPr dirty="0" sz="1000" spc="-1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listing</a:t>
            </a:r>
            <a:r>
              <a:rPr dirty="0" sz="1000" spc="-1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hundreds</a:t>
            </a:r>
            <a:r>
              <a:rPr dirty="0" sz="1000" spc="-1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of</a:t>
            </a:r>
            <a:r>
              <a:rPr dirty="0" sz="1000" spc="-1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states;</a:t>
            </a:r>
            <a:r>
              <a:rPr dirty="0" sz="1000" spc="-2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BFS</a:t>
            </a:r>
            <a:r>
              <a:rPr dirty="0" sz="1000" spc="-2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stores</a:t>
            </a:r>
            <a:r>
              <a:rPr dirty="0" sz="1000" spc="-1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states</a:t>
            </a:r>
            <a:r>
              <a:rPr dirty="0" sz="1000" spc="-1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in</a:t>
            </a:r>
            <a:r>
              <a:rPr dirty="0" sz="1000" spc="-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FIFO</a:t>
            </a:r>
            <a:r>
              <a:rPr dirty="0" sz="1000" spc="-10">
                <a:latin typeface="Arial"/>
                <a:cs typeface="Arial"/>
              </a:rPr>
              <a:t> order.</a:t>
            </a:r>
            <a:endParaRPr sz="1000">
              <a:latin typeface="Arial"/>
              <a:cs typeface="Arial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1071676" y="8444230"/>
          <a:ext cx="5570220" cy="8940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29435"/>
                <a:gridCol w="1829435"/>
                <a:gridCol w="1829435"/>
              </a:tblGrid>
              <a:tr h="298450">
                <a:tc>
                  <a:txBody>
                    <a:bodyPr/>
                    <a:lstStyle/>
                    <a:p>
                      <a:pPr marL="68580">
                        <a:lnSpc>
                          <a:spcPts val="1160"/>
                        </a:lnSpc>
                      </a:pPr>
                      <a:r>
                        <a:rPr dirty="0" sz="1000" spc="-10">
                          <a:latin typeface="Arial"/>
                          <a:cs typeface="Arial"/>
                        </a:rPr>
                        <a:t>Iteration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160"/>
                        </a:lnSpc>
                      </a:pPr>
                      <a:r>
                        <a:rPr dirty="0" sz="1000">
                          <a:latin typeface="Arial"/>
                          <a:cs typeface="Arial"/>
                        </a:rPr>
                        <a:t>Current</a:t>
                      </a:r>
                      <a:r>
                        <a:rPr dirty="0" sz="1000" spc="-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>
                          <a:latin typeface="Arial"/>
                          <a:cs typeface="Arial"/>
                        </a:rPr>
                        <a:t>state</a:t>
                      </a:r>
                      <a:r>
                        <a:rPr dirty="0" sz="1000" spc="-2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 spc="-10">
                          <a:latin typeface="Arial"/>
                          <a:cs typeface="Arial"/>
                        </a:rPr>
                        <a:t>expanded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 marR="469900">
                        <a:lnSpc>
                          <a:spcPts val="1150"/>
                        </a:lnSpc>
                      </a:pPr>
                      <a:r>
                        <a:rPr dirty="0" sz="1000">
                          <a:latin typeface="Arial"/>
                          <a:cs typeface="Arial"/>
                        </a:rPr>
                        <a:t>Queue</a:t>
                      </a:r>
                      <a:r>
                        <a:rPr dirty="0" sz="1000" spc="-2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>
                          <a:latin typeface="Arial"/>
                          <a:cs typeface="Arial"/>
                        </a:rPr>
                        <a:t>after</a:t>
                      </a:r>
                      <a:r>
                        <a:rPr dirty="0" sz="1000" spc="-10">
                          <a:latin typeface="Arial"/>
                          <a:cs typeface="Arial"/>
                        </a:rPr>
                        <a:t> expansion (summary)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43230">
                <a:tc>
                  <a:txBody>
                    <a:bodyPr/>
                    <a:lstStyle/>
                    <a:p>
                      <a:pPr marL="68580">
                        <a:lnSpc>
                          <a:spcPts val="1160"/>
                        </a:lnSpc>
                      </a:pPr>
                      <a:r>
                        <a:rPr dirty="0" sz="1000" spc="-50">
                          <a:latin typeface="Arial"/>
                          <a:cs typeface="Arial"/>
                        </a:rPr>
                        <a:t>1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160"/>
                        </a:lnSpc>
                      </a:pPr>
                      <a:r>
                        <a:rPr dirty="0" sz="1000">
                          <a:latin typeface="Arial"/>
                          <a:cs typeface="Arial"/>
                        </a:rPr>
                        <a:t>1</a:t>
                      </a:r>
                      <a:r>
                        <a:rPr dirty="0" sz="1000" spc="-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>
                          <a:latin typeface="Arial"/>
                          <a:cs typeface="Arial"/>
                        </a:rPr>
                        <a:t>3</a:t>
                      </a:r>
                      <a:r>
                        <a:rPr dirty="0" sz="1000" spc="-1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>
                          <a:latin typeface="Arial"/>
                          <a:cs typeface="Arial"/>
                        </a:rPr>
                        <a:t>6</a:t>
                      </a:r>
                      <a:r>
                        <a:rPr dirty="0" sz="1000" spc="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>
                          <a:latin typeface="Arial"/>
                          <a:cs typeface="Arial"/>
                        </a:rPr>
                        <a:t>/</a:t>
                      </a:r>
                      <a:r>
                        <a:rPr dirty="0" sz="1000" spc="-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>
                          <a:latin typeface="Arial"/>
                          <a:cs typeface="Arial"/>
                        </a:rPr>
                        <a:t>5 0</a:t>
                      </a:r>
                      <a:r>
                        <a:rPr dirty="0" sz="1000" spc="-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>
                          <a:latin typeface="Arial"/>
                          <a:cs typeface="Arial"/>
                        </a:rPr>
                        <a:t>2</a:t>
                      </a:r>
                      <a:r>
                        <a:rPr dirty="0" sz="1000" spc="-1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>
                          <a:latin typeface="Arial"/>
                          <a:cs typeface="Arial"/>
                        </a:rPr>
                        <a:t>/</a:t>
                      </a:r>
                      <a:r>
                        <a:rPr dirty="0" sz="1000" spc="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>
                          <a:latin typeface="Arial"/>
                          <a:cs typeface="Arial"/>
                        </a:rPr>
                        <a:t>4</a:t>
                      </a:r>
                      <a:r>
                        <a:rPr dirty="0" sz="1000" spc="-1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>
                          <a:latin typeface="Arial"/>
                          <a:cs typeface="Arial"/>
                        </a:rPr>
                        <a:t>7</a:t>
                      </a:r>
                      <a:r>
                        <a:rPr dirty="0" sz="1000" spc="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 spc="-50">
                          <a:latin typeface="Arial"/>
                          <a:cs typeface="Arial"/>
                        </a:rPr>
                        <a:t>8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 marR="209550">
                        <a:lnSpc>
                          <a:spcPct val="95500"/>
                        </a:lnSpc>
                      </a:pPr>
                      <a:r>
                        <a:rPr dirty="0" sz="1000">
                          <a:latin typeface="Arial"/>
                          <a:cs typeface="Arial"/>
                        </a:rPr>
                        <a:t>New</a:t>
                      </a:r>
                      <a:r>
                        <a:rPr dirty="0" sz="1000" spc="-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>
                          <a:latin typeface="Arial"/>
                          <a:cs typeface="Arial"/>
                        </a:rPr>
                        <a:t>states</a:t>
                      </a:r>
                      <a:r>
                        <a:rPr dirty="0" sz="1000" spc="-1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>
                          <a:latin typeface="Arial"/>
                          <a:cs typeface="Arial"/>
                        </a:rPr>
                        <a:t>from</a:t>
                      </a:r>
                      <a:r>
                        <a:rPr dirty="0" sz="1000" spc="-10">
                          <a:latin typeface="Arial"/>
                          <a:cs typeface="Arial"/>
                        </a:rPr>
                        <a:t> moving </a:t>
                      </a:r>
                      <a:r>
                        <a:rPr dirty="0" sz="1000">
                          <a:latin typeface="Arial"/>
                          <a:cs typeface="Arial"/>
                        </a:rPr>
                        <a:t>blank</a:t>
                      </a:r>
                      <a:r>
                        <a:rPr dirty="0" sz="1000" spc="-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>
                          <a:latin typeface="Arial"/>
                          <a:cs typeface="Arial"/>
                        </a:rPr>
                        <a:t>Up,</a:t>
                      </a:r>
                      <a:r>
                        <a:rPr dirty="0" sz="1000" spc="-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>
                          <a:latin typeface="Arial"/>
                          <a:cs typeface="Arial"/>
                        </a:rPr>
                        <a:t>Down, Left,</a:t>
                      </a:r>
                      <a:r>
                        <a:rPr dirty="0" sz="1000" spc="-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 spc="-20">
                          <a:latin typeface="Arial"/>
                          <a:cs typeface="Arial"/>
                        </a:rPr>
                        <a:t>Right </a:t>
                      </a:r>
                      <a:r>
                        <a:rPr dirty="0" sz="1000">
                          <a:latin typeface="Arial"/>
                          <a:cs typeface="Arial"/>
                        </a:rPr>
                        <a:t>(valid</a:t>
                      </a:r>
                      <a:r>
                        <a:rPr dirty="0" sz="1000" spc="-3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>
                          <a:latin typeface="Arial"/>
                          <a:cs typeface="Arial"/>
                        </a:rPr>
                        <a:t>moves</a:t>
                      </a:r>
                      <a:r>
                        <a:rPr dirty="0" sz="1000" spc="-3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 spc="-20">
                          <a:latin typeface="Arial"/>
                          <a:cs typeface="Arial"/>
                        </a:rPr>
                        <a:t>only)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marL="68580">
                        <a:lnSpc>
                          <a:spcPts val="1100"/>
                        </a:lnSpc>
                      </a:pPr>
                      <a:r>
                        <a:rPr dirty="0" sz="1000" spc="-50">
                          <a:latin typeface="Arial"/>
                          <a:cs typeface="Arial"/>
                        </a:rPr>
                        <a:t>2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100"/>
                        </a:lnSpc>
                      </a:pPr>
                      <a:r>
                        <a:rPr dirty="0" sz="1000">
                          <a:latin typeface="Arial"/>
                          <a:cs typeface="Arial"/>
                        </a:rPr>
                        <a:t>1</a:t>
                      </a:r>
                      <a:r>
                        <a:rPr dirty="0" sz="1000" spc="-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>
                          <a:latin typeface="Arial"/>
                          <a:cs typeface="Arial"/>
                        </a:rPr>
                        <a:t>3</a:t>
                      </a:r>
                      <a:r>
                        <a:rPr dirty="0" sz="1000" spc="-1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>
                          <a:latin typeface="Arial"/>
                          <a:cs typeface="Arial"/>
                        </a:rPr>
                        <a:t>6</a:t>
                      </a:r>
                      <a:r>
                        <a:rPr dirty="0" sz="1000" spc="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>
                          <a:latin typeface="Arial"/>
                          <a:cs typeface="Arial"/>
                        </a:rPr>
                        <a:t>/</a:t>
                      </a:r>
                      <a:r>
                        <a:rPr dirty="0" sz="1000" spc="-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>
                          <a:latin typeface="Arial"/>
                          <a:cs typeface="Arial"/>
                        </a:rPr>
                        <a:t>5 2</a:t>
                      </a:r>
                      <a:r>
                        <a:rPr dirty="0" sz="1000" spc="-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>
                          <a:latin typeface="Arial"/>
                          <a:cs typeface="Arial"/>
                        </a:rPr>
                        <a:t>0</a:t>
                      </a:r>
                      <a:r>
                        <a:rPr dirty="0" sz="1000" spc="-1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>
                          <a:latin typeface="Arial"/>
                          <a:cs typeface="Arial"/>
                        </a:rPr>
                        <a:t>/</a:t>
                      </a:r>
                      <a:r>
                        <a:rPr dirty="0" sz="1000" spc="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>
                          <a:latin typeface="Arial"/>
                          <a:cs typeface="Arial"/>
                        </a:rPr>
                        <a:t>4</a:t>
                      </a:r>
                      <a:r>
                        <a:rPr dirty="0" sz="1000" spc="-1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>
                          <a:latin typeface="Arial"/>
                          <a:cs typeface="Arial"/>
                        </a:rPr>
                        <a:t>7</a:t>
                      </a:r>
                      <a:r>
                        <a:rPr dirty="0" sz="1000" spc="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 spc="-50">
                          <a:latin typeface="Arial"/>
                          <a:cs typeface="Arial"/>
                        </a:rPr>
                        <a:t>8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100"/>
                        </a:lnSpc>
                      </a:pPr>
                      <a:r>
                        <a:rPr dirty="0" sz="1000">
                          <a:latin typeface="Arial"/>
                          <a:cs typeface="Arial"/>
                        </a:rPr>
                        <a:t>Previously</a:t>
                      </a:r>
                      <a:r>
                        <a:rPr dirty="0" sz="1000" spc="-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>
                          <a:latin typeface="Arial"/>
                          <a:cs typeface="Arial"/>
                        </a:rPr>
                        <a:t>queued</a:t>
                      </a:r>
                      <a:r>
                        <a:rPr dirty="0" sz="1000" spc="-3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 spc="-10">
                          <a:latin typeface="Arial"/>
                          <a:cs typeface="Arial"/>
                        </a:rPr>
                        <a:t>states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1071676" y="594359"/>
          <a:ext cx="5570220" cy="14846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29435"/>
                <a:gridCol w="1829435"/>
                <a:gridCol w="1829435"/>
              </a:tblGrid>
              <a:tr h="2984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 marR="124460">
                        <a:lnSpc>
                          <a:spcPts val="1150"/>
                        </a:lnSpc>
                      </a:pPr>
                      <a:r>
                        <a:rPr dirty="0" sz="1000">
                          <a:latin typeface="Arial"/>
                          <a:cs typeface="Arial"/>
                        </a:rPr>
                        <a:t>remain</a:t>
                      </a:r>
                      <a:r>
                        <a:rPr dirty="0" sz="1000" spc="-3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>
                          <a:latin typeface="Arial"/>
                          <a:cs typeface="Arial"/>
                        </a:rPr>
                        <a:t>first;</a:t>
                      </a:r>
                      <a:r>
                        <a:rPr dirty="0" sz="1000" spc="-3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>
                          <a:latin typeface="Arial"/>
                          <a:cs typeface="Arial"/>
                        </a:rPr>
                        <a:t>newly</a:t>
                      </a:r>
                      <a:r>
                        <a:rPr dirty="0" sz="1000" spc="-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 spc="-10">
                          <a:latin typeface="Arial"/>
                          <a:cs typeface="Arial"/>
                        </a:rPr>
                        <a:t>generated </a:t>
                      </a:r>
                      <a:r>
                        <a:rPr dirty="0" sz="1000">
                          <a:latin typeface="Arial"/>
                          <a:cs typeface="Arial"/>
                        </a:rPr>
                        <a:t>states</a:t>
                      </a:r>
                      <a:r>
                        <a:rPr dirty="0" sz="1000" spc="-1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>
                          <a:latin typeface="Arial"/>
                          <a:cs typeface="Arial"/>
                        </a:rPr>
                        <a:t>are</a:t>
                      </a:r>
                      <a:r>
                        <a:rPr dirty="0" sz="1000" spc="-10">
                          <a:latin typeface="Arial"/>
                          <a:cs typeface="Arial"/>
                        </a:rPr>
                        <a:t> appended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43230">
                <a:tc>
                  <a:txBody>
                    <a:bodyPr/>
                    <a:lstStyle/>
                    <a:p>
                      <a:pPr marL="68580">
                        <a:lnSpc>
                          <a:spcPts val="1160"/>
                        </a:lnSpc>
                      </a:pPr>
                      <a:r>
                        <a:rPr dirty="0" sz="1000" spc="-50">
                          <a:latin typeface="Arial"/>
                          <a:cs typeface="Arial"/>
                        </a:rPr>
                        <a:t>3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160"/>
                        </a:lnSpc>
                      </a:pPr>
                      <a:r>
                        <a:rPr dirty="0" sz="1000">
                          <a:latin typeface="Arial"/>
                          <a:cs typeface="Arial"/>
                        </a:rPr>
                        <a:t>1</a:t>
                      </a:r>
                      <a:r>
                        <a:rPr dirty="0" sz="1000" spc="-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>
                          <a:latin typeface="Arial"/>
                          <a:cs typeface="Arial"/>
                        </a:rPr>
                        <a:t>3</a:t>
                      </a:r>
                      <a:r>
                        <a:rPr dirty="0" sz="1000" spc="-1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>
                          <a:latin typeface="Arial"/>
                          <a:cs typeface="Arial"/>
                        </a:rPr>
                        <a:t>0</a:t>
                      </a:r>
                      <a:r>
                        <a:rPr dirty="0" sz="1000" spc="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>
                          <a:latin typeface="Arial"/>
                          <a:cs typeface="Arial"/>
                        </a:rPr>
                        <a:t>/</a:t>
                      </a:r>
                      <a:r>
                        <a:rPr dirty="0" sz="1000" spc="-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>
                          <a:latin typeface="Arial"/>
                          <a:cs typeface="Arial"/>
                        </a:rPr>
                        <a:t>5 2</a:t>
                      </a:r>
                      <a:r>
                        <a:rPr dirty="0" sz="1000" spc="-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>
                          <a:latin typeface="Arial"/>
                          <a:cs typeface="Arial"/>
                        </a:rPr>
                        <a:t>6</a:t>
                      </a:r>
                      <a:r>
                        <a:rPr dirty="0" sz="1000" spc="-1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>
                          <a:latin typeface="Arial"/>
                          <a:cs typeface="Arial"/>
                        </a:rPr>
                        <a:t>/</a:t>
                      </a:r>
                      <a:r>
                        <a:rPr dirty="0" sz="1000" spc="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>
                          <a:latin typeface="Arial"/>
                          <a:cs typeface="Arial"/>
                        </a:rPr>
                        <a:t>4</a:t>
                      </a:r>
                      <a:r>
                        <a:rPr dirty="0" sz="1000" spc="-1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>
                          <a:latin typeface="Arial"/>
                          <a:cs typeface="Arial"/>
                        </a:rPr>
                        <a:t>7</a:t>
                      </a:r>
                      <a:r>
                        <a:rPr dirty="0" sz="1000" spc="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 spc="-50">
                          <a:latin typeface="Arial"/>
                          <a:cs typeface="Arial"/>
                        </a:rPr>
                        <a:t>8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just" marL="67945" marR="441325">
                        <a:lnSpc>
                          <a:spcPct val="95500"/>
                        </a:lnSpc>
                      </a:pPr>
                      <a:r>
                        <a:rPr dirty="0" sz="1000">
                          <a:latin typeface="Arial"/>
                          <a:cs typeface="Arial"/>
                        </a:rPr>
                        <a:t>FIFO</a:t>
                      </a:r>
                      <a:r>
                        <a:rPr dirty="0" sz="1000" spc="-1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>
                          <a:latin typeface="Arial"/>
                          <a:cs typeface="Arial"/>
                        </a:rPr>
                        <a:t>order</a:t>
                      </a:r>
                      <a:r>
                        <a:rPr dirty="0" sz="1000" spc="-1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 spc="-10">
                          <a:latin typeface="Arial"/>
                          <a:cs typeface="Arial"/>
                        </a:rPr>
                        <a:t>maintained; </a:t>
                      </a:r>
                      <a:r>
                        <a:rPr dirty="0" sz="1000">
                          <a:latin typeface="Arial"/>
                          <a:cs typeface="Arial"/>
                        </a:rPr>
                        <a:t>repeated</a:t>
                      </a:r>
                      <a:r>
                        <a:rPr dirty="0" sz="1000" spc="-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>
                          <a:latin typeface="Arial"/>
                          <a:cs typeface="Arial"/>
                        </a:rPr>
                        <a:t>states</a:t>
                      </a:r>
                      <a:r>
                        <a:rPr dirty="0" sz="1000" spc="-1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>
                          <a:latin typeface="Arial"/>
                          <a:cs typeface="Arial"/>
                        </a:rPr>
                        <a:t>are</a:t>
                      </a:r>
                      <a:r>
                        <a:rPr dirty="0" sz="1000" spc="-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 spc="-25">
                          <a:latin typeface="Arial"/>
                          <a:cs typeface="Arial"/>
                        </a:rPr>
                        <a:t>not </a:t>
                      </a:r>
                      <a:r>
                        <a:rPr dirty="0" sz="1000">
                          <a:latin typeface="Arial"/>
                          <a:cs typeface="Arial"/>
                        </a:rPr>
                        <a:t>added</a:t>
                      </a:r>
                      <a:r>
                        <a:rPr dirty="0" sz="1000" spc="-1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 spc="-10">
                          <a:latin typeface="Arial"/>
                          <a:cs typeface="Arial"/>
                        </a:rPr>
                        <a:t>again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marL="68580">
                        <a:lnSpc>
                          <a:spcPts val="1160"/>
                        </a:lnSpc>
                      </a:pPr>
                      <a:r>
                        <a:rPr dirty="0" sz="1000" spc="-50">
                          <a:latin typeface="Arial"/>
                          <a:cs typeface="Arial"/>
                        </a:rPr>
                        <a:t>4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160"/>
                        </a:lnSpc>
                      </a:pPr>
                      <a:r>
                        <a:rPr dirty="0" sz="1000">
                          <a:latin typeface="Arial"/>
                          <a:cs typeface="Arial"/>
                        </a:rPr>
                        <a:t>1</a:t>
                      </a:r>
                      <a:r>
                        <a:rPr dirty="0" sz="1000" spc="-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>
                          <a:latin typeface="Arial"/>
                          <a:cs typeface="Arial"/>
                        </a:rPr>
                        <a:t>0</a:t>
                      </a:r>
                      <a:r>
                        <a:rPr dirty="0" sz="1000" spc="-1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>
                          <a:latin typeface="Arial"/>
                          <a:cs typeface="Arial"/>
                        </a:rPr>
                        <a:t>3</a:t>
                      </a:r>
                      <a:r>
                        <a:rPr dirty="0" sz="1000" spc="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>
                          <a:latin typeface="Arial"/>
                          <a:cs typeface="Arial"/>
                        </a:rPr>
                        <a:t>/</a:t>
                      </a:r>
                      <a:r>
                        <a:rPr dirty="0" sz="1000" spc="-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>
                          <a:latin typeface="Arial"/>
                          <a:cs typeface="Arial"/>
                        </a:rPr>
                        <a:t>5 2</a:t>
                      </a:r>
                      <a:r>
                        <a:rPr dirty="0" sz="1000" spc="-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>
                          <a:latin typeface="Arial"/>
                          <a:cs typeface="Arial"/>
                        </a:rPr>
                        <a:t>6</a:t>
                      </a:r>
                      <a:r>
                        <a:rPr dirty="0" sz="1000" spc="-1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>
                          <a:latin typeface="Arial"/>
                          <a:cs typeface="Arial"/>
                        </a:rPr>
                        <a:t>/</a:t>
                      </a:r>
                      <a:r>
                        <a:rPr dirty="0" sz="1000" spc="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>
                          <a:latin typeface="Arial"/>
                          <a:cs typeface="Arial"/>
                        </a:rPr>
                        <a:t>4</a:t>
                      </a:r>
                      <a:r>
                        <a:rPr dirty="0" sz="1000" spc="-1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>
                          <a:latin typeface="Arial"/>
                          <a:cs typeface="Arial"/>
                        </a:rPr>
                        <a:t>7</a:t>
                      </a:r>
                      <a:r>
                        <a:rPr dirty="0" sz="1000" spc="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 spc="-50">
                          <a:latin typeface="Arial"/>
                          <a:cs typeface="Arial"/>
                        </a:rPr>
                        <a:t>8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 marR="103505">
                        <a:lnSpc>
                          <a:spcPts val="1150"/>
                        </a:lnSpc>
                      </a:pPr>
                      <a:r>
                        <a:rPr dirty="0" sz="1000">
                          <a:latin typeface="Arial"/>
                          <a:cs typeface="Arial"/>
                        </a:rPr>
                        <a:t>Unexpanded</a:t>
                      </a:r>
                      <a:r>
                        <a:rPr dirty="0" sz="1000" spc="-2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>
                          <a:latin typeface="Arial"/>
                          <a:cs typeface="Arial"/>
                        </a:rPr>
                        <a:t>states</a:t>
                      </a:r>
                      <a:r>
                        <a:rPr dirty="0" sz="1000" spc="-1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>
                          <a:latin typeface="Arial"/>
                          <a:cs typeface="Arial"/>
                        </a:rPr>
                        <a:t>remain</a:t>
                      </a:r>
                      <a:r>
                        <a:rPr dirty="0" sz="1000" spc="-1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 spc="-25">
                          <a:latin typeface="Arial"/>
                          <a:cs typeface="Arial"/>
                        </a:rPr>
                        <a:t>in </a:t>
                      </a:r>
                      <a:r>
                        <a:rPr dirty="0" sz="1000">
                          <a:latin typeface="Arial"/>
                          <a:cs typeface="Arial"/>
                        </a:rPr>
                        <a:t>front</a:t>
                      </a:r>
                      <a:r>
                        <a:rPr dirty="0" sz="1000" spc="-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>
                          <a:latin typeface="Arial"/>
                          <a:cs typeface="Arial"/>
                        </a:rPr>
                        <a:t>of</a:t>
                      </a:r>
                      <a:r>
                        <a:rPr dirty="0" sz="1000" spc="-1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>
                          <a:latin typeface="Arial"/>
                          <a:cs typeface="Arial"/>
                        </a:rPr>
                        <a:t>newly</a:t>
                      </a:r>
                      <a:r>
                        <a:rPr dirty="0" sz="1000" spc="-1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 spc="-10">
                          <a:latin typeface="Arial"/>
                          <a:cs typeface="Arial"/>
                        </a:rPr>
                        <a:t>generated states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98450">
                <a:tc>
                  <a:txBody>
                    <a:bodyPr/>
                    <a:lstStyle/>
                    <a:p>
                      <a:pPr marL="68580">
                        <a:lnSpc>
                          <a:spcPts val="1160"/>
                        </a:lnSpc>
                      </a:pPr>
                      <a:r>
                        <a:rPr dirty="0" sz="1000" spc="-50">
                          <a:latin typeface="Arial"/>
                          <a:cs typeface="Arial"/>
                        </a:rPr>
                        <a:t>5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160"/>
                        </a:lnSpc>
                      </a:pPr>
                      <a:r>
                        <a:rPr dirty="0" sz="1000">
                          <a:latin typeface="Arial"/>
                          <a:cs typeface="Arial"/>
                        </a:rPr>
                        <a:t>1</a:t>
                      </a:r>
                      <a:r>
                        <a:rPr dirty="0" sz="1000" spc="-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>
                          <a:latin typeface="Arial"/>
                          <a:cs typeface="Arial"/>
                        </a:rPr>
                        <a:t>2</a:t>
                      </a:r>
                      <a:r>
                        <a:rPr dirty="0" sz="1000" spc="-1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>
                          <a:latin typeface="Arial"/>
                          <a:cs typeface="Arial"/>
                        </a:rPr>
                        <a:t>3</a:t>
                      </a:r>
                      <a:r>
                        <a:rPr dirty="0" sz="1000" spc="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>
                          <a:latin typeface="Arial"/>
                          <a:cs typeface="Arial"/>
                        </a:rPr>
                        <a:t>/</a:t>
                      </a:r>
                      <a:r>
                        <a:rPr dirty="0" sz="1000" spc="-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>
                          <a:latin typeface="Arial"/>
                          <a:cs typeface="Arial"/>
                        </a:rPr>
                        <a:t>5 0</a:t>
                      </a:r>
                      <a:r>
                        <a:rPr dirty="0" sz="1000" spc="-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>
                          <a:latin typeface="Arial"/>
                          <a:cs typeface="Arial"/>
                        </a:rPr>
                        <a:t>6</a:t>
                      </a:r>
                      <a:r>
                        <a:rPr dirty="0" sz="1000" spc="-1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>
                          <a:latin typeface="Arial"/>
                          <a:cs typeface="Arial"/>
                        </a:rPr>
                        <a:t>/</a:t>
                      </a:r>
                      <a:r>
                        <a:rPr dirty="0" sz="1000" spc="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>
                          <a:latin typeface="Arial"/>
                          <a:cs typeface="Arial"/>
                        </a:rPr>
                        <a:t>4</a:t>
                      </a:r>
                      <a:r>
                        <a:rPr dirty="0" sz="1000" spc="-1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>
                          <a:latin typeface="Arial"/>
                          <a:cs typeface="Arial"/>
                        </a:rPr>
                        <a:t>7</a:t>
                      </a:r>
                      <a:r>
                        <a:rPr dirty="0" sz="1000" spc="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 spc="-50">
                          <a:latin typeface="Arial"/>
                          <a:cs typeface="Arial"/>
                        </a:rPr>
                        <a:t>8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 marR="136525">
                        <a:lnSpc>
                          <a:spcPts val="1150"/>
                        </a:lnSpc>
                      </a:pPr>
                      <a:r>
                        <a:rPr dirty="0" sz="1000">
                          <a:latin typeface="Arial"/>
                          <a:cs typeface="Arial"/>
                        </a:rPr>
                        <a:t>Successors</a:t>
                      </a:r>
                      <a:r>
                        <a:rPr dirty="0" sz="1000" spc="-1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>
                          <a:latin typeface="Arial"/>
                          <a:cs typeface="Arial"/>
                        </a:rPr>
                        <a:t>are</a:t>
                      </a:r>
                      <a:r>
                        <a:rPr dirty="0" sz="1000" spc="-2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>
                          <a:latin typeface="Arial"/>
                          <a:cs typeface="Arial"/>
                        </a:rPr>
                        <a:t>appended</a:t>
                      </a:r>
                      <a:r>
                        <a:rPr dirty="0" sz="1000" spc="-1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 spc="-35">
                          <a:latin typeface="Arial"/>
                          <a:cs typeface="Arial"/>
                        </a:rPr>
                        <a:t>to </a:t>
                      </a:r>
                      <a:r>
                        <a:rPr dirty="0" sz="1000">
                          <a:latin typeface="Arial"/>
                          <a:cs typeface="Arial"/>
                        </a:rPr>
                        <a:t>the</a:t>
                      </a:r>
                      <a:r>
                        <a:rPr dirty="0" sz="1000" spc="-2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>
                          <a:latin typeface="Arial"/>
                          <a:cs typeface="Arial"/>
                        </a:rPr>
                        <a:t>rear</a:t>
                      </a:r>
                      <a:r>
                        <a:rPr dirty="0" sz="1000" spc="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>
                          <a:latin typeface="Arial"/>
                          <a:cs typeface="Arial"/>
                        </a:rPr>
                        <a:t>of</a:t>
                      </a:r>
                      <a:r>
                        <a:rPr dirty="0" sz="1000" spc="-1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>
                          <a:latin typeface="Arial"/>
                          <a:cs typeface="Arial"/>
                        </a:rPr>
                        <a:t>the</a:t>
                      </a:r>
                      <a:r>
                        <a:rPr dirty="0" sz="1000" spc="-1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 spc="-20">
                          <a:latin typeface="Arial"/>
                          <a:cs typeface="Arial"/>
                        </a:rPr>
                        <a:t>queue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1130604" y="2066289"/>
            <a:ext cx="5506720" cy="501967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52400" indent="-139700">
              <a:lnSpc>
                <a:spcPct val="100000"/>
              </a:lnSpc>
              <a:spcBef>
                <a:spcPts val="95"/>
              </a:spcBef>
              <a:buAutoNum type="arabicPeriod"/>
              <a:tabLst>
                <a:tab pos="152400" algn="l"/>
              </a:tabLst>
            </a:pPr>
            <a:r>
              <a:rPr dirty="0" sz="1000">
                <a:latin typeface="Arial"/>
                <a:cs typeface="Arial"/>
              </a:rPr>
              <a:t>Nodes</a:t>
            </a:r>
            <a:r>
              <a:rPr dirty="0" sz="1000" spc="-1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expanded</a:t>
            </a:r>
            <a:r>
              <a:rPr dirty="0" sz="1000" spc="-1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in</a:t>
            </a:r>
            <a:r>
              <a:rPr dirty="0" sz="1000" spc="-2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the</a:t>
            </a:r>
            <a:r>
              <a:rPr dirty="0" sz="1000" spc="-2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first</a:t>
            </a:r>
            <a:r>
              <a:rPr dirty="0" sz="1000" spc="-2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five</a:t>
            </a:r>
            <a:r>
              <a:rPr dirty="0" sz="1000" spc="-2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iterations</a:t>
            </a:r>
            <a:r>
              <a:rPr dirty="0" sz="1000" spc="-1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are</a:t>
            </a:r>
            <a:r>
              <a:rPr dirty="0" sz="1000" spc="-1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the</a:t>
            </a:r>
            <a:r>
              <a:rPr dirty="0" sz="1000" spc="-1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five</a:t>
            </a:r>
            <a:r>
              <a:rPr dirty="0" sz="1000" spc="-1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current</a:t>
            </a:r>
            <a:r>
              <a:rPr dirty="0" sz="1000" spc="-2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states</a:t>
            </a:r>
            <a:r>
              <a:rPr dirty="0" sz="1000" spc="-1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shown</a:t>
            </a:r>
            <a:r>
              <a:rPr dirty="0" sz="1000" spc="-1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in</a:t>
            </a:r>
            <a:r>
              <a:rPr dirty="0" sz="1000" spc="-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the</a:t>
            </a:r>
            <a:r>
              <a:rPr dirty="0" sz="1000" spc="-20">
                <a:latin typeface="Arial"/>
                <a:cs typeface="Arial"/>
              </a:rPr>
              <a:t> </a:t>
            </a:r>
            <a:r>
              <a:rPr dirty="0" sz="1000" spc="-10">
                <a:latin typeface="Arial"/>
                <a:cs typeface="Arial"/>
              </a:rPr>
              <a:t>table.</a:t>
            </a:r>
            <a:endParaRPr sz="1000">
              <a:latin typeface="Arial"/>
              <a:cs typeface="Arial"/>
            </a:endParaRPr>
          </a:p>
          <a:p>
            <a:pPr algn="just" marL="12700" marR="28575" indent="139700">
              <a:lnSpc>
                <a:spcPct val="110000"/>
              </a:lnSpc>
              <a:spcBef>
                <a:spcPts val="1010"/>
              </a:spcBef>
              <a:buAutoNum type="arabicPeriod"/>
              <a:tabLst>
                <a:tab pos="152400" algn="l"/>
              </a:tabLst>
            </a:pPr>
            <a:r>
              <a:rPr dirty="0" sz="1000">
                <a:latin typeface="Arial"/>
                <a:cs typeface="Arial"/>
              </a:rPr>
              <a:t>The</a:t>
            </a:r>
            <a:r>
              <a:rPr dirty="0" sz="1000" spc="-1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goal</a:t>
            </a:r>
            <a:r>
              <a:rPr dirty="0" sz="1000" spc="-1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is</a:t>
            </a:r>
            <a:r>
              <a:rPr dirty="0" sz="1000" spc="-1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first</a:t>
            </a:r>
            <a:r>
              <a:rPr dirty="0" sz="1000" spc="-2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reached</a:t>
            </a:r>
            <a:r>
              <a:rPr dirty="0" sz="1000" spc="-1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after</a:t>
            </a:r>
            <a:r>
              <a:rPr dirty="0" sz="1000" spc="-2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expanding</a:t>
            </a:r>
            <a:r>
              <a:rPr dirty="0" sz="1000" spc="-1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311</a:t>
            </a:r>
            <a:r>
              <a:rPr dirty="0" sz="1000" spc="-2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states</a:t>
            </a:r>
            <a:r>
              <a:rPr dirty="0" sz="1000" spc="-1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in</a:t>
            </a:r>
            <a:r>
              <a:rPr dirty="0" sz="1000" spc="-1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this</a:t>
            </a:r>
            <a:r>
              <a:rPr dirty="0" sz="1000" spc="-1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left/up/down/right</a:t>
            </a:r>
            <a:r>
              <a:rPr dirty="0" sz="1000" spc="-1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neighbor</a:t>
            </a:r>
            <a:r>
              <a:rPr dirty="0" sz="1000" spc="-5">
                <a:latin typeface="Arial"/>
                <a:cs typeface="Arial"/>
              </a:rPr>
              <a:t> </a:t>
            </a:r>
            <a:r>
              <a:rPr dirty="0" sz="1000" spc="-10">
                <a:latin typeface="Arial"/>
                <a:cs typeface="Arial"/>
              </a:rPr>
              <a:t>ordering; </a:t>
            </a:r>
            <a:r>
              <a:rPr dirty="0" sz="1000">
                <a:latin typeface="Arial"/>
                <a:cs typeface="Arial"/>
              </a:rPr>
              <a:t>500</a:t>
            </a:r>
            <a:r>
              <a:rPr dirty="0" sz="1000" spc="-1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distinct</a:t>
            </a:r>
            <a:r>
              <a:rPr dirty="0" sz="1000" spc="-2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states are</a:t>
            </a:r>
            <a:r>
              <a:rPr dirty="0" sz="1000" spc="-2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discovered</a:t>
            </a:r>
            <a:r>
              <a:rPr dirty="0" sz="1000" spc="-2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(including</a:t>
            </a:r>
            <a:r>
              <a:rPr dirty="0" sz="1000" spc="-1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the</a:t>
            </a:r>
            <a:r>
              <a:rPr dirty="0" sz="1000" spc="-2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initial</a:t>
            </a:r>
            <a:r>
              <a:rPr dirty="0" sz="1000" spc="-1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state)</a:t>
            </a:r>
            <a:r>
              <a:rPr dirty="0" sz="1000" spc="-2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before</a:t>
            </a:r>
            <a:r>
              <a:rPr dirty="0" sz="1000" spc="-1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the</a:t>
            </a:r>
            <a:r>
              <a:rPr dirty="0" sz="1000" spc="-2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goal</a:t>
            </a:r>
            <a:r>
              <a:rPr dirty="0" sz="1000" spc="-2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is</a:t>
            </a:r>
            <a:r>
              <a:rPr dirty="0" sz="1000" spc="-1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dequeued.</a:t>
            </a:r>
            <a:r>
              <a:rPr dirty="0" sz="1000" spc="-10">
                <a:latin typeface="Arial"/>
                <a:cs typeface="Arial"/>
              </a:rPr>
              <a:t> Counts </a:t>
            </a:r>
            <a:r>
              <a:rPr dirty="0" sz="1000">
                <a:latin typeface="Arial"/>
                <a:cs typeface="Arial"/>
              </a:rPr>
              <a:t>can</a:t>
            </a:r>
            <a:r>
              <a:rPr dirty="0" sz="1000" spc="-2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vary</a:t>
            </a:r>
            <a:r>
              <a:rPr dirty="0" sz="1000" spc="-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if</a:t>
            </a:r>
            <a:r>
              <a:rPr dirty="0" sz="1000" spc="-2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the</a:t>
            </a:r>
            <a:r>
              <a:rPr dirty="0" sz="1000" spc="-1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order</a:t>
            </a:r>
            <a:r>
              <a:rPr dirty="0" sz="1000" spc="-2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of</a:t>
            </a:r>
            <a:r>
              <a:rPr dirty="0" sz="1000" spc="-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legal</a:t>
            </a:r>
            <a:r>
              <a:rPr dirty="0" sz="1000" spc="-2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moves is</a:t>
            </a:r>
            <a:r>
              <a:rPr dirty="0" sz="1000" spc="-15">
                <a:latin typeface="Arial"/>
                <a:cs typeface="Arial"/>
              </a:rPr>
              <a:t> </a:t>
            </a:r>
            <a:r>
              <a:rPr dirty="0" sz="1000" spc="-10">
                <a:latin typeface="Arial"/>
                <a:cs typeface="Arial"/>
              </a:rPr>
              <a:t>changed.</a:t>
            </a:r>
            <a:endParaRPr sz="1000">
              <a:latin typeface="Arial"/>
              <a:cs typeface="Arial"/>
            </a:endParaRPr>
          </a:p>
          <a:p>
            <a:pPr algn="just" marL="12700" marR="63500" indent="139700">
              <a:lnSpc>
                <a:spcPct val="110000"/>
              </a:lnSpc>
              <a:spcBef>
                <a:spcPts val="1010"/>
              </a:spcBef>
              <a:buAutoNum type="arabicPeriod"/>
              <a:tabLst>
                <a:tab pos="152400" algn="l"/>
              </a:tabLst>
            </a:pPr>
            <a:r>
              <a:rPr dirty="0" sz="1000">
                <a:latin typeface="Arial"/>
                <a:cs typeface="Arial"/>
              </a:rPr>
              <a:t>One</a:t>
            </a:r>
            <a:r>
              <a:rPr dirty="0" sz="1000" spc="-2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shortest</a:t>
            </a:r>
            <a:r>
              <a:rPr dirty="0" sz="1000" spc="-2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solution</a:t>
            </a:r>
            <a:r>
              <a:rPr dirty="0" sz="1000" spc="-1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path</a:t>
            </a:r>
            <a:r>
              <a:rPr dirty="0" sz="1000" spc="-2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(blank</a:t>
            </a:r>
            <a:r>
              <a:rPr dirty="0" sz="1000" spc="-1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movement):</a:t>
            </a:r>
            <a:r>
              <a:rPr dirty="0" sz="1000" spc="-1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Right</a:t>
            </a:r>
            <a:r>
              <a:rPr dirty="0" sz="1000" spc="-1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→</a:t>
            </a:r>
            <a:r>
              <a:rPr dirty="0" sz="1000" spc="-2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Up</a:t>
            </a:r>
            <a:r>
              <a:rPr dirty="0" sz="1000" spc="-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→</a:t>
            </a:r>
            <a:r>
              <a:rPr dirty="0" sz="1000" spc="-2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Left</a:t>
            </a:r>
            <a:r>
              <a:rPr dirty="0" sz="1000" spc="-2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→</a:t>
            </a:r>
            <a:r>
              <a:rPr dirty="0" sz="1000" spc="-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Down</a:t>
            </a:r>
            <a:r>
              <a:rPr dirty="0" sz="1000" spc="-1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→</a:t>
            </a:r>
            <a:r>
              <a:rPr dirty="0" sz="1000" spc="-2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Left</a:t>
            </a:r>
            <a:r>
              <a:rPr dirty="0" sz="1000" spc="-1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→</a:t>
            </a:r>
            <a:r>
              <a:rPr dirty="0" sz="1000" spc="-2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Down</a:t>
            </a:r>
            <a:r>
              <a:rPr dirty="0" sz="1000" spc="-10">
                <a:latin typeface="Arial"/>
                <a:cs typeface="Arial"/>
              </a:rPr>
              <a:t> </a:t>
            </a:r>
            <a:r>
              <a:rPr dirty="0" sz="1000" spc="-50">
                <a:latin typeface="Arial"/>
                <a:cs typeface="Arial"/>
              </a:rPr>
              <a:t>→ </a:t>
            </a:r>
            <a:r>
              <a:rPr dirty="0" sz="1000">
                <a:latin typeface="Arial"/>
                <a:cs typeface="Arial"/>
              </a:rPr>
              <a:t>Right</a:t>
            </a:r>
            <a:r>
              <a:rPr dirty="0" sz="1000" spc="-2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→</a:t>
            </a:r>
            <a:r>
              <a:rPr dirty="0" sz="1000" spc="-20">
                <a:latin typeface="Arial"/>
                <a:cs typeface="Arial"/>
              </a:rPr>
              <a:t> </a:t>
            </a:r>
            <a:r>
              <a:rPr dirty="0" sz="1000" spc="-10">
                <a:latin typeface="Arial"/>
                <a:cs typeface="Arial"/>
              </a:rPr>
              <a:t>Right.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115"/>
              </a:spcBef>
            </a:pPr>
            <a:r>
              <a:rPr dirty="0" sz="1000">
                <a:latin typeface="Arial"/>
                <a:cs typeface="Arial"/>
              </a:rPr>
              <a:t>Initial:</a:t>
            </a:r>
            <a:r>
              <a:rPr dirty="0" sz="1000" spc="-1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1</a:t>
            </a:r>
            <a:r>
              <a:rPr dirty="0" sz="1000" spc="-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3</a:t>
            </a:r>
            <a:r>
              <a:rPr dirty="0" sz="1000" spc="-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6</a:t>
            </a:r>
            <a:r>
              <a:rPr dirty="0" sz="1000" spc="-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/</a:t>
            </a:r>
            <a:r>
              <a:rPr dirty="0" sz="1000" spc="-1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5 0</a:t>
            </a:r>
            <a:r>
              <a:rPr dirty="0" sz="1000" spc="-1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2</a:t>
            </a:r>
            <a:r>
              <a:rPr dirty="0" sz="1000" spc="-1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/ 4</a:t>
            </a:r>
            <a:r>
              <a:rPr dirty="0" sz="1000" spc="-1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7</a:t>
            </a:r>
            <a:r>
              <a:rPr dirty="0" sz="1000" spc="5">
                <a:latin typeface="Arial"/>
                <a:cs typeface="Arial"/>
              </a:rPr>
              <a:t> </a:t>
            </a:r>
            <a:r>
              <a:rPr dirty="0" sz="1000" spc="-50">
                <a:latin typeface="Arial"/>
                <a:cs typeface="Arial"/>
              </a:rPr>
              <a:t>8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130"/>
              </a:spcBef>
            </a:pPr>
            <a:r>
              <a:rPr dirty="0" sz="1000">
                <a:latin typeface="Arial"/>
                <a:cs typeface="Arial"/>
              </a:rPr>
              <a:t>Step 1:</a:t>
            </a:r>
            <a:r>
              <a:rPr dirty="0" sz="1000" spc="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1</a:t>
            </a:r>
            <a:r>
              <a:rPr dirty="0" sz="1000" spc="-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3 6</a:t>
            </a:r>
            <a:r>
              <a:rPr dirty="0" sz="1000" spc="-1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/</a:t>
            </a:r>
            <a:r>
              <a:rPr dirty="0" sz="1000" spc="-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5</a:t>
            </a:r>
            <a:r>
              <a:rPr dirty="0" sz="1000" spc="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2</a:t>
            </a:r>
            <a:r>
              <a:rPr dirty="0" sz="1000" spc="-1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0 /</a:t>
            </a:r>
            <a:r>
              <a:rPr dirty="0" sz="1000" spc="-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4 7</a:t>
            </a:r>
            <a:r>
              <a:rPr dirty="0" sz="1000" spc="-5">
                <a:latin typeface="Arial"/>
                <a:cs typeface="Arial"/>
              </a:rPr>
              <a:t> </a:t>
            </a:r>
            <a:r>
              <a:rPr dirty="0" sz="1000" spc="-50">
                <a:latin typeface="Arial"/>
                <a:cs typeface="Arial"/>
              </a:rPr>
              <a:t>8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115"/>
              </a:spcBef>
            </a:pPr>
            <a:r>
              <a:rPr dirty="0" sz="1000">
                <a:latin typeface="Arial"/>
                <a:cs typeface="Arial"/>
              </a:rPr>
              <a:t>Step 2:</a:t>
            </a:r>
            <a:r>
              <a:rPr dirty="0" sz="1000" spc="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1</a:t>
            </a:r>
            <a:r>
              <a:rPr dirty="0" sz="1000" spc="-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3 0</a:t>
            </a:r>
            <a:r>
              <a:rPr dirty="0" sz="1000" spc="-1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/</a:t>
            </a:r>
            <a:r>
              <a:rPr dirty="0" sz="1000" spc="-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5</a:t>
            </a:r>
            <a:r>
              <a:rPr dirty="0" sz="1000" spc="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2</a:t>
            </a:r>
            <a:r>
              <a:rPr dirty="0" sz="1000" spc="-1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6 /</a:t>
            </a:r>
            <a:r>
              <a:rPr dirty="0" sz="1000" spc="-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4 7</a:t>
            </a:r>
            <a:r>
              <a:rPr dirty="0" sz="1000" spc="-5">
                <a:latin typeface="Arial"/>
                <a:cs typeface="Arial"/>
              </a:rPr>
              <a:t> </a:t>
            </a:r>
            <a:r>
              <a:rPr dirty="0" sz="1000" spc="-50">
                <a:latin typeface="Arial"/>
                <a:cs typeface="Arial"/>
              </a:rPr>
              <a:t>8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125"/>
              </a:spcBef>
            </a:pPr>
            <a:r>
              <a:rPr dirty="0" sz="1000">
                <a:latin typeface="Arial"/>
                <a:cs typeface="Arial"/>
              </a:rPr>
              <a:t>Step 3:</a:t>
            </a:r>
            <a:r>
              <a:rPr dirty="0" sz="1000" spc="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1</a:t>
            </a:r>
            <a:r>
              <a:rPr dirty="0" sz="1000" spc="-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0 3</a:t>
            </a:r>
            <a:r>
              <a:rPr dirty="0" sz="1000" spc="-1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/</a:t>
            </a:r>
            <a:r>
              <a:rPr dirty="0" sz="1000" spc="-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5</a:t>
            </a:r>
            <a:r>
              <a:rPr dirty="0" sz="1000" spc="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2</a:t>
            </a:r>
            <a:r>
              <a:rPr dirty="0" sz="1000" spc="-1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6 /</a:t>
            </a:r>
            <a:r>
              <a:rPr dirty="0" sz="1000" spc="-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4 7</a:t>
            </a:r>
            <a:r>
              <a:rPr dirty="0" sz="1000" spc="-5">
                <a:latin typeface="Arial"/>
                <a:cs typeface="Arial"/>
              </a:rPr>
              <a:t> </a:t>
            </a:r>
            <a:r>
              <a:rPr dirty="0" sz="1000" spc="-50">
                <a:latin typeface="Arial"/>
                <a:cs typeface="Arial"/>
              </a:rPr>
              <a:t>8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120"/>
              </a:spcBef>
            </a:pPr>
            <a:r>
              <a:rPr dirty="0" sz="1000">
                <a:latin typeface="Arial"/>
                <a:cs typeface="Arial"/>
              </a:rPr>
              <a:t>Step 4:</a:t>
            </a:r>
            <a:r>
              <a:rPr dirty="0" sz="1000" spc="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1</a:t>
            </a:r>
            <a:r>
              <a:rPr dirty="0" sz="1000" spc="-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2 3</a:t>
            </a:r>
            <a:r>
              <a:rPr dirty="0" sz="1000" spc="-1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/</a:t>
            </a:r>
            <a:r>
              <a:rPr dirty="0" sz="1000" spc="-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5</a:t>
            </a:r>
            <a:r>
              <a:rPr dirty="0" sz="1000" spc="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0</a:t>
            </a:r>
            <a:r>
              <a:rPr dirty="0" sz="1000" spc="-1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6 /</a:t>
            </a:r>
            <a:r>
              <a:rPr dirty="0" sz="1000" spc="-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4 7</a:t>
            </a:r>
            <a:r>
              <a:rPr dirty="0" sz="1000" spc="-5">
                <a:latin typeface="Arial"/>
                <a:cs typeface="Arial"/>
              </a:rPr>
              <a:t> </a:t>
            </a:r>
            <a:r>
              <a:rPr dirty="0" sz="1000" spc="-50">
                <a:latin typeface="Arial"/>
                <a:cs typeface="Arial"/>
              </a:rPr>
              <a:t>8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125"/>
              </a:spcBef>
            </a:pPr>
            <a:r>
              <a:rPr dirty="0" sz="1000">
                <a:latin typeface="Arial"/>
                <a:cs typeface="Arial"/>
              </a:rPr>
              <a:t>Step 5:</a:t>
            </a:r>
            <a:r>
              <a:rPr dirty="0" sz="1000" spc="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1</a:t>
            </a:r>
            <a:r>
              <a:rPr dirty="0" sz="1000" spc="-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2 3</a:t>
            </a:r>
            <a:r>
              <a:rPr dirty="0" sz="1000" spc="-1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/</a:t>
            </a:r>
            <a:r>
              <a:rPr dirty="0" sz="1000" spc="-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0</a:t>
            </a:r>
            <a:r>
              <a:rPr dirty="0" sz="1000" spc="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5</a:t>
            </a:r>
            <a:r>
              <a:rPr dirty="0" sz="1000" spc="-1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6 /</a:t>
            </a:r>
            <a:r>
              <a:rPr dirty="0" sz="1000" spc="-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4 7</a:t>
            </a:r>
            <a:r>
              <a:rPr dirty="0" sz="1000" spc="-5">
                <a:latin typeface="Arial"/>
                <a:cs typeface="Arial"/>
              </a:rPr>
              <a:t> </a:t>
            </a:r>
            <a:r>
              <a:rPr dirty="0" sz="1000" spc="-50">
                <a:latin typeface="Arial"/>
                <a:cs typeface="Arial"/>
              </a:rPr>
              <a:t>8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120"/>
              </a:spcBef>
            </a:pPr>
            <a:r>
              <a:rPr dirty="0" sz="1000">
                <a:latin typeface="Arial"/>
                <a:cs typeface="Arial"/>
              </a:rPr>
              <a:t>Step 6:</a:t>
            </a:r>
            <a:r>
              <a:rPr dirty="0" sz="1000" spc="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1</a:t>
            </a:r>
            <a:r>
              <a:rPr dirty="0" sz="1000" spc="-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2 3</a:t>
            </a:r>
            <a:r>
              <a:rPr dirty="0" sz="1000" spc="-1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/</a:t>
            </a:r>
            <a:r>
              <a:rPr dirty="0" sz="1000" spc="-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4</a:t>
            </a:r>
            <a:r>
              <a:rPr dirty="0" sz="1000" spc="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5</a:t>
            </a:r>
            <a:r>
              <a:rPr dirty="0" sz="1000" spc="-1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6 /</a:t>
            </a:r>
            <a:r>
              <a:rPr dirty="0" sz="1000" spc="-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0 7</a:t>
            </a:r>
            <a:r>
              <a:rPr dirty="0" sz="1000" spc="-5">
                <a:latin typeface="Arial"/>
                <a:cs typeface="Arial"/>
              </a:rPr>
              <a:t> </a:t>
            </a:r>
            <a:r>
              <a:rPr dirty="0" sz="1000" spc="-50">
                <a:latin typeface="Arial"/>
                <a:cs typeface="Arial"/>
              </a:rPr>
              <a:t>8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125"/>
              </a:spcBef>
            </a:pPr>
            <a:r>
              <a:rPr dirty="0" sz="1000">
                <a:latin typeface="Arial"/>
                <a:cs typeface="Arial"/>
              </a:rPr>
              <a:t>Step 7:</a:t>
            </a:r>
            <a:r>
              <a:rPr dirty="0" sz="1000" spc="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1</a:t>
            </a:r>
            <a:r>
              <a:rPr dirty="0" sz="1000" spc="-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2 3</a:t>
            </a:r>
            <a:r>
              <a:rPr dirty="0" sz="1000" spc="-1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/</a:t>
            </a:r>
            <a:r>
              <a:rPr dirty="0" sz="1000" spc="-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4</a:t>
            </a:r>
            <a:r>
              <a:rPr dirty="0" sz="1000" spc="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5</a:t>
            </a:r>
            <a:r>
              <a:rPr dirty="0" sz="1000" spc="-1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6 /</a:t>
            </a:r>
            <a:r>
              <a:rPr dirty="0" sz="1000" spc="-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7 0</a:t>
            </a:r>
            <a:r>
              <a:rPr dirty="0" sz="1000" spc="-5">
                <a:latin typeface="Arial"/>
                <a:cs typeface="Arial"/>
              </a:rPr>
              <a:t> </a:t>
            </a:r>
            <a:r>
              <a:rPr dirty="0" sz="1000" spc="-50">
                <a:latin typeface="Arial"/>
                <a:cs typeface="Arial"/>
              </a:rPr>
              <a:t>8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130"/>
              </a:spcBef>
            </a:pPr>
            <a:r>
              <a:rPr dirty="0" sz="1000">
                <a:latin typeface="Arial"/>
                <a:cs typeface="Arial"/>
              </a:rPr>
              <a:t>Goal: 1</a:t>
            </a:r>
            <a:r>
              <a:rPr dirty="0" sz="1000" spc="-1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2 3</a:t>
            </a:r>
            <a:r>
              <a:rPr dirty="0" sz="1000" spc="-1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/</a:t>
            </a:r>
            <a:r>
              <a:rPr dirty="0" sz="1000" spc="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4</a:t>
            </a:r>
            <a:r>
              <a:rPr dirty="0" sz="1000" spc="-1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5</a:t>
            </a:r>
            <a:r>
              <a:rPr dirty="0" sz="1000" spc="-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6</a:t>
            </a:r>
            <a:r>
              <a:rPr dirty="0" sz="1000" spc="-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/</a:t>
            </a:r>
            <a:r>
              <a:rPr dirty="0" sz="1000" spc="-1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7</a:t>
            </a:r>
            <a:r>
              <a:rPr dirty="0" sz="1000" spc="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8</a:t>
            </a:r>
            <a:r>
              <a:rPr dirty="0" sz="1000" spc="-10">
                <a:latin typeface="Arial"/>
                <a:cs typeface="Arial"/>
              </a:rPr>
              <a:t> </a:t>
            </a:r>
            <a:r>
              <a:rPr dirty="0" sz="1000" spc="-50">
                <a:latin typeface="Arial"/>
                <a:cs typeface="Arial"/>
              </a:rPr>
              <a:t>0</a:t>
            </a:r>
            <a:endParaRPr sz="1000">
              <a:latin typeface="Arial"/>
              <a:cs typeface="Arial"/>
            </a:endParaRPr>
          </a:p>
          <a:p>
            <a:pPr marL="12700" marR="300990" indent="139700">
              <a:lnSpc>
                <a:spcPct val="110000"/>
              </a:lnSpc>
              <a:spcBef>
                <a:spcPts val="994"/>
              </a:spcBef>
              <a:buAutoNum type="arabicPeriod" startAt="4"/>
              <a:tabLst>
                <a:tab pos="152400" algn="l"/>
              </a:tabLst>
            </a:pPr>
            <a:r>
              <a:rPr dirty="0" sz="1000">
                <a:latin typeface="Arial"/>
                <a:cs typeface="Arial"/>
              </a:rPr>
              <a:t>BFS</a:t>
            </a:r>
            <a:r>
              <a:rPr dirty="0" sz="1000" spc="-2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finds</a:t>
            </a:r>
            <a:r>
              <a:rPr dirty="0" sz="1000" spc="-1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a</a:t>
            </a:r>
            <a:r>
              <a:rPr dirty="0" sz="1000" spc="-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shortest</a:t>
            </a:r>
            <a:r>
              <a:rPr dirty="0" sz="1000" spc="-1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solution</a:t>
            </a:r>
            <a:r>
              <a:rPr dirty="0" sz="1000" spc="-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in</a:t>
            </a:r>
            <a:r>
              <a:rPr dirty="0" sz="1000" spc="-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an</a:t>
            </a:r>
            <a:r>
              <a:rPr dirty="0" sz="1000" spc="-1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unweighted</a:t>
            </a:r>
            <a:r>
              <a:rPr dirty="0" sz="1000" spc="-1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8-puzzle</a:t>
            </a:r>
            <a:r>
              <a:rPr dirty="0" sz="1000" spc="-1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because</a:t>
            </a:r>
            <a:r>
              <a:rPr dirty="0" sz="1000" spc="-1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it</a:t>
            </a:r>
            <a:r>
              <a:rPr dirty="0" sz="1000" spc="-1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explores</a:t>
            </a:r>
            <a:r>
              <a:rPr dirty="0" sz="1000" spc="-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states</a:t>
            </a:r>
            <a:r>
              <a:rPr dirty="0" sz="1000" spc="-10">
                <a:latin typeface="Arial"/>
                <a:cs typeface="Arial"/>
              </a:rPr>
              <a:t> </a:t>
            </a:r>
            <a:r>
              <a:rPr dirty="0" sz="1000" spc="-25">
                <a:latin typeface="Arial"/>
                <a:cs typeface="Arial"/>
              </a:rPr>
              <a:t>in </a:t>
            </a:r>
            <a:r>
              <a:rPr dirty="0" sz="1000">
                <a:latin typeface="Arial"/>
                <a:cs typeface="Arial"/>
              </a:rPr>
              <a:t>increasing</a:t>
            </a:r>
            <a:r>
              <a:rPr dirty="0" sz="1000" spc="-2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order</a:t>
            </a:r>
            <a:r>
              <a:rPr dirty="0" sz="1000" spc="-1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of</a:t>
            </a:r>
            <a:r>
              <a:rPr dirty="0" sz="1000" spc="-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depth.</a:t>
            </a:r>
            <a:r>
              <a:rPr dirty="0" sz="1000" spc="-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Every</a:t>
            </a:r>
            <a:r>
              <a:rPr dirty="0" sz="1000" spc="-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move</a:t>
            </a:r>
            <a:r>
              <a:rPr dirty="0" sz="1000" spc="-1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has</a:t>
            </a:r>
            <a:r>
              <a:rPr dirty="0" sz="1000" spc="-1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equal</a:t>
            </a:r>
            <a:r>
              <a:rPr dirty="0" sz="1000" spc="-2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cost,</a:t>
            </a:r>
            <a:r>
              <a:rPr dirty="0" sz="1000" spc="-2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so</a:t>
            </a:r>
            <a:r>
              <a:rPr dirty="0" sz="1000" spc="-1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the</a:t>
            </a:r>
            <a:r>
              <a:rPr dirty="0" sz="1000" spc="-1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first</a:t>
            </a:r>
            <a:r>
              <a:rPr dirty="0" sz="1000" spc="-1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goal</a:t>
            </a:r>
            <a:r>
              <a:rPr dirty="0" sz="1000" spc="-1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state</a:t>
            </a:r>
            <a:r>
              <a:rPr dirty="0" sz="1000" spc="-1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reached</a:t>
            </a:r>
            <a:r>
              <a:rPr dirty="0" sz="1000" spc="-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has</a:t>
            </a:r>
            <a:r>
              <a:rPr dirty="0" sz="1000" spc="-10">
                <a:latin typeface="Arial"/>
                <a:cs typeface="Arial"/>
              </a:rPr>
              <a:t> </a:t>
            </a:r>
            <a:r>
              <a:rPr dirty="0" sz="1000" spc="-25">
                <a:latin typeface="Arial"/>
                <a:cs typeface="Arial"/>
              </a:rPr>
              <a:t>the </a:t>
            </a:r>
            <a:r>
              <a:rPr dirty="0" sz="1000">
                <a:latin typeface="Arial"/>
                <a:cs typeface="Arial"/>
              </a:rPr>
              <a:t>minimum</a:t>
            </a:r>
            <a:r>
              <a:rPr dirty="0" sz="1000" spc="-3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number</a:t>
            </a:r>
            <a:r>
              <a:rPr dirty="0" sz="1000" spc="-3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of</a:t>
            </a:r>
            <a:r>
              <a:rPr dirty="0" sz="1000" spc="-25">
                <a:latin typeface="Arial"/>
                <a:cs typeface="Arial"/>
              </a:rPr>
              <a:t> </a:t>
            </a:r>
            <a:r>
              <a:rPr dirty="0" sz="1000" spc="-10">
                <a:latin typeface="Arial"/>
                <a:cs typeface="Arial"/>
              </a:rPr>
              <a:t>moves.</a:t>
            </a:r>
            <a:endParaRPr sz="1000">
              <a:latin typeface="Arial"/>
              <a:cs typeface="Arial"/>
            </a:endParaRPr>
          </a:p>
          <a:p>
            <a:pPr marL="12700" marR="5080">
              <a:lnSpc>
                <a:spcPct val="110000"/>
              </a:lnSpc>
              <a:spcBef>
                <a:spcPts val="1010"/>
              </a:spcBef>
            </a:pPr>
            <a:r>
              <a:rPr dirty="0" sz="1000">
                <a:latin typeface="Arial"/>
                <a:cs typeface="Arial"/>
              </a:rPr>
              <a:t>Note:</a:t>
            </a:r>
            <a:r>
              <a:rPr dirty="0" sz="1000" spc="-2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For</a:t>
            </a:r>
            <a:r>
              <a:rPr dirty="0" sz="1000" spc="-2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the</a:t>
            </a:r>
            <a:r>
              <a:rPr dirty="0" sz="1000" spc="-10">
                <a:latin typeface="Arial"/>
                <a:cs typeface="Arial"/>
              </a:rPr>
              <a:t> 8-</a:t>
            </a:r>
            <a:r>
              <a:rPr dirty="0" sz="1000">
                <a:latin typeface="Arial"/>
                <a:cs typeface="Arial"/>
              </a:rPr>
              <a:t>puzzle,</a:t>
            </a:r>
            <a:r>
              <a:rPr dirty="0" sz="1000" spc="-2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the</a:t>
            </a:r>
            <a:r>
              <a:rPr dirty="0" sz="1000" spc="-1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original</a:t>
            </a:r>
            <a:r>
              <a:rPr dirty="0" sz="1000" spc="-2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worksheet</a:t>
            </a:r>
            <a:r>
              <a:rPr dirty="0" sz="1000" spc="-2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provides only</a:t>
            </a:r>
            <a:r>
              <a:rPr dirty="0" sz="1000" spc="-1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five</a:t>
            </a:r>
            <a:r>
              <a:rPr dirty="0" sz="1000" spc="-2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table</a:t>
            </a:r>
            <a:r>
              <a:rPr dirty="0" sz="1000" spc="-2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rows,</a:t>
            </a:r>
            <a:r>
              <a:rPr dirty="0" sz="1000" spc="-1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although</a:t>
            </a:r>
            <a:r>
              <a:rPr dirty="0" sz="1000" spc="-2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reaching</a:t>
            </a:r>
            <a:r>
              <a:rPr dirty="0" sz="1000" spc="-20">
                <a:latin typeface="Arial"/>
                <a:cs typeface="Arial"/>
              </a:rPr>
              <a:t> </a:t>
            </a:r>
            <a:r>
              <a:rPr dirty="0" sz="1000" spc="-25">
                <a:latin typeface="Arial"/>
                <a:cs typeface="Arial"/>
              </a:rPr>
              <a:t>the </a:t>
            </a:r>
            <a:r>
              <a:rPr dirty="0" sz="1000">
                <a:latin typeface="Arial"/>
                <a:cs typeface="Arial"/>
              </a:rPr>
              <a:t>goal</a:t>
            </a:r>
            <a:r>
              <a:rPr dirty="0" sz="1000" spc="-2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requires</a:t>
            </a:r>
            <a:r>
              <a:rPr dirty="0" sz="1000" spc="-1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more</a:t>
            </a:r>
            <a:r>
              <a:rPr dirty="0" sz="1000" spc="-2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expansions.</a:t>
            </a:r>
            <a:r>
              <a:rPr dirty="0" sz="1000" spc="-2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The</a:t>
            </a:r>
            <a:r>
              <a:rPr dirty="0" sz="1000" spc="-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full</a:t>
            </a:r>
            <a:r>
              <a:rPr dirty="0" sz="1000" spc="-2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shortest</a:t>
            </a:r>
            <a:r>
              <a:rPr dirty="0" sz="1000" spc="-2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path</a:t>
            </a:r>
            <a:r>
              <a:rPr dirty="0" sz="1000" spc="-1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and</a:t>
            </a:r>
            <a:r>
              <a:rPr dirty="0" sz="1000" spc="-1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explanation</a:t>
            </a:r>
            <a:r>
              <a:rPr dirty="0" sz="1000" spc="-1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are</a:t>
            </a:r>
            <a:r>
              <a:rPr dirty="0" sz="1000" spc="-1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included</a:t>
            </a:r>
            <a:r>
              <a:rPr dirty="0" sz="1000" spc="-20">
                <a:latin typeface="Arial"/>
                <a:cs typeface="Arial"/>
              </a:rPr>
              <a:t> </a:t>
            </a:r>
            <a:r>
              <a:rPr dirty="0" sz="1000" spc="-10">
                <a:latin typeface="Arial"/>
                <a:cs typeface="Arial"/>
              </a:rPr>
              <a:t>here.</a:t>
            </a:r>
            <a:endParaRPr sz="1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python-docx</dc:creator>
  <dcterms:created xsi:type="dcterms:W3CDTF">2026-10-22T11:38:13Z</dcterms:created>
  <dcterms:modified xsi:type="dcterms:W3CDTF">2026-10-22T11:38:13Z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v10.0.20290.1</vt:lpwstr>
  </property>
  <property fmtid="{D5CDD505-2E9C-101B-9397-08002B2CF9AE}" pid="3" name="Created">
    <vt:filetime>2026-10-21T00:00:00Z</vt:filetime>
  </property>
  <property fmtid="{D5CDD505-2E9C-101B-9397-08002B2CF9AE}" pid="4" name="Creator">
    <vt:lpwstr>Microsoft® Word 2024</vt:lpwstr>
  </property>
  <property fmtid="{D5CDD505-2E9C-101B-9397-08002B2CF9AE}" pid="5" name="LastSaved">
    <vt:filetime>2026-10-22T00:00:00Z</vt:filetime>
  </property>
  <property fmtid="{D5CDD505-2E9C-101B-9397-08002B2CF9AE}" pid="6" name="Producer">
    <vt:lpwstr>Microsoft® Word 2024</vt:lpwstr>
  </property>
</Properties>
</file>