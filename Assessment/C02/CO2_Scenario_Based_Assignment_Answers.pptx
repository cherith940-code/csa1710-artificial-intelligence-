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5AEA95B-A5F1-AC9D-C6C0-ECEF5C334A17}">
          <p14:sldIdLst>
            <p14:sldId id="256"/>
          </p14:sldIdLst>
        </p14:section>
        <p14:section name="Question 1" id="{D3E99D8F-4D22-66A4-B336-C8A83E17E582}">
          <p14:sldIdLst>
            <p14:sldId id="257"/>
            <p14:sldId id="258"/>
            <p14:sldId id="259"/>
          </p14:sldIdLst>
        </p14:section>
        <p14:section name="Question 2" id="{188E7E1A-0505-13A9-1DAE-243CFD5918A6}">
          <p14:sldIdLst>
            <p14:sldId id="260"/>
            <p14:sldId id="261"/>
            <p14:sldId id="262"/>
          </p14:sldIdLst>
        </p14:section>
        <p14:section name="Question 3" id="{75DE6DF9-5830-49F7-B389-FAB88599416C}">
          <p14:sldIdLst>
            <p14:sldId id="263"/>
            <p14:sldId id="264"/>
            <p14:sldId id="265"/>
          </p14:sldIdLst>
        </p14:section>
        <p14:section name="Question 4" id="{2D44BC7D-B133-01B8-395A-4CB683F894F7}">
          <p14:sldIdLst>
            <p14:sldId id="266"/>
            <p14:sldId id="267"/>
            <p14:sldId id="268"/>
          </p14:sldIdLst>
        </p14:section>
        <p14:section name="Question 5" id="{59CC255D-3A2C-D253-28E5-F7F94BB3FDD8}">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notesMaster" Target="notesMasters/notesMaster1.xml" /><Relationship Id="rId3" Type="http://schemas.openxmlformats.org/officeDocument/2006/relationships/slide" Target="slides/slide2.xml" /><Relationship Id="rId21"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E2E6B0A7-0F59-ED49-B4FF-5F97FDE69F5A}" type="datetimeFigureOut">
              <a:rPr lang="en-US" smtClean="0"/>
              <a:t>10/22/2026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EC91BA05-ED10-C642-A08E-E5AA352F0E77}" type="slidenum">
              <a:rPr lang="en-US" smtClean="0"/>
              <a:t>‹#›</a:t>
            </a:fld>
            <a:endParaRPr lang="en-US"/>
          </a:p>
        </p:txBody>
      </p:sp>
    </p:spTree>
    <p:extLst>
      <p:ext uri="{BB962C8B-B14F-4D97-AF65-F5344CB8AC3E}">
        <p14:creationId xmlns:p14="http://schemas.microsoft.com/office/powerpoint/2010/main" val="791980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1: Drone medicine delivery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2: Traffic signal optimization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3: Mars rover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4: Exam timetable (CSP)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5: Strategic game AI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NSWER">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731520"/>
          </a:xfrm>
          <a:prstGeom prst="rect">
            <a:avLst/>
          </a:prstGeom>
          <a:noFill/>
          <a:ln/>
        </p:spPr>
        <p:txBody>
          <a:bodyPr wrap="square" rtlCol="0"/>
          <a:lstStyle>
            <a:lvl1pPr marL="0" indent="0" algn="ctr">
              <a:buNone/>
              <a:defRPr lang="en-US" sz="2800" b="1" dirty="0">
                <a:solidFill>
                  <a:schemeClr val="tx1"/>
                </a:solidFill>
              </a:defRPr>
            </a:lvl1pPr>
          </a:lstStyle>
          <a:p>
            <a:pPr marL="0" indent="0" algn="ctr">
              <a:buNone/>
            </a:pPr>
            <a:endParaRPr lang="en-US" sz="28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tx2"/>
                </a:solidFill>
              </a:rPr>
              <a:t>CSA17  |  Artificial Intelligence  |  CO2 Scenario Based Assignment</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4"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3.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3.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3.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3.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3.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3.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3.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3.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3.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3.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3.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3.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3.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3.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nstitution"/>
          <p:cNvSpPr txBox="1"/>
          <p:nvPr/>
        </p:nvSpPr>
        <p:spPr>
          <a:xfrm>
            <a:off x="548640" y="320040"/>
            <a:ext cx="11091672" cy="502920"/>
          </a:xfrm>
          <a:prstGeom prst="rect">
            <a:avLst/>
          </a:prstGeom>
          <a:noFill/>
          <a:ln/>
        </p:spPr>
        <p:txBody>
          <a:bodyPr wrap="square" rtlCol="0" anchor="ctr"/>
          <a:lstStyle/>
          <a:p>
            <a:pPr marL="0" indent="0" algn="ctr">
              <a:buNone/>
            </a:pPr>
            <a:r>
              <a:rPr lang="en-US" sz="3000" b="1" dirty="0">
                <a:solidFill>
                  <a:srgbClr val="000000"/>
                </a:solidFill>
              </a:rPr>
              <a:t>SIMATS ENGINEERING</a:t>
            </a:r>
            <a:endParaRPr lang="en-US" sz="3000" dirty="0"/>
          </a:p>
        </p:txBody>
      </p:sp>
      <p:sp>
        <p:nvSpPr>
          <p:cNvPr id="3" name="Tool"/>
          <p:cNvSpPr txBox="1"/>
          <p:nvPr/>
        </p:nvSpPr>
        <p:spPr>
          <a:xfrm>
            <a:off x="548640" y="822960"/>
            <a:ext cx="11091672" cy="365760"/>
          </a:xfrm>
          <a:prstGeom prst="rect">
            <a:avLst/>
          </a:prstGeom>
          <a:noFill/>
          <a:ln/>
        </p:spPr>
        <p:txBody>
          <a:bodyPr wrap="square" rtlCol="0" anchor="ctr"/>
          <a:lstStyle/>
          <a:p>
            <a:pPr marL="0" indent="0" algn="ctr">
              <a:buNone/>
            </a:pPr>
            <a:r>
              <a:rPr lang="en-US" sz="2000" b="1" dirty="0">
                <a:solidFill>
                  <a:srgbClr val="000000"/>
                </a:solidFill>
              </a:rPr>
              <a:t>ASSESSMENT TOOL 1</a:t>
            </a:r>
            <a:endParaRPr lang="en-US" sz="2000" dirty="0"/>
          </a:p>
        </p:txBody>
      </p:sp>
      <p:sp>
        <p:nvSpPr>
          <p:cNvPr id="4" name="Course name"/>
          <p:cNvSpPr txBox="1"/>
          <p:nvPr/>
        </p:nvSpPr>
        <p:spPr>
          <a:xfrm>
            <a:off x="548640" y="1463040"/>
            <a:ext cx="5486400" cy="365760"/>
          </a:xfrm>
          <a:prstGeom prst="rect">
            <a:avLst/>
          </a:prstGeom>
          <a:noFill/>
          <a:ln/>
        </p:spPr>
        <p:txBody>
          <a:bodyPr wrap="square" lIns="0" tIns="0" rIns="0" bIns="0" rtlCol="0" anchor="ctr"/>
          <a:lstStyle/>
          <a:p>
            <a:pPr marL="0" indent="0">
              <a:buNone/>
            </a:pPr>
            <a:r>
              <a:rPr lang="en-US" sz="1500" b="1" dirty="0">
                <a:solidFill>
                  <a:srgbClr val="000000"/>
                </a:solidFill>
                <a:latin typeface="Arial" pitchFamily="34" charset="0"/>
                <a:ea typeface="Arial" pitchFamily="34" charset="-122"/>
                <a:cs typeface="Arial" pitchFamily="34" charset="-120"/>
              </a:rPr>
              <a:t>COURSE NAME:  </a:t>
            </a:r>
            <a:r>
              <a:rPr lang="en-US" sz="1500" dirty="0">
                <a:solidFill>
                  <a:srgbClr val="000000"/>
                </a:solidFill>
                <a:latin typeface="Arial" pitchFamily="34" charset="0"/>
                <a:ea typeface="Arial" pitchFamily="34" charset="-122"/>
                <a:cs typeface="Arial" pitchFamily="34" charset="-120"/>
              </a:rPr>
              <a:t>Artificial Intelligence</a:t>
            </a:r>
            <a:endParaRPr lang="en-US" sz="1500" dirty="0"/>
          </a:p>
        </p:txBody>
      </p:sp>
      <p:sp>
        <p:nvSpPr>
          <p:cNvPr id="5" name="Course code"/>
          <p:cNvSpPr txBox="1"/>
          <p:nvPr/>
        </p:nvSpPr>
        <p:spPr>
          <a:xfrm>
            <a:off x="6309360" y="1463040"/>
            <a:ext cx="5330952" cy="365760"/>
          </a:xfrm>
          <a:prstGeom prst="rect">
            <a:avLst/>
          </a:prstGeom>
          <a:noFill/>
          <a:ln/>
        </p:spPr>
        <p:txBody>
          <a:bodyPr wrap="square" lIns="0" tIns="0" rIns="0" bIns="0" rtlCol="0" anchor="ctr"/>
          <a:lstStyle/>
          <a:p>
            <a:pPr marL="0" indent="0">
              <a:buNone/>
            </a:pPr>
            <a:r>
              <a:rPr lang="en-US" sz="1500" b="1" dirty="0">
                <a:solidFill>
                  <a:srgbClr val="000000"/>
                </a:solidFill>
                <a:latin typeface="Arial" pitchFamily="34" charset="0"/>
                <a:ea typeface="Arial" pitchFamily="34" charset="-122"/>
                <a:cs typeface="Arial" pitchFamily="34" charset="-120"/>
              </a:rPr>
              <a:t>COURSE CODE: CSA17</a:t>
            </a:r>
            <a:endParaRPr lang="en-US" sz="1500" dirty="0"/>
          </a:p>
        </p:txBody>
      </p:sp>
      <p:sp>
        <p:nvSpPr>
          <p:cNvPr id="6" name="Rule"/>
          <p:cNvSpPr/>
          <p:nvPr/>
        </p:nvSpPr>
        <p:spPr>
          <a:xfrm>
            <a:off x="548640" y="2011680"/>
            <a:ext cx="11091672" cy="0"/>
          </a:xfrm>
          <a:prstGeom prst="line">
            <a:avLst/>
          </a:prstGeom>
          <a:noFill/>
          <a:ln w="38100">
            <a:solidFill>
              <a:schemeClr val="tx1"/>
            </a:solidFill>
            <a:prstDash val="solid"/>
          </a:ln>
        </p:spPr>
      </p:sp>
      <p:sp>
        <p:nvSpPr>
          <p:cNvPr id="7" name="CO heading"/>
          <p:cNvSpPr txBox="1"/>
          <p:nvPr/>
        </p:nvSpPr>
        <p:spPr>
          <a:xfrm>
            <a:off x="548640" y="2148840"/>
            <a:ext cx="11091672" cy="320040"/>
          </a:xfrm>
          <a:prstGeom prst="rect">
            <a:avLst/>
          </a:prstGeom>
          <a:noFill/>
          <a:ln/>
        </p:spPr>
        <p:txBody>
          <a:bodyPr wrap="square" lIns="0" tIns="0" rIns="0" bIns="0" rtlCol="0" anchor="ctr"/>
          <a:lstStyle/>
          <a:p>
            <a:pPr marL="0" indent="0">
              <a:buNone/>
            </a:pPr>
            <a:r>
              <a:rPr lang="en-US" sz="1500" b="1" dirty="0">
                <a:solidFill>
                  <a:srgbClr val="000000"/>
                </a:solidFill>
                <a:latin typeface="Arial" pitchFamily="34" charset="0"/>
                <a:ea typeface="Arial" pitchFamily="34" charset="-122"/>
                <a:cs typeface="Arial" pitchFamily="34" charset="-120"/>
              </a:rPr>
              <a:t>COURSE OUTCOME COVERED</a:t>
            </a:r>
            <a:endParaRPr lang="en-US" sz="1500" dirty="0"/>
          </a:p>
        </p:txBody>
      </p:sp>
      <p:sp>
        <p:nvSpPr>
          <p:cNvPr id="8" name="CO text"/>
          <p:cNvSpPr txBox="1"/>
          <p:nvPr/>
        </p:nvSpPr>
        <p:spPr>
          <a:xfrm>
            <a:off x="548640" y="2514600"/>
            <a:ext cx="11091672" cy="1097280"/>
          </a:xfrm>
          <a:prstGeom prst="rect">
            <a:avLst/>
          </a:prstGeom>
          <a:noFill/>
          <a:ln/>
        </p:spPr>
        <p:txBody>
          <a:bodyPr wrap="square" lIns="0" tIns="0" rIns="0" bIns="0" rtlCol="0" anchor="t"/>
          <a:lstStyle/>
          <a:p>
            <a:pPr marL="0" indent="0">
              <a:buNone/>
            </a:pPr>
            <a:r>
              <a:rPr lang="en-US" sz="1400" b="1" i="1" dirty="0">
                <a:solidFill>
                  <a:srgbClr val="000000"/>
                </a:solidFill>
                <a:latin typeface="Arial" pitchFamily="34" charset="0"/>
                <a:ea typeface="Arial" pitchFamily="34" charset="-122"/>
                <a:cs typeface="Arial" pitchFamily="34" charset="-120"/>
              </a:rPr>
              <a:t>CO2: </a:t>
            </a:r>
            <a:r>
              <a:rPr lang="en-US" sz="1400" i="1" dirty="0">
                <a:solidFill>
                  <a:srgbClr val="000000"/>
                </a:solidFill>
                <a:latin typeface="Arial" pitchFamily="34" charset="0"/>
                <a:ea typeface="Arial" pitchFamily="34" charset="-122"/>
                <a:cs typeface="Arial" pitchFamily="34" charset="-120"/>
              </a:rPr>
              <a:t>Experiment search and game-solving techniques such as Greedy Search, A*, CSP, Minimax, and Alpha-Beta pruning with heuristic functions for solving complex AI problems efficiently. (BL3)</a:t>
            </a:r>
            <a:endParaRPr lang="en-US" sz="1400" dirty="0"/>
          </a:p>
          <a:p>
            <a:pPr marL="0" indent="0">
              <a:spcBef>
                <a:spcPts val="800"/>
              </a:spcBef>
              <a:buNone/>
            </a:pPr>
            <a:r>
              <a:rPr lang="en-US" sz="1400" i="1" dirty="0">
                <a:solidFill>
                  <a:srgbClr val="000000"/>
                </a:solidFill>
                <a:latin typeface="Arial" pitchFamily="34" charset="0"/>
                <a:ea typeface="Arial" pitchFamily="34" charset="-122"/>
                <a:cs typeface="Arial" pitchFamily="34" charset="-120"/>
              </a:rPr>
              <a:t>Assessment Tool Weightage: 35%</a:t>
            </a:r>
            <a:endParaRPr lang="en-US" sz="1400" dirty="0"/>
          </a:p>
        </p:txBody>
      </p:sp>
      <p:sp>
        <p:nvSpPr>
          <p:cNvPr id="9" name="Rule"/>
          <p:cNvSpPr/>
          <p:nvPr/>
        </p:nvSpPr>
        <p:spPr>
          <a:xfrm>
            <a:off x="548640" y="3749040"/>
            <a:ext cx="11091672" cy="0"/>
          </a:xfrm>
          <a:prstGeom prst="line">
            <a:avLst/>
          </a:prstGeom>
          <a:noFill/>
          <a:ln w="38100">
            <a:solidFill>
              <a:schemeClr val="tx1"/>
            </a:solidFill>
            <a:prstDash val="solid"/>
          </a:ln>
        </p:spPr>
      </p:sp>
      <p:sp>
        <p:nvSpPr>
          <p:cNvPr id="10" name="Questions"/>
          <p:cNvSpPr txBox="1"/>
          <p:nvPr/>
        </p:nvSpPr>
        <p:spPr>
          <a:xfrm>
            <a:off x="548640" y="3931920"/>
            <a:ext cx="4572000" cy="365760"/>
          </a:xfrm>
          <a:prstGeom prst="rect">
            <a:avLst/>
          </a:prstGeom>
          <a:noFill/>
          <a:ln/>
        </p:spPr>
        <p:txBody>
          <a:bodyPr wrap="square" lIns="0" tIns="0" rIns="0" bIns="0" rtlCol="0" anchor="ctr"/>
          <a:lstStyle/>
          <a:p>
            <a:pPr marL="0" indent="0">
              <a:buNone/>
            </a:pPr>
            <a:r>
              <a:rPr lang="en-US" sz="1500" b="1" dirty="0">
                <a:solidFill>
                  <a:srgbClr val="000000"/>
                </a:solidFill>
                <a:latin typeface="Arial" pitchFamily="34" charset="0"/>
                <a:ea typeface="Arial" pitchFamily="34" charset="-122"/>
                <a:cs typeface="Arial" pitchFamily="34" charset="-120"/>
              </a:rPr>
              <a:t>QUESTIONS: 5</a:t>
            </a:r>
            <a:endParaRPr lang="en-US" sz="1500" dirty="0"/>
          </a:p>
        </p:txBody>
      </p:sp>
      <p:sp>
        <p:nvSpPr>
          <p:cNvPr id="11" name="Duration and marks"/>
          <p:cNvSpPr txBox="1"/>
          <p:nvPr/>
        </p:nvSpPr>
        <p:spPr>
          <a:xfrm>
            <a:off x="7772400" y="3840480"/>
            <a:ext cx="3867912" cy="640080"/>
          </a:xfrm>
          <a:prstGeom prst="rect">
            <a:avLst/>
          </a:prstGeom>
          <a:noFill/>
          <a:ln/>
        </p:spPr>
        <p:txBody>
          <a:bodyPr wrap="square" lIns="0" tIns="0" rIns="0" bIns="0" rtlCol="0" anchor="ctr"/>
          <a:lstStyle/>
          <a:p>
            <a:pPr marL="0" indent="0">
              <a:buNone/>
            </a:pPr>
            <a:r>
              <a:rPr lang="en-US" sz="1500" b="1" dirty="0">
                <a:solidFill>
                  <a:srgbClr val="000000"/>
                </a:solidFill>
                <a:latin typeface="Arial" pitchFamily="34" charset="0"/>
                <a:ea typeface="Arial" pitchFamily="34" charset="-122"/>
                <a:cs typeface="Arial" pitchFamily="34" charset="-120"/>
              </a:rPr>
              <a:t>Duration: 1 Hour</a:t>
            </a:r>
            <a:endParaRPr lang="en-US" sz="1500" dirty="0"/>
          </a:p>
          <a:p>
            <a:pPr marL="0" indent="0">
              <a:buNone/>
            </a:pPr>
            <a:r>
              <a:rPr lang="en-US" sz="1500" b="1" dirty="0">
                <a:solidFill>
                  <a:srgbClr val="000000"/>
                </a:solidFill>
                <a:latin typeface="Arial" pitchFamily="34" charset="0"/>
                <a:ea typeface="Arial" pitchFamily="34" charset="-122"/>
                <a:cs typeface="Arial" pitchFamily="34" charset="-120"/>
              </a:rPr>
              <a:t>Total Marks: 50</a:t>
            </a:r>
            <a:endParaRPr lang="en-US" sz="1500" dirty="0"/>
          </a:p>
        </p:txBody>
      </p:sp>
      <p:sp>
        <p:nvSpPr>
          <p:cNvPr id="12" name="Annexure"/>
          <p:cNvSpPr txBox="1"/>
          <p:nvPr/>
        </p:nvSpPr>
        <p:spPr>
          <a:xfrm>
            <a:off x="548640" y="4572000"/>
            <a:ext cx="11091672" cy="320040"/>
          </a:xfrm>
          <a:prstGeom prst="rect">
            <a:avLst/>
          </a:prstGeom>
          <a:noFill/>
          <a:ln/>
        </p:spPr>
        <p:txBody>
          <a:bodyPr wrap="square" rtlCol="0" anchor="ctr"/>
          <a:lstStyle/>
          <a:p>
            <a:pPr marL="0" indent="0" algn="ctr">
              <a:buNone/>
            </a:pPr>
            <a:r>
              <a:rPr lang="en-US" sz="1500" dirty="0">
                <a:solidFill>
                  <a:srgbClr val="000000"/>
                </a:solidFill>
                <a:latin typeface="Arial" pitchFamily="34" charset="0"/>
                <a:ea typeface="Arial" pitchFamily="34" charset="-122"/>
                <a:cs typeface="Arial" pitchFamily="34" charset="-120"/>
              </a:rPr>
              <a:t>Annexure A</a:t>
            </a:r>
            <a:endParaRPr lang="en-US" sz="1500" dirty="0"/>
          </a:p>
        </p:txBody>
      </p:sp>
      <p:sp>
        <p:nvSpPr>
          <p:cNvPr id="13" name="Assignment title"/>
          <p:cNvSpPr txBox="1"/>
          <p:nvPr/>
        </p:nvSpPr>
        <p:spPr>
          <a:xfrm>
            <a:off x="548640" y="4892040"/>
            <a:ext cx="11091672" cy="365760"/>
          </a:xfrm>
          <a:prstGeom prst="rect">
            <a:avLst/>
          </a:prstGeom>
          <a:noFill/>
          <a:ln/>
        </p:spPr>
        <p:txBody>
          <a:bodyPr wrap="square" rtlCol="0" anchor="ctr"/>
          <a:lstStyle/>
          <a:p>
            <a:pPr marL="0" indent="0" algn="ctr">
              <a:buNone/>
            </a:pPr>
            <a:r>
              <a:rPr lang="en-US" sz="1600" b="1" dirty="0">
                <a:solidFill>
                  <a:srgbClr val="000000"/>
                </a:solidFill>
                <a:latin typeface="Arial" pitchFamily="34" charset="0"/>
                <a:ea typeface="Arial" pitchFamily="34" charset="-122"/>
                <a:cs typeface="Arial" pitchFamily="34" charset="-120"/>
              </a:rPr>
              <a:t>Scenario Based Assignment</a:t>
            </a:r>
            <a:endParaRPr lang="en-US" sz="1600" dirty="0"/>
          </a:p>
        </p:txBody>
      </p:sp>
      <p:sp>
        <p:nvSpPr>
          <p:cNvPr id="14" name="Rule"/>
          <p:cNvSpPr/>
          <p:nvPr/>
        </p:nvSpPr>
        <p:spPr>
          <a:xfrm>
            <a:off x="548640" y="5486400"/>
            <a:ext cx="11091672" cy="0"/>
          </a:xfrm>
          <a:prstGeom prst="line">
            <a:avLst/>
          </a:prstGeom>
          <a:noFill/>
          <a:ln w="38100">
            <a:solidFill>
              <a:schemeClr val="tx1"/>
            </a:solidFill>
            <a:prstDash val="solid"/>
          </a:ln>
        </p:spPr>
      </p:sp>
      <p:sp>
        <p:nvSpPr>
          <p:cNvPr id="15" name="Code of conduct"/>
          <p:cNvSpPr txBox="1"/>
          <p:nvPr/>
        </p:nvSpPr>
        <p:spPr>
          <a:xfrm>
            <a:off x="548640" y="5577840"/>
            <a:ext cx="11091672" cy="1143000"/>
          </a:xfrm>
          <a:prstGeom prst="rect">
            <a:avLst/>
          </a:prstGeom>
          <a:noFill/>
          <a:ln/>
        </p:spPr>
        <p:txBody>
          <a:bodyPr wrap="square" lIns="0" tIns="0" rIns="0" bIns="0" rtlCol="0" anchor="t"/>
          <a:lstStyle/>
          <a:p>
            <a:pPr marL="0" indent="0">
              <a:spcAft>
                <a:spcPts val="400"/>
              </a:spcAft>
              <a:buNone/>
            </a:pPr>
            <a:r>
              <a:rPr lang="en-US" sz="1400" b="1" i="1" dirty="0">
                <a:solidFill>
                  <a:srgbClr val="000000"/>
                </a:solidFill>
              </a:rPr>
              <a:t>Code of Conduct:</a:t>
            </a:r>
            <a:endParaRPr lang="en-US" sz="1400" dirty="0"/>
          </a:p>
          <a:p>
            <a:pPr marL="0" indent="0">
              <a:spcAft>
                <a:spcPts val="400"/>
              </a:spcAft>
              <a:buNone/>
            </a:pPr>
            <a:r>
              <a:rPr lang="en-US" sz="1400" i="1" dirty="0">
                <a:solidFill>
                  <a:srgbClr val="000000"/>
                </a:solidFill>
              </a:rPr>
              <a:t>I A . Charity Reddy(1965260111) certify that this submission is my original work and that I have adhered to the guidelines specified for this assessment. I understand that any violation of academic integrity rules will result in disciplinary action.</a:t>
            </a:r>
            <a:endParaRPr lang="en-US" sz="1400" dirty="0"/>
          </a:p>
          <a:p>
            <a:pPr marL="0" indent="0">
              <a:buNone/>
            </a:pPr>
            <a:r>
              <a:rPr lang="en-US" sz="1400" b="1" i="1" dirty="0">
                <a:solidFill>
                  <a:srgbClr val="000000"/>
                </a:solidFill>
              </a:rPr>
              <a:t>Signature of the student:</a:t>
            </a:r>
          </a:p>
          <a:p>
            <a:pPr marL="0" indent="0">
              <a:buNone/>
            </a:pPr>
            <a:r>
              <a:rPr lang="en-US" sz="1400" b="1" i="1" dirty="0" err="1">
                <a:solidFill>
                  <a:srgbClr val="000000"/>
                </a:solidFill>
              </a:rPr>
              <a:t>A.Charith</a:t>
            </a:r>
            <a:r>
              <a:rPr lang="en-US" sz="1400" b="1" i="1" dirty="0">
                <a:solidFill>
                  <a:srgbClr val="000000"/>
                </a:solidFill>
              </a:rPr>
              <a:t> Reddy </a:t>
            </a:r>
          </a:p>
          <a:p>
            <a:pPr marL="0" indent="0">
              <a:buNone/>
            </a:pP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731520"/>
          </a:xfrm>
          <a:prstGeom prst="rect">
            <a:avLst/>
          </a:prstGeom>
          <a:noFill/>
          <a:ln/>
        </p:spPr>
        <p:txBody>
          <a:bodyPr wrap="square" rtlCol="0" anchor="ctr"/>
          <a:lstStyle/>
          <a:p>
            <a:pPr marL="0" indent="0" algn="ctr">
              <a:buNone/>
            </a:pPr>
            <a:r>
              <a:rPr lang="en-US" sz="2800" b="1" dirty="0">
                <a:solidFill>
                  <a:schemeClr val="tx1"/>
                </a:solidFill>
              </a:rPr>
              <a:t>Scenario Based Assignment</a:t>
            </a:r>
            <a:endParaRPr lang="en-US" sz="2800" dirty="0"/>
          </a:p>
        </p:txBody>
      </p:sp>
      <p:sp>
        <p:nvSpPr>
          <p:cNvPr id="3" name="Annexure label"/>
          <p:cNvSpPr txBox="1"/>
          <p:nvPr/>
        </p:nvSpPr>
        <p:spPr>
          <a:xfrm>
            <a:off x="548640" y="164592"/>
            <a:ext cx="11091672" cy="274320"/>
          </a:xfrm>
          <a:prstGeom prst="rect">
            <a:avLst/>
          </a:prstGeom>
          <a:noFill/>
          <a:ln/>
        </p:spPr>
        <p:txBody>
          <a:bodyPr wrap="square" lIns="0" tIns="0" rIns="0" bIns="0" rtlCol="0" anchor="ctr"/>
          <a:lstStyle/>
          <a:p>
            <a:pPr marL="0" indent="0" algn="ctr">
              <a:buNone/>
            </a:pPr>
            <a:r>
              <a:rPr lang="en-US" sz="1200" dirty="0">
                <a:solidFill>
                  <a:srgbClr val="000000"/>
                </a:solidFill>
              </a:rPr>
              <a:t>Annexure A</a:t>
            </a:r>
            <a:endParaRPr lang="en-US" sz="1200" dirty="0"/>
          </a:p>
        </p:txBody>
      </p:sp>
      <p:sp>
        <p:nvSpPr>
          <p:cNvPr id="4" name="Scenario and tasks"/>
          <p:cNvSpPr txBox="1"/>
          <p:nvPr/>
        </p:nvSpPr>
        <p:spPr>
          <a:xfrm>
            <a:off x="548640" y="1280160"/>
            <a:ext cx="11091672" cy="4983480"/>
          </a:xfrm>
          <a:prstGeom prst="rect">
            <a:avLst/>
          </a:prstGeom>
          <a:noFill/>
          <a:ln/>
        </p:spPr>
        <p:txBody>
          <a:bodyPr wrap="square" lIns="0" tIns="0" rIns="0" bIns="0" rtlCol="0" anchor="t"/>
          <a:lstStyle/>
          <a:p>
            <a:pPr marL="0" indent="0">
              <a:buNone/>
            </a:pPr>
            <a:r>
              <a:rPr lang="en-US" sz="2000" b="1" dirty="0">
                <a:solidFill>
                  <a:srgbClr val="000000"/>
                </a:solidFill>
              </a:rPr>
              <a:t>1. Scenario: </a:t>
            </a:r>
            <a:r>
              <a:rPr lang="en-US" sz="2000" dirty="0">
                <a:solidFill>
                  <a:srgbClr val="000000"/>
                </a:solidFill>
              </a:rPr>
              <a:t>A government deploys AI-powered drones to deliver emergency medicines in a flood-affected region. The environment is highly dynamic—roads may suddenly become inaccessible, and weather conditions affect travel cost. The drone has access to: a heuristic estimate (straight-line distance), partial real-time updates about blocked paths and variable movement costs depending on terrain and weather. However, due to urgency, the drone must quickly decide routes with minimum delay and risk.</a:t>
            </a:r>
            <a:endParaRPr lang="en-US" sz="2000" dirty="0"/>
          </a:p>
          <a:p>
            <a:pPr marL="0" indent="0">
              <a:spcAft>
                <a:spcPts val="400"/>
              </a:spcAft>
              <a:buNone/>
            </a:pPr>
            <a:r>
              <a:rPr lang="en-US" sz="2000" dirty="0">
                <a:solidFill>
                  <a:srgbClr val="000000"/>
                </a:solidFill>
              </a:rPr>
              <a:t>Tasks:</a:t>
            </a:r>
            <a:endParaRPr lang="en-US" sz="2000" dirty="0"/>
          </a:p>
          <a:p>
            <a:pPr marL="406400" indent="-406400">
              <a:spcAft>
                <a:spcPts val="400"/>
              </a:spcAft>
              <a:buSzPct val="100000"/>
              <a:buFont typeface="+mj-lt"/>
              <a:buAutoNum type="romanLcPeriod"/>
            </a:pPr>
            <a:r>
              <a:rPr lang="en-US" sz="2000" dirty="0">
                <a:solidFill>
                  <a:srgbClr val="000000"/>
                </a:solidFill>
              </a:rPr>
              <a:t>Explain how Greedy Best-First Search would behave in this scenario and discuss its strengths and weaknesses under uncertainty</a:t>
            </a:r>
            <a:endParaRPr lang="en-US" sz="2000" dirty="0"/>
          </a:p>
          <a:p>
            <a:pPr marL="406400" indent="-406400">
              <a:spcAft>
                <a:spcPts val="400"/>
              </a:spcAft>
              <a:buSzPct val="100000"/>
              <a:buFont typeface="+mj-lt"/>
              <a:buAutoNum type="romanLcPeriod"/>
            </a:pPr>
            <a:r>
              <a:rPr lang="en-US" sz="2000" dirty="0">
                <a:solidFill>
                  <a:srgbClr val="000000"/>
                </a:solidFill>
              </a:rPr>
              <a:t>Explain how A* would handle the same situation, including how it balances cost and heuristic</a:t>
            </a:r>
            <a:endParaRPr lang="en-US" sz="2000" dirty="0"/>
          </a:p>
          <a:p>
            <a:pPr marL="406400" indent="-406400">
              <a:spcAft>
                <a:spcPts val="400"/>
              </a:spcAft>
              <a:buSzPct val="100000"/>
              <a:buFont typeface="+mj-lt"/>
              <a:buAutoNum type="romanLcPeriod"/>
            </a:pPr>
            <a:r>
              <a:rPr lang="en-US" sz="2000" dirty="0">
                <a:solidFill>
                  <a:srgbClr val="000000"/>
                </a:solidFill>
              </a:rPr>
              <a:t>Analyze the impact of heuristic accuracy on both algorithms</a:t>
            </a:r>
            <a:endParaRPr lang="en-US" sz="2000" dirty="0"/>
          </a:p>
          <a:p>
            <a:pPr marL="406400" indent="-406400">
              <a:spcAft>
                <a:spcPts val="400"/>
              </a:spcAft>
              <a:buSzPct val="100000"/>
              <a:buFont typeface="+mj-lt"/>
              <a:buAutoNum type="romanLcPeriod"/>
            </a:pPr>
            <a:r>
              <a:rPr lang="en-US" sz="2000" dirty="0">
                <a:solidFill>
                  <a:srgbClr val="000000"/>
                </a:solidFill>
              </a:rPr>
              <a:t>Discuss how dynamic changes (blocked paths) affect search performance</a:t>
            </a:r>
            <a:endParaRPr lang="en-US" sz="2000" dirty="0"/>
          </a:p>
          <a:p>
            <a:pPr marL="406400" indent="-406400">
              <a:spcAft>
                <a:spcPts val="400"/>
              </a:spcAft>
              <a:buSzPct val="100000"/>
              <a:buFont typeface="+mj-lt"/>
              <a:buAutoNum type="romanLcPeriod"/>
            </a:pPr>
            <a:r>
              <a:rPr lang="en-US" sz="2000" dirty="0">
                <a:solidFill>
                  <a:srgbClr val="000000"/>
                </a:solidFill>
              </a:rPr>
              <a:t>Recommend the most suitable algorithm and justify your decision considering real-time constraints, optimality, and safety</a:t>
            </a:r>
            <a:endParaRPr lang="en-US" sz="2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731520"/>
          </a:xfrm>
          <a:prstGeom prst="rect">
            <a:avLst/>
          </a:prstGeom>
          <a:noFill/>
          <a:ln/>
        </p:spPr>
        <p:txBody>
          <a:bodyPr wrap="square" rtlCol="0" anchor="ctr"/>
          <a:lstStyle/>
          <a:p>
            <a:pPr marL="0" indent="0" algn="ctr">
              <a:buNone/>
            </a:pPr>
            <a:r>
              <a:rPr lang="en-US" sz="2800" b="1" dirty="0">
                <a:solidFill>
                  <a:schemeClr val="tx1"/>
                </a:solidFill>
              </a:rPr>
              <a:t>Answer 1: Drone Medicine Delivery (i–iii)</a:t>
            </a:r>
            <a:endParaRPr lang="en-US" sz="2800" dirty="0"/>
          </a:p>
        </p:txBody>
      </p:sp>
      <p:sp>
        <p:nvSpPr>
          <p:cNvPr id="3" name="Answer body"/>
          <p:cNvSpPr txBox="1"/>
          <p:nvPr/>
        </p:nvSpPr>
        <p:spPr>
          <a:xfrm>
            <a:off x="548640" y="1280160"/>
            <a:ext cx="11091672" cy="4983480"/>
          </a:xfrm>
          <a:prstGeom prst="rect">
            <a:avLst/>
          </a:prstGeom>
          <a:noFill/>
          <a:ln/>
        </p:spPr>
        <p:txBody>
          <a:bodyPr wrap="square" lIns="0" tIns="0" rIns="0" bIns="0" rtlCol="0" anchor="t"/>
          <a:lstStyle/>
          <a:p>
            <a:pPr marL="0" indent="0">
              <a:spcAft>
                <a:spcPts val="400"/>
              </a:spcAft>
              <a:buNone/>
            </a:pPr>
            <a:r>
              <a:rPr lang="en-US" sz="2000" b="1" dirty="0">
                <a:solidFill>
                  <a:srgbClr val="000000"/>
                </a:solidFill>
              </a:rPr>
              <a:t>i.  Greedy Best-First Search</a:t>
            </a:r>
            <a:endParaRPr lang="en-US" sz="1700" dirty="0"/>
          </a:p>
          <a:p>
            <a:pPr marL="254000" indent="-254000">
              <a:spcAft>
                <a:spcPts val="300"/>
              </a:spcAft>
              <a:buSzPct val="100000"/>
              <a:buChar char="•"/>
            </a:pPr>
            <a:r>
              <a:rPr lang="en-US" sz="1700" dirty="0">
                <a:solidFill>
                  <a:srgbClr val="000000"/>
                </a:solidFill>
              </a:rPr>
              <a:t>Expands the node with the lowest h(n), the straight-line distance to the destination, and ignores the cost already travelled.</a:t>
            </a:r>
            <a:endParaRPr lang="en-US" sz="1700" dirty="0"/>
          </a:p>
          <a:p>
            <a:pPr marL="254000" indent="-254000">
              <a:spcAft>
                <a:spcPts val="300"/>
              </a:spcAft>
              <a:buSzPct val="100000"/>
              <a:buChar char="•"/>
            </a:pPr>
            <a:r>
              <a:rPr lang="en-US" sz="1700" dirty="0">
                <a:solidFill>
                  <a:srgbClr val="000000"/>
                </a:solidFill>
              </a:rPr>
              <a:t>Strengths: very fast, low memory, suits urgent decisions.</a:t>
            </a:r>
            <a:endParaRPr lang="en-US" sz="1700" dirty="0"/>
          </a:p>
          <a:p>
            <a:pPr marL="254000" indent="-254000">
              <a:spcAft>
                <a:spcPts val="300"/>
              </a:spcAft>
              <a:buSzPct val="100000"/>
              <a:buChar char="•"/>
            </a:pPr>
            <a:r>
              <a:rPr lang="en-US" sz="1700" dirty="0">
                <a:solidFill>
                  <a:srgbClr val="000000"/>
                </a:solidFill>
              </a:rPr>
              <a:t>Weaknesses: not optimal or complete; may fly toward flooded or blocked areas, ignores weather and terrain cost, can loop in dead ends.</a:t>
            </a:r>
            <a:endParaRPr lang="en-US" sz="1700" dirty="0"/>
          </a:p>
          <a:p>
            <a:pPr marL="0" indent="0">
              <a:spcBef>
                <a:spcPts val="1400"/>
              </a:spcBef>
              <a:spcAft>
                <a:spcPts val="400"/>
              </a:spcAft>
              <a:buNone/>
            </a:pPr>
            <a:r>
              <a:rPr lang="en-US" sz="2000" b="1" dirty="0">
                <a:solidFill>
                  <a:srgbClr val="000000"/>
                </a:solidFill>
              </a:rPr>
              <a:t>ii.  A*</a:t>
            </a:r>
            <a:endParaRPr lang="en-US" sz="1700" dirty="0"/>
          </a:p>
          <a:p>
            <a:pPr marL="254000" indent="-254000">
              <a:spcAft>
                <a:spcPts val="300"/>
              </a:spcAft>
              <a:buSzPct val="100000"/>
              <a:buChar char="•"/>
            </a:pPr>
            <a:r>
              <a:rPr lang="en-US" sz="1700" dirty="0">
                <a:solidFill>
                  <a:srgbClr val="000000"/>
                </a:solidFill>
              </a:rPr>
              <a:t>Expands the node with the lowest f(n) = g(n) + h(n): g is the actual cost so far (terrain, weather, risk), h is the straight-line estimate.</a:t>
            </a:r>
            <a:endParaRPr lang="en-US" sz="1700" dirty="0"/>
          </a:p>
          <a:p>
            <a:pPr marL="254000" indent="-254000">
              <a:spcAft>
                <a:spcPts val="300"/>
              </a:spcAft>
              <a:buSzPct val="100000"/>
              <a:buChar char="•"/>
            </a:pPr>
            <a:r>
              <a:rPr lang="en-US" sz="1700" dirty="0">
                <a:solidFill>
                  <a:srgbClr val="000000"/>
                </a:solidFill>
              </a:rPr>
              <a:t>h pulls the drone toward the goal while g penalises costly or risky legs, so routes that merely look close are avoided.</a:t>
            </a:r>
            <a:endParaRPr lang="en-US" sz="1700" dirty="0"/>
          </a:p>
          <a:p>
            <a:pPr marL="254000" indent="-254000">
              <a:spcAft>
                <a:spcPts val="300"/>
              </a:spcAft>
              <a:buSzPct val="100000"/>
              <a:buChar char="•"/>
            </a:pPr>
            <a:r>
              <a:rPr lang="en-US" sz="1700" dirty="0">
                <a:solidFill>
                  <a:srgbClr val="000000"/>
                </a:solidFill>
              </a:rPr>
              <a:t>With an admissible h (never overestimates), A* is optimal and complete.</a:t>
            </a:r>
            <a:endParaRPr lang="en-US" sz="1700" dirty="0"/>
          </a:p>
          <a:p>
            <a:pPr marL="0" indent="0">
              <a:spcBef>
                <a:spcPts val="1400"/>
              </a:spcBef>
              <a:spcAft>
                <a:spcPts val="400"/>
              </a:spcAft>
              <a:buNone/>
            </a:pPr>
            <a:r>
              <a:rPr lang="en-US" sz="2000" b="1" dirty="0">
                <a:solidFill>
                  <a:srgbClr val="000000"/>
                </a:solidFill>
              </a:rPr>
              <a:t>iii.  Impact of heuristic accuracy</a:t>
            </a:r>
            <a:endParaRPr lang="en-US" sz="1700" dirty="0"/>
          </a:p>
          <a:p>
            <a:pPr marL="254000" indent="-254000">
              <a:spcAft>
                <a:spcPts val="300"/>
              </a:spcAft>
              <a:buSzPct val="100000"/>
              <a:buChar char="•"/>
            </a:pPr>
            <a:r>
              <a:rPr lang="en-US" sz="1700" dirty="0">
                <a:solidFill>
                  <a:srgbClr val="000000"/>
                </a:solidFill>
              </a:rPr>
              <a:t>Greedy depends entirely on h: a poor h gives poor routes, with no safety net.</a:t>
            </a:r>
            <a:endParaRPr lang="en-US" sz="1700" dirty="0"/>
          </a:p>
          <a:p>
            <a:pPr marL="254000" indent="-254000">
              <a:spcAft>
                <a:spcPts val="300"/>
              </a:spcAft>
              <a:buSzPct val="100000"/>
              <a:buChar char="•"/>
            </a:pPr>
            <a:r>
              <a:rPr lang="en-US" sz="1700" dirty="0">
                <a:solidFill>
                  <a:srgbClr val="000000"/>
                </a:solidFill>
              </a:rPr>
              <a:t>A* is protected by g(n): a poor h only costs extra expansions while h stays admissible; a more accurate h means fewer nodes expanded.</a:t>
            </a:r>
            <a:endParaRPr lang="en-US" sz="1700" dirty="0"/>
          </a:p>
          <a:p>
            <a:pPr marL="254000" indent="-254000">
              <a:spcAft>
                <a:spcPts val="300"/>
              </a:spcAft>
              <a:buSzPct val="100000"/>
              <a:buChar char="•"/>
            </a:pPr>
            <a:r>
              <a:rPr lang="en-US" sz="1700" dirty="0">
                <a:solidFill>
                  <a:srgbClr val="000000"/>
                </a:solidFill>
              </a:rPr>
              <a:t>Straight-line distance underestimates when detours are forced, so A* stays correct but explores more.</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731520"/>
          </a:xfrm>
          <a:prstGeom prst="rect">
            <a:avLst/>
          </a:prstGeom>
          <a:noFill/>
          <a:ln/>
        </p:spPr>
        <p:txBody>
          <a:bodyPr wrap="square" rtlCol="0" anchor="ctr"/>
          <a:lstStyle/>
          <a:p>
            <a:pPr marL="0" indent="0" algn="ctr">
              <a:buNone/>
            </a:pPr>
            <a:endParaRPr lang="en-US" sz="2800" dirty="0"/>
          </a:p>
        </p:txBody>
      </p:sp>
      <p:sp>
        <p:nvSpPr>
          <p:cNvPr id="3" name="Answer body"/>
          <p:cNvSpPr txBox="1"/>
          <p:nvPr/>
        </p:nvSpPr>
        <p:spPr>
          <a:xfrm>
            <a:off x="548640" y="1280160"/>
            <a:ext cx="11091672" cy="4983480"/>
          </a:xfrm>
          <a:prstGeom prst="rect">
            <a:avLst/>
          </a:prstGeom>
          <a:noFill/>
          <a:ln/>
        </p:spPr>
        <p:txBody>
          <a:bodyPr wrap="square" lIns="0" tIns="0" rIns="0" bIns="0" rtlCol="0" anchor="t"/>
          <a:lstStyle/>
          <a:p>
            <a:pPr marL="0" indent="0">
              <a:spcAft>
                <a:spcPts val="400"/>
              </a:spcAft>
              <a:buNone/>
            </a:pPr>
            <a:r>
              <a:rPr lang="en-US" sz="2300" b="1" dirty="0">
                <a:solidFill>
                  <a:srgbClr val="000000"/>
                </a:solidFill>
              </a:rPr>
              <a:t>iv.  Dynamic changes (blocked paths)</a:t>
            </a:r>
            <a:endParaRPr lang="en-US" sz="2000" dirty="0"/>
          </a:p>
          <a:p>
            <a:pPr marL="254000" indent="-254000">
              <a:spcAft>
                <a:spcPts val="300"/>
              </a:spcAft>
              <a:buSzPct val="100000"/>
              <a:buChar char="•"/>
            </a:pPr>
            <a:r>
              <a:rPr lang="en-US" sz="2000" dirty="0">
                <a:solidFill>
                  <a:srgbClr val="000000"/>
                </a:solidFill>
              </a:rPr>
              <a:t>A blocked path invalidates the current plan, so the drone must replan.</a:t>
            </a:r>
            <a:endParaRPr lang="en-US" sz="2000" dirty="0"/>
          </a:p>
          <a:p>
            <a:pPr marL="254000" indent="-254000">
              <a:spcAft>
                <a:spcPts val="300"/>
              </a:spcAft>
              <a:buSzPct val="100000"/>
              <a:buChar char="•"/>
            </a:pPr>
            <a:r>
              <a:rPr lang="en-US" sz="2000" dirty="0">
                <a:solidFill>
                  <a:srgbClr val="000000"/>
                </a:solidFill>
              </a:rPr>
              <a:t>Greedy: replans cheaply but may repeatedly walk into new blocks.</a:t>
            </a:r>
            <a:endParaRPr lang="en-US" sz="2000" dirty="0"/>
          </a:p>
          <a:p>
            <a:pPr marL="254000" indent="-254000">
              <a:spcAft>
                <a:spcPts val="300"/>
              </a:spcAft>
              <a:buSzPct val="100000"/>
              <a:buChar char="•"/>
            </a:pPr>
            <a:r>
              <a:rPr lang="en-US" sz="2000" dirty="0">
                <a:solidFill>
                  <a:srgbClr val="000000"/>
                </a:solidFill>
              </a:rPr>
              <a:t>A*: recomputation costs more but stays cost-aware; D* Lite and LPA* reuse earlier work and repair the path incrementally.</a:t>
            </a:r>
            <a:endParaRPr lang="en-US" sz="2000" dirty="0"/>
          </a:p>
          <a:p>
            <a:pPr marL="0" indent="0">
              <a:spcBef>
                <a:spcPts val="1400"/>
              </a:spcBef>
              <a:spcAft>
                <a:spcPts val="400"/>
              </a:spcAft>
              <a:buNone/>
            </a:pPr>
            <a:r>
              <a:rPr lang="en-US" sz="2300" b="1" dirty="0">
                <a:solidFill>
                  <a:srgbClr val="000000"/>
                </a:solidFill>
              </a:rPr>
              <a:t>v.  Recommendation: A* (ideally D* Lite or Weighted A*)</a:t>
            </a:r>
            <a:endParaRPr lang="en-US" sz="2000" dirty="0"/>
          </a:p>
          <a:p>
            <a:pPr marL="254000" indent="-254000">
              <a:spcAft>
                <a:spcPts val="300"/>
              </a:spcAft>
              <a:buSzPct val="100000"/>
              <a:buChar char="•"/>
            </a:pPr>
            <a:r>
              <a:rPr lang="en-US" sz="2000" dirty="0">
                <a:solidFill>
                  <a:srgbClr val="000000"/>
                </a:solidFill>
              </a:rPr>
              <a:t>Safety and optimality: add a risk term to g(n) to get near-optimal routes that avoid dangerous terrain.</a:t>
            </a:r>
            <a:endParaRPr lang="en-US" sz="2000" dirty="0"/>
          </a:p>
          <a:p>
            <a:pPr marL="254000" indent="-254000">
              <a:spcAft>
                <a:spcPts val="300"/>
              </a:spcAft>
              <a:buSzPct val="100000"/>
              <a:buChar char="•"/>
            </a:pPr>
            <a:r>
              <a:rPr lang="en-US" sz="2000" dirty="0">
                <a:solidFill>
                  <a:srgbClr val="000000"/>
                </a:solidFill>
              </a:rPr>
              <a:t>Real-time: incremental replanning is fast enough for a changing environment.</a:t>
            </a:r>
            <a:endParaRPr lang="en-US" sz="2000" dirty="0"/>
          </a:p>
          <a:p>
            <a:pPr marL="254000" indent="-254000">
              <a:spcAft>
                <a:spcPts val="300"/>
              </a:spcAft>
              <a:buSzPct val="100000"/>
              <a:buChar char="•"/>
            </a:pPr>
            <a:r>
              <a:rPr lang="en-US" sz="2000" dirty="0">
                <a:solidFill>
                  <a:srgbClr val="000000"/>
                </a:solidFill>
              </a:rPr>
              <a:t>Greedy's speed is not worth the risk of failing to deliver the medicine.</a:t>
            </a:r>
            <a:endParaRPr lang="en-US" sz="2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731520"/>
          </a:xfrm>
          <a:prstGeom prst="rect">
            <a:avLst/>
          </a:prstGeom>
          <a:noFill/>
          <a:ln/>
        </p:spPr>
        <p:txBody>
          <a:bodyPr wrap="square" rtlCol="0" anchor="ctr"/>
          <a:lstStyle/>
          <a:p>
            <a:pPr marL="0" indent="0" algn="ctr">
              <a:buNone/>
            </a:pPr>
            <a:r>
              <a:rPr lang="en-US" sz="2800" b="1" dirty="0">
                <a:solidFill>
                  <a:schemeClr val="tx1"/>
                </a:solidFill>
              </a:rPr>
              <a:t>Scenario Based Assignment</a:t>
            </a:r>
            <a:endParaRPr lang="en-US" sz="2800" dirty="0"/>
          </a:p>
        </p:txBody>
      </p:sp>
      <p:sp>
        <p:nvSpPr>
          <p:cNvPr id="3" name="Annexure label"/>
          <p:cNvSpPr txBox="1"/>
          <p:nvPr/>
        </p:nvSpPr>
        <p:spPr>
          <a:xfrm>
            <a:off x="548640" y="164592"/>
            <a:ext cx="11091672" cy="274320"/>
          </a:xfrm>
          <a:prstGeom prst="rect">
            <a:avLst/>
          </a:prstGeom>
          <a:noFill/>
          <a:ln/>
        </p:spPr>
        <p:txBody>
          <a:bodyPr wrap="square" lIns="0" tIns="0" rIns="0" bIns="0" rtlCol="0" anchor="ctr"/>
          <a:lstStyle/>
          <a:p>
            <a:pPr marL="0" indent="0" algn="ctr">
              <a:buNone/>
            </a:pPr>
            <a:r>
              <a:rPr lang="en-US" sz="1200" dirty="0">
                <a:solidFill>
                  <a:srgbClr val="000000"/>
                </a:solidFill>
              </a:rPr>
              <a:t>Annexure A</a:t>
            </a:r>
            <a:endParaRPr lang="en-US" sz="1200" dirty="0"/>
          </a:p>
        </p:txBody>
      </p:sp>
      <p:sp>
        <p:nvSpPr>
          <p:cNvPr id="4" name="Scenario and tasks"/>
          <p:cNvSpPr txBox="1"/>
          <p:nvPr/>
        </p:nvSpPr>
        <p:spPr>
          <a:xfrm>
            <a:off x="548640" y="1280160"/>
            <a:ext cx="11091672" cy="4983480"/>
          </a:xfrm>
          <a:prstGeom prst="rect">
            <a:avLst/>
          </a:prstGeom>
          <a:noFill/>
          <a:ln/>
        </p:spPr>
        <p:txBody>
          <a:bodyPr wrap="square" lIns="0" tIns="0" rIns="0" bIns="0" rtlCol="0" anchor="t"/>
          <a:lstStyle/>
          <a:p>
            <a:pPr marL="0" indent="0">
              <a:buNone/>
            </a:pPr>
            <a:r>
              <a:rPr lang="en-US" sz="2000" b="1" dirty="0">
                <a:solidFill>
                  <a:srgbClr val="000000"/>
                </a:solidFill>
              </a:rPr>
              <a:t>2. Scenario: </a:t>
            </a:r>
            <a:r>
              <a:rPr lang="en-US" sz="2000" dirty="0">
                <a:solidFill>
                  <a:srgbClr val="000000"/>
                </a:solidFill>
              </a:rPr>
              <a:t>A smart city implements an AI system to optimize traffic signal timings across hundreds of intersections. The objective is to minimize total waiting time, fuel consumption and traffic congestion. The system must continuously adjust signals based on traffic flow. However, the search space is extremely large, traffic patterns change dynamically and the system may get stuck in locally optimal solutions.</a:t>
            </a:r>
            <a:endParaRPr lang="en-US" sz="2000" dirty="0"/>
          </a:p>
          <a:p>
            <a:pPr marL="0" indent="0">
              <a:spcAft>
                <a:spcPts val="400"/>
              </a:spcAft>
              <a:buNone/>
            </a:pPr>
            <a:r>
              <a:rPr lang="en-US" sz="2000" dirty="0">
                <a:solidFill>
                  <a:srgbClr val="000000"/>
                </a:solidFill>
              </a:rPr>
              <a:t>Tasks: Formulate this as an optimization problem and explain why traditional search is inefficient</a:t>
            </a:r>
            <a:endParaRPr lang="en-US" sz="2000" dirty="0"/>
          </a:p>
          <a:p>
            <a:pPr marL="406400" indent="-406400">
              <a:spcAft>
                <a:spcPts val="400"/>
              </a:spcAft>
              <a:buSzPct val="100000"/>
              <a:buFont typeface="+mj-lt"/>
              <a:buAutoNum type="romanLcPeriod"/>
            </a:pPr>
            <a:r>
              <a:rPr lang="en-US" sz="2000" dirty="0">
                <a:solidFill>
                  <a:srgbClr val="000000"/>
                </a:solidFill>
              </a:rPr>
              <a:t>Explain how Hill Climbing would work in this scenario and identify its limitations</a:t>
            </a:r>
            <a:endParaRPr lang="en-US" sz="2000" dirty="0"/>
          </a:p>
          <a:p>
            <a:pPr marL="406400" indent="-406400">
              <a:spcAft>
                <a:spcPts val="400"/>
              </a:spcAft>
              <a:buSzPct val="100000"/>
              <a:buFont typeface="+mj-lt"/>
              <a:buAutoNum type="romanLcPeriod"/>
            </a:pPr>
            <a:r>
              <a:rPr lang="en-US" sz="2000" dirty="0">
                <a:solidFill>
                  <a:srgbClr val="000000"/>
                </a:solidFill>
              </a:rPr>
              <a:t>Discuss issues like local maxima, plateaus, and ridges with real-world interpretation</a:t>
            </a:r>
            <a:endParaRPr lang="en-US" sz="2000" dirty="0"/>
          </a:p>
          <a:p>
            <a:pPr marL="406400" indent="-406400">
              <a:spcAft>
                <a:spcPts val="400"/>
              </a:spcAft>
              <a:buSzPct val="100000"/>
              <a:buFont typeface="+mj-lt"/>
              <a:buAutoNum type="romanLcPeriod"/>
            </a:pPr>
            <a:r>
              <a:rPr lang="en-US" sz="2000" dirty="0">
                <a:solidFill>
                  <a:srgbClr val="000000"/>
                </a:solidFill>
              </a:rPr>
              <a:t>Explain how Simulated Annealing or Genetic Algorithms can overcome these limitations</a:t>
            </a:r>
            <a:endParaRPr lang="en-US" sz="2000" dirty="0"/>
          </a:p>
          <a:p>
            <a:pPr marL="406400" indent="-406400">
              <a:spcAft>
                <a:spcPts val="400"/>
              </a:spcAft>
              <a:buSzPct val="100000"/>
              <a:buFont typeface="+mj-lt"/>
              <a:buAutoNum type="romanLcPeriod"/>
            </a:pPr>
            <a:r>
              <a:rPr lang="en-US" sz="2000" dirty="0">
                <a:solidFill>
                  <a:srgbClr val="000000"/>
                </a:solidFill>
              </a:rPr>
              <a:t>Recommend the best approach and justify your choice based on scalability and adaptability</a:t>
            </a:r>
            <a:endParaRPr lang="en-US" sz="2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731520"/>
          </a:xfrm>
          <a:prstGeom prst="rect">
            <a:avLst/>
          </a:prstGeom>
          <a:noFill/>
          <a:ln/>
        </p:spPr>
        <p:txBody>
          <a:bodyPr wrap="square" rtlCol="0" anchor="ctr"/>
          <a:lstStyle/>
          <a:p>
            <a:pPr marL="0" indent="0" algn="ctr">
              <a:buNone/>
            </a:pPr>
            <a:r>
              <a:rPr lang="en-US" sz="2800" b="1" dirty="0">
                <a:solidFill>
                  <a:schemeClr val="tx1"/>
                </a:solidFill>
              </a:rPr>
              <a:t>Answer 2: Traffic Signal Optimization (Formulation, i–ii)</a:t>
            </a:r>
            <a:endParaRPr lang="en-US" sz="2800" dirty="0"/>
          </a:p>
        </p:txBody>
      </p:sp>
      <p:sp>
        <p:nvSpPr>
          <p:cNvPr id="3" name="Answer body"/>
          <p:cNvSpPr txBox="1"/>
          <p:nvPr/>
        </p:nvSpPr>
        <p:spPr>
          <a:xfrm>
            <a:off x="548640" y="1280160"/>
            <a:ext cx="11091672" cy="4983480"/>
          </a:xfrm>
          <a:prstGeom prst="rect">
            <a:avLst/>
          </a:prstGeom>
          <a:noFill/>
          <a:ln/>
        </p:spPr>
        <p:txBody>
          <a:bodyPr wrap="square" lIns="0" tIns="0" rIns="0" bIns="0" rtlCol="0" anchor="t"/>
          <a:lstStyle/>
          <a:p>
            <a:pPr marL="0" indent="0">
              <a:spcAft>
                <a:spcPts val="400"/>
              </a:spcAft>
              <a:buNone/>
            </a:pPr>
            <a:r>
              <a:rPr lang="en-US" sz="2100" b="1" dirty="0">
                <a:solidFill>
                  <a:srgbClr val="000000"/>
                </a:solidFill>
              </a:rPr>
              <a:t>Formulation as an optimization problem</a:t>
            </a:r>
            <a:endParaRPr lang="en-US" sz="1800" dirty="0"/>
          </a:p>
          <a:p>
            <a:pPr marL="254000" indent="-254000">
              <a:spcAft>
                <a:spcPts val="300"/>
              </a:spcAft>
              <a:buSzPct val="100000"/>
              <a:buChar char="•"/>
            </a:pPr>
            <a:r>
              <a:rPr lang="en-US" sz="1800" dirty="0">
                <a:solidFill>
                  <a:srgbClr val="000000"/>
                </a:solidFill>
              </a:rPr>
              <a:t>State: signal timing plan (green durations and offsets) for all intersections.</a:t>
            </a:r>
            <a:endParaRPr lang="en-US" sz="1800" dirty="0"/>
          </a:p>
          <a:p>
            <a:pPr marL="254000" indent="-254000">
              <a:spcAft>
                <a:spcPts val="300"/>
              </a:spcAft>
              <a:buSzPct val="100000"/>
              <a:buChar char="•"/>
            </a:pPr>
            <a:r>
              <a:rPr lang="en-US" sz="1800" dirty="0">
                <a:solidFill>
                  <a:srgbClr val="000000"/>
                </a:solidFill>
              </a:rPr>
              <a:t>Objective: minimise f = w1·waiting time + w2·fuel + w3·congestion; a neighbour is the plan with one signal's timing changed.</a:t>
            </a:r>
            <a:endParaRPr lang="en-US" sz="1800" dirty="0"/>
          </a:p>
          <a:p>
            <a:pPr marL="254000" indent="-254000">
              <a:spcAft>
                <a:spcPts val="300"/>
              </a:spcAft>
              <a:buSzPct val="100000"/>
              <a:buChar char="•"/>
            </a:pPr>
            <a:r>
              <a:rPr lang="en-US" sz="1800" dirty="0">
                <a:solidFill>
                  <a:srgbClr val="000000"/>
                </a:solidFill>
              </a:rPr>
              <a:t>Why traditional search fails: n intersections with k timings give k^n plans; the problem is continuous and dynamic with no single goal state, so exhaustive search is too slow.</a:t>
            </a:r>
            <a:endParaRPr lang="en-US" sz="1800" dirty="0"/>
          </a:p>
          <a:p>
            <a:pPr marL="0" indent="0">
              <a:spcBef>
                <a:spcPts val="1400"/>
              </a:spcBef>
              <a:spcAft>
                <a:spcPts val="400"/>
              </a:spcAft>
              <a:buNone/>
            </a:pPr>
            <a:r>
              <a:rPr lang="en-US" sz="2100" b="1" dirty="0">
                <a:solidFill>
                  <a:srgbClr val="000000"/>
                </a:solidFill>
              </a:rPr>
              <a:t>i.  Hill Climbing</a:t>
            </a:r>
            <a:endParaRPr lang="en-US" sz="1800" dirty="0"/>
          </a:p>
          <a:p>
            <a:pPr marL="254000" indent="-254000">
              <a:spcAft>
                <a:spcPts val="300"/>
              </a:spcAft>
              <a:buSzPct val="100000"/>
              <a:buChar char="•"/>
            </a:pPr>
            <a:r>
              <a:rPr lang="en-US" sz="1800" dirty="0">
                <a:solidFill>
                  <a:srgbClr val="000000"/>
                </a:solidFill>
              </a:rPr>
              <a:t>Start with a timing plan and repeatedly move to the best neighbouring plan; stop when no neighbour is better.</a:t>
            </a:r>
            <a:endParaRPr lang="en-US" sz="1800" dirty="0"/>
          </a:p>
          <a:p>
            <a:pPr marL="254000" indent="-254000">
              <a:spcAft>
                <a:spcPts val="300"/>
              </a:spcAft>
              <a:buSzPct val="100000"/>
              <a:buChar char="•"/>
            </a:pPr>
            <a:r>
              <a:rPr lang="en-US" sz="1800" dirty="0">
                <a:solidFill>
                  <a:srgbClr val="000000"/>
                </a:solidFill>
              </a:rPr>
              <a:t>Fast and memory-light, but it can stall at local optima and is not complete.</a:t>
            </a:r>
            <a:endParaRPr lang="en-US" sz="1800" dirty="0"/>
          </a:p>
          <a:p>
            <a:pPr marL="0" indent="0">
              <a:spcBef>
                <a:spcPts val="1400"/>
              </a:spcBef>
              <a:spcAft>
                <a:spcPts val="400"/>
              </a:spcAft>
              <a:buNone/>
            </a:pPr>
            <a:r>
              <a:rPr lang="en-US" sz="2100" b="1" dirty="0">
                <a:solidFill>
                  <a:srgbClr val="000000"/>
                </a:solidFill>
              </a:rPr>
              <a:t>ii.  Local maxima, plateaus and ridges</a:t>
            </a:r>
            <a:endParaRPr lang="en-US" sz="1800" dirty="0"/>
          </a:p>
          <a:p>
            <a:pPr marL="254000" indent="-254000">
              <a:spcAft>
                <a:spcPts val="300"/>
              </a:spcAft>
              <a:buSzPct val="100000"/>
              <a:buChar char="•"/>
            </a:pPr>
            <a:r>
              <a:rPr lang="en-US" sz="1800" dirty="0">
                <a:solidFill>
                  <a:srgbClr val="000000"/>
                </a:solidFill>
              </a:rPr>
              <a:t>Local maximum: tweaking any one signal worsens delay, though a far better global plan exists.</a:t>
            </a:r>
            <a:endParaRPr lang="en-US" sz="1800" dirty="0"/>
          </a:p>
          <a:p>
            <a:pPr marL="254000" indent="-254000">
              <a:spcAft>
                <a:spcPts val="300"/>
              </a:spcAft>
              <a:buSzPct val="100000"/>
              <a:buChar char="•"/>
            </a:pPr>
            <a:r>
              <a:rPr lang="en-US" sz="1800" dirty="0">
                <a:solidFill>
                  <a:srgbClr val="000000"/>
                </a:solidFill>
              </a:rPr>
              <a:t>Plateau: many timings give the same delay, so there is no direction to move.</a:t>
            </a:r>
            <a:endParaRPr lang="en-US" sz="1800" dirty="0"/>
          </a:p>
          <a:p>
            <a:pPr marL="254000" indent="-254000">
              <a:spcAft>
                <a:spcPts val="300"/>
              </a:spcAft>
              <a:buSzPct val="100000"/>
              <a:buChar char="•"/>
            </a:pPr>
            <a:r>
              <a:rPr lang="en-US" sz="1800" dirty="0">
                <a:solidFill>
                  <a:srgbClr val="000000"/>
                </a:solidFill>
              </a:rPr>
              <a:t>Ridge: improvement needs several signals to change together (a "green wave"); single-signal moves look worse.</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Answer body"/>
          <p:cNvSpPr txBox="1"/>
          <p:nvPr/>
        </p:nvSpPr>
        <p:spPr>
          <a:xfrm>
            <a:off x="548640" y="1280160"/>
            <a:ext cx="11091672" cy="4983480"/>
          </a:xfrm>
          <a:prstGeom prst="rect">
            <a:avLst/>
          </a:prstGeom>
          <a:noFill/>
          <a:ln/>
        </p:spPr>
        <p:txBody>
          <a:bodyPr wrap="square" lIns="0" tIns="0" rIns="0" bIns="0" rtlCol="0" anchor="t"/>
          <a:lstStyle/>
          <a:p>
            <a:pPr marL="0" indent="0">
              <a:spcAft>
                <a:spcPts val="400"/>
              </a:spcAft>
              <a:buNone/>
            </a:pPr>
            <a:r>
              <a:rPr lang="en-US" sz="2300" b="1" dirty="0">
                <a:solidFill>
                  <a:srgbClr val="000000"/>
                </a:solidFill>
              </a:rPr>
              <a:t>iii.  Overcoming the limitations</a:t>
            </a:r>
            <a:endParaRPr lang="en-US" sz="2000" dirty="0"/>
          </a:p>
          <a:p>
            <a:pPr marL="254000" indent="-254000">
              <a:spcAft>
                <a:spcPts val="300"/>
              </a:spcAft>
              <a:buSzPct val="100000"/>
              <a:buChar char="•"/>
            </a:pPr>
            <a:r>
              <a:rPr lang="en-US" sz="2000" dirty="0">
                <a:solidFill>
                  <a:srgbClr val="000000"/>
                </a:solidFill>
              </a:rPr>
              <a:t>Simulated Annealing: accepts worse moves with probability e^(−ΔE/T) while T cools over time, so it can escape local optima.</a:t>
            </a:r>
            <a:endParaRPr lang="en-US" sz="2000" dirty="0"/>
          </a:p>
          <a:p>
            <a:pPr marL="254000" indent="-254000">
              <a:spcAft>
                <a:spcPts val="300"/>
              </a:spcAft>
              <a:buSzPct val="100000"/>
              <a:buChar char="•"/>
            </a:pPr>
            <a:r>
              <a:rPr lang="en-US" sz="2000" dirty="0">
                <a:solidFill>
                  <a:srgbClr val="000000"/>
                </a:solidFill>
              </a:rPr>
              <a:t>Genetic Algorithms: keep a population of plans and use crossover, mutation and selection; they explore many regions in parallel and combine good sub-plans from different areas.</a:t>
            </a:r>
            <a:endParaRPr lang="en-US" sz="2000" dirty="0"/>
          </a:p>
          <a:p>
            <a:pPr marL="0" indent="0">
              <a:spcBef>
                <a:spcPts val="1400"/>
              </a:spcBef>
              <a:spcAft>
                <a:spcPts val="400"/>
              </a:spcAft>
              <a:buNone/>
            </a:pPr>
            <a:r>
              <a:rPr lang="en-US" sz="2300" b="1" dirty="0">
                <a:solidFill>
                  <a:srgbClr val="000000"/>
                </a:solidFill>
              </a:rPr>
              <a:t>iv.  Recommendation: Genetic Algorithm (hybridised with local search)</a:t>
            </a:r>
            <a:endParaRPr lang="en-US" sz="2000" dirty="0"/>
          </a:p>
          <a:p>
            <a:pPr marL="254000" indent="-254000">
              <a:spcAft>
                <a:spcPts val="300"/>
              </a:spcAft>
              <a:buSzPct val="100000"/>
              <a:buChar char="•"/>
            </a:pPr>
            <a:r>
              <a:rPr lang="en-US" sz="2000" dirty="0">
                <a:solidFill>
                  <a:srgbClr val="000000"/>
                </a:solidFill>
              </a:rPr>
              <a:t>Scalability: parallelisable and handles hundreds of intersections.</a:t>
            </a:r>
            <a:endParaRPr lang="en-US" sz="2000" dirty="0"/>
          </a:p>
          <a:p>
            <a:pPr marL="254000" indent="-254000">
              <a:spcAft>
                <a:spcPts val="300"/>
              </a:spcAft>
              <a:buSzPct val="100000"/>
              <a:buChar char="•"/>
            </a:pPr>
            <a:r>
              <a:rPr lang="en-US" sz="2000" dirty="0">
                <a:solidFill>
                  <a:srgbClr val="000000"/>
                </a:solidFill>
              </a:rPr>
              <a:t>Adaptability: re-evolve from the current population when traffic patterns change.</a:t>
            </a:r>
            <a:endParaRPr lang="en-US" sz="2000" dirty="0"/>
          </a:p>
          <a:p>
            <a:pPr marL="254000" indent="-254000">
              <a:spcAft>
                <a:spcPts val="300"/>
              </a:spcAft>
              <a:buSzPct val="100000"/>
              <a:buChar char="•"/>
            </a:pPr>
            <a:r>
              <a:rPr lang="en-US" sz="2000" dirty="0">
                <a:solidFill>
                  <a:srgbClr val="000000"/>
                </a:solidFill>
              </a:rPr>
              <a:t>Simulated Annealing is a simpler choice for smaller zones.</a:t>
            </a:r>
            <a:endParaRPr lang="en-US" sz="2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
        <p:nvSpPr>
          <p:cNvPr id="5" name="Title 4">
            <a:extLst>
              <a:ext uri="{FF2B5EF4-FFF2-40B4-BE49-F238E27FC236}">
                <a16:creationId xmlns:a16="http://schemas.microsoft.com/office/drawing/2014/main" id="{6FB558D6-5DF3-3BB4-5E2E-B7D15EDAB4A4}"/>
              </a:ext>
            </a:extLst>
          </p:cNvPr>
          <p:cNvSpPr>
            <a:spLocks noGrp="1"/>
          </p:cNvSpPr>
          <p:nvPr>
            <p:ph type="title" idx="100"/>
          </p:nvPr>
        </p:nvSpPr>
        <p:spPr/>
        <p:txBody>
          <a:bodyPr/>
          <a:lstStyle/>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731520"/>
          </a:xfrm>
          <a:prstGeom prst="rect">
            <a:avLst/>
          </a:prstGeom>
          <a:noFill/>
          <a:ln/>
        </p:spPr>
        <p:txBody>
          <a:bodyPr wrap="square" rtlCol="0" anchor="ctr"/>
          <a:lstStyle/>
          <a:p>
            <a:pPr marL="0" indent="0" algn="ctr">
              <a:buNone/>
            </a:pPr>
            <a:r>
              <a:rPr lang="en-US" sz="2800" b="1" dirty="0">
                <a:solidFill>
                  <a:schemeClr val="tx1"/>
                </a:solidFill>
              </a:rPr>
              <a:t>Scenario Based Assignment</a:t>
            </a:r>
            <a:endParaRPr lang="en-US" sz="2800" dirty="0"/>
          </a:p>
        </p:txBody>
      </p:sp>
      <p:sp>
        <p:nvSpPr>
          <p:cNvPr id="3" name="Annexure label"/>
          <p:cNvSpPr txBox="1"/>
          <p:nvPr/>
        </p:nvSpPr>
        <p:spPr>
          <a:xfrm>
            <a:off x="548640" y="164592"/>
            <a:ext cx="11091672" cy="274320"/>
          </a:xfrm>
          <a:prstGeom prst="rect">
            <a:avLst/>
          </a:prstGeom>
          <a:noFill/>
          <a:ln/>
        </p:spPr>
        <p:txBody>
          <a:bodyPr wrap="square" lIns="0" tIns="0" rIns="0" bIns="0" rtlCol="0" anchor="ctr"/>
          <a:lstStyle/>
          <a:p>
            <a:pPr marL="0" indent="0" algn="ctr">
              <a:buNone/>
            </a:pPr>
            <a:r>
              <a:rPr lang="en-US" sz="1200" dirty="0">
                <a:solidFill>
                  <a:srgbClr val="000000"/>
                </a:solidFill>
              </a:rPr>
              <a:t>Annexure A</a:t>
            </a:r>
            <a:endParaRPr lang="en-US" sz="1200" dirty="0"/>
          </a:p>
        </p:txBody>
      </p:sp>
      <p:sp>
        <p:nvSpPr>
          <p:cNvPr id="4" name="Scenario and tasks"/>
          <p:cNvSpPr txBox="1"/>
          <p:nvPr/>
        </p:nvSpPr>
        <p:spPr>
          <a:xfrm>
            <a:off x="548640" y="1280160"/>
            <a:ext cx="11091672" cy="4983480"/>
          </a:xfrm>
          <a:prstGeom prst="rect">
            <a:avLst/>
          </a:prstGeom>
          <a:noFill/>
          <a:ln/>
        </p:spPr>
        <p:txBody>
          <a:bodyPr wrap="square" lIns="0" tIns="0" rIns="0" bIns="0" rtlCol="0" anchor="t"/>
          <a:lstStyle/>
          <a:p>
            <a:pPr marL="0" indent="0">
              <a:buNone/>
            </a:pPr>
            <a:r>
              <a:rPr lang="en-US" sz="2000" b="1" dirty="0">
                <a:solidFill>
                  <a:srgbClr val="000000"/>
                </a:solidFill>
              </a:rPr>
              <a:t>3. Scenario: </a:t>
            </a:r>
            <a:r>
              <a:rPr lang="en-US" sz="2000" dirty="0">
                <a:solidFill>
                  <a:srgbClr val="000000"/>
                </a:solidFill>
              </a:rPr>
              <a:t>An autonomous rover is deployed on Mars to explore unknown terrain. It must: navigate safely to collect samples, avoid hazards (craters, rocks), operate with limited sensing capability and make decisions without a complete map. The rover updates its knowledge as it explores, making this a real-time decision-making problem.</a:t>
            </a:r>
            <a:endParaRPr lang="en-US" sz="2000" dirty="0"/>
          </a:p>
          <a:p>
            <a:pPr marL="0" indent="0">
              <a:spcAft>
                <a:spcPts val="400"/>
              </a:spcAft>
              <a:buNone/>
            </a:pPr>
            <a:r>
              <a:rPr lang="en-US" sz="2000" dirty="0">
                <a:solidFill>
                  <a:srgbClr val="000000"/>
                </a:solidFill>
              </a:rPr>
              <a:t>Tasks:</a:t>
            </a:r>
            <a:endParaRPr lang="en-US" sz="2000" dirty="0"/>
          </a:p>
          <a:p>
            <a:pPr marL="406400" indent="-406400">
              <a:spcAft>
                <a:spcPts val="400"/>
              </a:spcAft>
              <a:buSzPct val="100000"/>
              <a:buFont typeface="+mj-lt"/>
              <a:buAutoNum type="romanLcPeriod"/>
            </a:pPr>
            <a:r>
              <a:rPr lang="en-US" sz="2000" dirty="0">
                <a:solidFill>
                  <a:srgbClr val="000000"/>
                </a:solidFill>
              </a:rPr>
              <a:t>Explain why this problem requires an online search agent instead of offline search</a:t>
            </a:r>
            <a:endParaRPr lang="en-US" sz="2000" dirty="0"/>
          </a:p>
          <a:p>
            <a:pPr marL="406400" indent="-406400">
              <a:spcAft>
                <a:spcPts val="400"/>
              </a:spcAft>
              <a:buSzPct val="100000"/>
              <a:buFont typeface="+mj-lt"/>
              <a:buAutoNum type="romanLcPeriod"/>
            </a:pPr>
            <a:r>
              <a:rPr lang="en-US" sz="2000" dirty="0">
                <a:solidFill>
                  <a:srgbClr val="000000"/>
                </a:solidFill>
              </a:rPr>
              <a:t>Analyze the challenges of partial observability and dynamic environments</a:t>
            </a:r>
            <a:endParaRPr lang="en-US" sz="2000" dirty="0"/>
          </a:p>
          <a:p>
            <a:pPr marL="406400" indent="-406400">
              <a:spcAft>
                <a:spcPts val="400"/>
              </a:spcAft>
              <a:buSzPct val="100000"/>
              <a:buFont typeface="+mj-lt"/>
              <a:buAutoNum type="romanLcPeriod"/>
            </a:pPr>
            <a:r>
              <a:rPr lang="en-US" sz="2000" dirty="0">
                <a:solidFill>
                  <a:srgbClr val="000000"/>
                </a:solidFill>
              </a:rPr>
              <a:t>Describe how the rover builds and updates its internal model</a:t>
            </a:r>
            <a:endParaRPr lang="en-US" sz="2000" dirty="0"/>
          </a:p>
          <a:p>
            <a:pPr marL="406400" indent="-406400">
              <a:spcAft>
                <a:spcPts val="400"/>
              </a:spcAft>
              <a:buSzPct val="100000"/>
              <a:buFont typeface="+mj-lt"/>
              <a:buAutoNum type="romanLcPeriod"/>
            </a:pPr>
            <a:r>
              <a:rPr lang="en-US" sz="2000" dirty="0">
                <a:solidFill>
                  <a:srgbClr val="000000"/>
                </a:solidFill>
              </a:rPr>
              <a:t>Compare online search with uninformed and informed search strategies</a:t>
            </a:r>
            <a:endParaRPr lang="en-US" sz="2000" dirty="0"/>
          </a:p>
          <a:p>
            <a:pPr marL="406400" indent="-406400">
              <a:spcAft>
                <a:spcPts val="400"/>
              </a:spcAft>
              <a:buSzPct val="100000"/>
              <a:buFont typeface="+mj-lt"/>
              <a:buAutoNum type="romanLcPeriod"/>
            </a:pPr>
            <a:r>
              <a:rPr lang="en-US" sz="2000" dirty="0">
                <a:solidFill>
                  <a:srgbClr val="000000"/>
                </a:solidFill>
              </a:rPr>
              <a:t>Justify the most suitable approach considering uncertainty, adaptability, and safety</a:t>
            </a:r>
            <a:endParaRPr lang="en-US" sz="2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731520"/>
          </a:xfrm>
          <a:prstGeom prst="rect">
            <a:avLst/>
          </a:prstGeom>
          <a:noFill/>
          <a:ln/>
        </p:spPr>
        <p:txBody>
          <a:bodyPr wrap="square" rtlCol="0" anchor="ctr"/>
          <a:lstStyle/>
          <a:p>
            <a:pPr marL="0" indent="0" algn="ctr">
              <a:buNone/>
            </a:pPr>
            <a:r>
              <a:rPr lang="en-US" sz="2800" b="1" dirty="0">
                <a:solidFill>
                  <a:schemeClr val="tx1"/>
                </a:solidFill>
              </a:rPr>
              <a:t>Answer 3: Mars Rover (i–iii)</a:t>
            </a:r>
            <a:endParaRPr lang="en-US" sz="2800" dirty="0"/>
          </a:p>
        </p:txBody>
      </p:sp>
      <p:sp>
        <p:nvSpPr>
          <p:cNvPr id="3" name="Answer body"/>
          <p:cNvSpPr txBox="1"/>
          <p:nvPr/>
        </p:nvSpPr>
        <p:spPr>
          <a:xfrm>
            <a:off x="548640" y="1280160"/>
            <a:ext cx="11091672" cy="4983480"/>
          </a:xfrm>
          <a:prstGeom prst="rect">
            <a:avLst/>
          </a:prstGeom>
          <a:noFill/>
          <a:ln/>
        </p:spPr>
        <p:txBody>
          <a:bodyPr wrap="square" lIns="0" tIns="0" rIns="0" bIns="0" rtlCol="0" anchor="t"/>
          <a:lstStyle/>
          <a:p>
            <a:pPr marL="0" indent="0">
              <a:spcAft>
                <a:spcPts val="400"/>
              </a:spcAft>
              <a:buNone/>
            </a:pPr>
            <a:r>
              <a:rPr lang="en-US" sz="2200" b="1" dirty="0">
                <a:solidFill>
                  <a:srgbClr val="000000"/>
                </a:solidFill>
              </a:rPr>
              <a:t>i.  Why online search</a:t>
            </a:r>
            <a:endParaRPr lang="en-US" sz="1900" dirty="0"/>
          </a:p>
          <a:p>
            <a:pPr marL="254000" indent="-254000">
              <a:spcAft>
                <a:spcPts val="300"/>
              </a:spcAft>
              <a:buSzPct val="100000"/>
              <a:buChar char="•"/>
            </a:pPr>
            <a:r>
              <a:rPr lang="en-US" sz="1900" dirty="0">
                <a:solidFill>
                  <a:srgbClr val="000000"/>
                </a:solidFill>
              </a:rPr>
              <a:t>Offline search plans the whole path before acting and needs a complete map; the rover has none.</a:t>
            </a:r>
            <a:endParaRPr lang="en-US" sz="1900" dirty="0"/>
          </a:p>
          <a:p>
            <a:pPr marL="254000" indent="-254000">
              <a:spcAft>
                <a:spcPts val="300"/>
              </a:spcAft>
              <a:buSzPct val="100000"/>
              <a:buChar char="•"/>
            </a:pPr>
            <a:r>
              <a:rPr lang="en-US" sz="1900" dirty="0">
                <a:solidFill>
                  <a:srgbClr val="000000"/>
                </a:solidFill>
              </a:rPr>
              <a:t>It must interleave planning and acting, deciding from what it senses now.</a:t>
            </a:r>
            <a:endParaRPr lang="en-US" sz="1900" dirty="0"/>
          </a:p>
          <a:p>
            <a:pPr marL="0" indent="0">
              <a:spcBef>
                <a:spcPts val="1400"/>
              </a:spcBef>
              <a:spcAft>
                <a:spcPts val="400"/>
              </a:spcAft>
              <a:buNone/>
            </a:pPr>
            <a:r>
              <a:rPr lang="en-US" sz="2200" b="1" dirty="0">
                <a:solidFill>
                  <a:srgbClr val="000000"/>
                </a:solidFill>
              </a:rPr>
              <a:t>ii.  Partial observability and dynamic environments</a:t>
            </a:r>
            <a:endParaRPr lang="en-US" sz="1900" dirty="0"/>
          </a:p>
          <a:p>
            <a:pPr marL="254000" indent="-254000">
              <a:spcAft>
                <a:spcPts val="300"/>
              </a:spcAft>
              <a:buSzPct val="100000"/>
              <a:buChar char="•"/>
            </a:pPr>
            <a:r>
              <a:rPr lang="en-US" sz="1900" dirty="0">
                <a:solidFill>
                  <a:srgbClr val="000000"/>
                </a:solidFill>
              </a:rPr>
              <a:t>Partial observability: sensors see only nearby terrain, so the true state is uncertain.</a:t>
            </a:r>
            <a:endParaRPr lang="en-US" sz="1900" dirty="0"/>
          </a:p>
          <a:p>
            <a:pPr marL="254000" indent="-254000">
              <a:spcAft>
                <a:spcPts val="300"/>
              </a:spcAft>
              <a:buSzPct val="100000"/>
              <a:buChar char="•"/>
            </a:pPr>
            <a:r>
              <a:rPr lang="en-US" sz="1900" dirty="0">
                <a:solidFill>
                  <a:srgbClr val="000000"/>
                </a:solidFill>
              </a:rPr>
              <a:t>Dynamic, unknown environment: hazards appear as it moves, sensor noise adds error, and some actions are irreversible (a fall into a crater is permanent).</a:t>
            </a:r>
            <a:endParaRPr lang="en-US" sz="1900" dirty="0"/>
          </a:p>
          <a:p>
            <a:pPr marL="254000" indent="-254000">
              <a:spcAft>
                <a:spcPts val="300"/>
              </a:spcAft>
              <a:buSzPct val="100000"/>
              <a:buChar char="•"/>
            </a:pPr>
            <a:r>
              <a:rPr lang="en-US" sz="1900" dirty="0">
                <a:solidFill>
                  <a:srgbClr val="000000"/>
                </a:solidFill>
              </a:rPr>
              <a:t>Limited energy and communication delay with Earth.</a:t>
            </a:r>
            <a:endParaRPr lang="en-US" sz="1900" dirty="0"/>
          </a:p>
          <a:p>
            <a:pPr marL="0" indent="0">
              <a:spcBef>
                <a:spcPts val="1400"/>
              </a:spcBef>
              <a:spcAft>
                <a:spcPts val="400"/>
              </a:spcAft>
              <a:buNone/>
            </a:pPr>
            <a:r>
              <a:rPr lang="en-US" sz="2200" b="1" dirty="0">
                <a:solidFill>
                  <a:srgbClr val="000000"/>
                </a:solidFill>
              </a:rPr>
              <a:t>iii.  Building and updating the internal model</a:t>
            </a:r>
            <a:endParaRPr lang="en-US" sz="1900" dirty="0"/>
          </a:p>
          <a:p>
            <a:pPr marL="254000" indent="-254000">
              <a:spcAft>
                <a:spcPts val="300"/>
              </a:spcAft>
              <a:buSzPct val="100000"/>
              <a:buChar char="•"/>
            </a:pPr>
            <a:r>
              <a:rPr lang="en-US" sz="1900" dirty="0">
                <a:solidFill>
                  <a:srgbClr val="000000"/>
                </a:solidFill>
              </a:rPr>
              <a:t>Keeps a map (e.g. an occupancy grid) updated with each sensor reading: cells marked free, hazard or unknown.</a:t>
            </a:r>
            <a:endParaRPr lang="en-US" sz="1900" dirty="0"/>
          </a:p>
          <a:p>
            <a:pPr marL="254000" indent="-254000">
              <a:spcAft>
                <a:spcPts val="300"/>
              </a:spcAft>
              <a:buSzPct val="100000"/>
              <a:buChar char="•"/>
            </a:pPr>
            <a:r>
              <a:rPr lang="en-US" sz="1900" dirty="0">
                <a:solidFill>
                  <a:srgbClr val="000000"/>
                </a:solidFill>
              </a:rPr>
              <a:t>Records visited states and the result of each action (the transition model).</a:t>
            </a:r>
            <a:endParaRPr lang="en-US" sz="1900" dirty="0"/>
          </a:p>
          <a:p>
            <a:pPr marL="254000" indent="-254000">
              <a:spcAft>
                <a:spcPts val="300"/>
              </a:spcAft>
              <a:buSzPct val="100000"/>
              <a:buChar char="•"/>
            </a:pPr>
            <a:r>
              <a:rPr lang="en-US" sz="1900" dirty="0">
                <a:solidFill>
                  <a:srgbClr val="000000"/>
                </a:solidFill>
              </a:rPr>
              <a:t>After every step it updates the map and replans.</a:t>
            </a:r>
            <a:endParaRPr lang="en-US" sz="19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731520"/>
          </a:xfrm>
          <a:prstGeom prst="rect">
            <a:avLst/>
          </a:prstGeom>
          <a:noFill/>
          <a:ln/>
        </p:spPr>
        <p:txBody>
          <a:bodyPr wrap="square" rtlCol="0" anchor="ctr"/>
          <a:lstStyle/>
          <a:p>
            <a:pPr marL="0" indent="0" algn="ctr">
              <a:buNone/>
            </a:pPr>
            <a:endParaRPr lang="en-US" sz="2800" dirty="0"/>
          </a:p>
        </p:txBody>
      </p:sp>
      <p:sp>
        <p:nvSpPr>
          <p:cNvPr id="3" name="Answer body"/>
          <p:cNvSpPr txBox="1"/>
          <p:nvPr/>
        </p:nvSpPr>
        <p:spPr>
          <a:xfrm>
            <a:off x="548640" y="1280160"/>
            <a:ext cx="11091672" cy="4983480"/>
          </a:xfrm>
          <a:prstGeom prst="rect">
            <a:avLst/>
          </a:prstGeom>
          <a:noFill/>
          <a:ln/>
        </p:spPr>
        <p:txBody>
          <a:bodyPr wrap="square" lIns="0" tIns="0" rIns="0" bIns="0" rtlCol="0" anchor="t"/>
          <a:lstStyle/>
          <a:p>
            <a:pPr marL="0" indent="0">
              <a:spcAft>
                <a:spcPts val="400"/>
              </a:spcAft>
              <a:buNone/>
            </a:pPr>
            <a:r>
              <a:rPr lang="en-US" sz="2300" b="1" dirty="0">
                <a:solidFill>
                  <a:srgbClr val="000000"/>
                </a:solidFill>
              </a:rPr>
              <a:t>iv.  Online vs uninformed and informed search</a:t>
            </a:r>
            <a:endParaRPr lang="en-US" sz="2000" dirty="0"/>
          </a:p>
          <a:p>
            <a:pPr marL="254000" indent="-254000">
              <a:spcAft>
                <a:spcPts val="300"/>
              </a:spcAft>
              <a:buSzPct val="100000"/>
              <a:buChar char="•"/>
            </a:pPr>
            <a:r>
              <a:rPr lang="en-US" sz="2000" dirty="0">
                <a:solidFill>
                  <a:srgbClr val="000000"/>
                </a:solidFill>
              </a:rPr>
              <a:t>Uninformed (BFS/DFS): blind and wasteful, and needs a known map.</a:t>
            </a:r>
            <a:endParaRPr lang="en-US" sz="2000" dirty="0"/>
          </a:p>
          <a:p>
            <a:pPr marL="254000" indent="-254000">
              <a:spcAft>
                <a:spcPts val="300"/>
              </a:spcAft>
              <a:buSzPct val="100000"/>
              <a:buChar char="•"/>
            </a:pPr>
            <a:r>
              <a:rPr lang="en-US" sz="2000" dirty="0">
                <a:solidFill>
                  <a:srgbClr val="000000"/>
                </a:solidFill>
              </a:rPr>
              <a:t>Informed (A*): efficient, but assumes a complete model of the environment.</a:t>
            </a:r>
            <a:endParaRPr lang="en-US" sz="2000" dirty="0"/>
          </a:p>
          <a:p>
            <a:pPr marL="254000" indent="-254000">
              <a:spcAft>
                <a:spcPts val="300"/>
              </a:spcAft>
              <a:buSzPct val="100000"/>
              <a:buChar char="•"/>
            </a:pPr>
            <a:r>
              <a:rPr lang="en-US" sz="2000" dirty="0">
                <a:solidFill>
                  <a:srgbClr val="000000"/>
                </a:solidFill>
              </a:rPr>
              <a:t>Online (LRTA*, online DFS): works with incomplete knowledge, learns as it goes, and can use heuristics.</a:t>
            </a:r>
            <a:endParaRPr lang="en-US" sz="2000" dirty="0"/>
          </a:p>
          <a:p>
            <a:pPr marL="0" indent="0">
              <a:spcBef>
                <a:spcPts val="1400"/>
              </a:spcBef>
              <a:spcAft>
                <a:spcPts val="400"/>
              </a:spcAft>
              <a:buNone/>
            </a:pPr>
            <a:r>
              <a:rPr lang="en-US" sz="2300" b="1" dirty="0">
                <a:solidFill>
                  <a:srgbClr val="000000"/>
                </a:solidFill>
              </a:rPr>
              <a:t>v.  Justification: online search with an A*-style heuristic</a:t>
            </a:r>
            <a:endParaRPr lang="en-US" sz="2000" dirty="0"/>
          </a:p>
          <a:p>
            <a:pPr marL="254000" indent="-254000">
              <a:spcAft>
                <a:spcPts val="300"/>
              </a:spcAft>
              <a:buSzPct val="100000"/>
              <a:buChar char="•"/>
            </a:pPr>
            <a:r>
              <a:rPr lang="en-US" sz="2000" dirty="0">
                <a:solidFill>
                  <a:srgbClr val="000000"/>
                </a:solidFill>
              </a:rPr>
              <a:t>Use LRTA* or D* Lite with replanning, plus a safety margin that avoids uncertain or hazardous cells.</a:t>
            </a:r>
            <a:endParaRPr lang="en-US" sz="2000" dirty="0"/>
          </a:p>
          <a:p>
            <a:pPr marL="254000" indent="-254000">
              <a:spcAft>
                <a:spcPts val="300"/>
              </a:spcAft>
              <a:buSzPct val="100000"/>
              <a:buChar char="•"/>
            </a:pPr>
            <a:r>
              <a:rPr lang="en-US" sz="2000" dirty="0">
                <a:solidFill>
                  <a:srgbClr val="000000"/>
                </a:solidFill>
              </a:rPr>
              <a:t>Uncertainty and adaptability: updates its plan with each new observation.</a:t>
            </a:r>
            <a:endParaRPr lang="en-US" sz="2000" dirty="0"/>
          </a:p>
          <a:p>
            <a:pPr marL="254000" indent="-254000">
              <a:spcAft>
                <a:spcPts val="300"/>
              </a:spcAft>
              <a:buSzPct val="100000"/>
              <a:buChar char="•"/>
            </a:pPr>
            <a:r>
              <a:rPr lang="en-US" sz="2000" dirty="0">
                <a:solidFill>
                  <a:srgbClr val="000000"/>
                </a:solidFill>
              </a:rPr>
              <a:t>Safety: prefers safe moves over the shortest ones.</a:t>
            </a:r>
            <a:endParaRPr lang="en-US" sz="2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731520"/>
          </a:xfrm>
          <a:prstGeom prst="rect">
            <a:avLst/>
          </a:prstGeom>
          <a:noFill/>
          <a:ln/>
        </p:spPr>
        <p:txBody>
          <a:bodyPr wrap="square" rtlCol="0" anchor="ctr"/>
          <a:lstStyle/>
          <a:p>
            <a:pPr marL="0" indent="0" algn="ctr">
              <a:buNone/>
            </a:pPr>
            <a:r>
              <a:rPr lang="en-US" sz="2800" b="1" dirty="0">
                <a:solidFill>
                  <a:schemeClr val="tx1"/>
                </a:solidFill>
              </a:rPr>
              <a:t>Scenario Based Assignment</a:t>
            </a:r>
            <a:endParaRPr lang="en-US" sz="2800" dirty="0"/>
          </a:p>
        </p:txBody>
      </p:sp>
      <p:sp>
        <p:nvSpPr>
          <p:cNvPr id="3" name="Annexure label"/>
          <p:cNvSpPr txBox="1"/>
          <p:nvPr/>
        </p:nvSpPr>
        <p:spPr>
          <a:xfrm>
            <a:off x="548640" y="164592"/>
            <a:ext cx="11091672" cy="274320"/>
          </a:xfrm>
          <a:prstGeom prst="rect">
            <a:avLst/>
          </a:prstGeom>
          <a:noFill/>
          <a:ln/>
        </p:spPr>
        <p:txBody>
          <a:bodyPr wrap="square" lIns="0" tIns="0" rIns="0" bIns="0" rtlCol="0" anchor="ctr"/>
          <a:lstStyle/>
          <a:p>
            <a:pPr marL="0" indent="0" algn="ctr">
              <a:buNone/>
            </a:pPr>
            <a:r>
              <a:rPr lang="en-US" sz="1200" dirty="0">
                <a:solidFill>
                  <a:srgbClr val="000000"/>
                </a:solidFill>
              </a:rPr>
              <a:t>Annexure A</a:t>
            </a:r>
            <a:endParaRPr lang="en-US" sz="1200" dirty="0"/>
          </a:p>
        </p:txBody>
      </p:sp>
      <p:sp>
        <p:nvSpPr>
          <p:cNvPr id="4" name="Scenario and tasks"/>
          <p:cNvSpPr txBox="1"/>
          <p:nvPr/>
        </p:nvSpPr>
        <p:spPr>
          <a:xfrm>
            <a:off x="548640" y="1280160"/>
            <a:ext cx="11091672" cy="4983480"/>
          </a:xfrm>
          <a:prstGeom prst="rect">
            <a:avLst/>
          </a:prstGeom>
          <a:noFill/>
          <a:ln/>
        </p:spPr>
        <p:txBody>
          <a:bodyPr wrap="square" lIns="0" tIns="0" rIns="0" bIns="0" rtlCol="0" anchor="t"/>
          <a:lstStyle/>
          <a:p>
            <a:pPr marL="0" indent="0">
              <a:buNone/>
            </a:pPr>
            <a:r>
              <a:rPr lang="en-US" sz="2000" b="1" dirty="0">
                <a:solidFill>
                  <a:srgbClr val="000000"/>
                </a:solidFill>
              </a:rPr>
              <a:t>4. Scenario: </a:t>
            </a:r>
            <a:r>
              <a:rPr lang="en-US" sz="2000" dirty="0">
                <a:solidFill>
                  <a:srgbClr val="000000"/>
                </a:solidFill>
              </a:rPr>
              <a:t>A university is designing an AI system to automatically generate exam timetables. The system must satisfy multiple constraints: no student should have overlapping exams, a limited number of exam halls, certain subjects must be scheduled before others, faculty availability constraints, and special accommodations for some students. The complexity increases as the number of courses and students grows.</a:t>
            </a:r>
            <a:endParaRPr lang="en-US" sz="2000" dirty="0"/>
          </a:p>
          <a:p>
            <a:pPr marL="0" indent="0">
              <a:spcAft>
                <a:spcPts val="400"/>
              </a:spcAft>
              <a:buNone/>
            </a:pPr>
            <a:r>
              <a:rPr lang="en-US" sz="2000" dirty="0">
                <a:solidFill>
                  <a:srgbClr val="000000"/>
                </a:solidFill>
              </a:rPr>
              <a:t>Tasks: Formulate the problem as a Constraint Satisfaction Problem (CSP)</a:t>
            </a:r>
            <a:endParaRPr lang="en-US" sz="2000" dirty="0"/>
          </a:p>
          <a:p>
            <a:pPr marL="406400" indent="-406400">
              <a:spcAft>
                <a:spcPts val="400"/>
              </a:spcAft>
              <a:buSzPct val="100000"/>
              <a:buFont typeface="+mj-lt"/>
              <a:buAutoNum type="romanLcPeriod"/>
            </a:pPr>
            <a:r>
              <a:rPr lang="en-US" sz="2000" dirty="0">
                <a:solidFill>
                  <a:srgbClr val="000000"/>
                </a:solidFill>
              </a:rPr>
              <a:t>Clearly define variables, domains, and constraints with explanation</a:t>
            </a:r>
            <a:endParaRPr lang="en-US" sz="2000" dirty="0"/>
          </a:p>
          <a:p>
            <a:pPr marL="406400" indent="-406400">
              <a:spcAft>
                <a:spcPts val="400"/>
              </a:spcAft>
              <a:buSzPct val="100000"/>
              <a:buFont typeface="+mj-lt"/>
              <a:buAutoNum type="romanLcPeriod"/>
            </a:pPr>
            <a:r>
              <a:rPr lang="en-US" sz="2000" dirty="0">
                <a:solidFill>
                  <a:srgbClr val="000000"/>
                </a:solidFill>
              </a:rPr>
              <a:t>Explain how backtracking search works in this scenario</a:t>
            </a:r>
            <a:endParaRPr lang="en-US" sz="2000" dirty="0"/>
          </a:p>
          <a:p>
            <a:pPr marL="406400" indent="-406400">
              <a:spcAft>
                <a:spcPts val="400"/>
              </a:spcAft>
              <a:buSzPct val="100000"/>
              <a:buFont typeface="+mj-lt"/>
              <a:buAutoNum type="romanLcPeriod"/>
            </a:pPr>
            <a:r>
              <a:rPr lang="en-US" sz="2000" dirty="0">
                <a:solidFill>
                  <a:srgbClr val="000000"/>
                </a:solidFill>
              </a:rPr>
              <a:t>Discuss how constraint propagation (e.g., forward checking) improves efficiency</a:t>
            </a:r>
            <a:endParaRPr lang="en-US" sz="2000" dirty="0"/>
          </a:p>
          <a:p>
            <a:pPr marL="406400" indent="-406400">
              <a:spcAft>
                <a:spcPts val="400"/>
              </a:spcAft>
              <a:buSzPct val="100000"/>
              <a:buFont typeface="+mj-lt"/>
              <a:buAutoNum type="romanLcPeriod"/>
            </a:pPr>
            <a:r>
              <a:rPr lang="en-US" sz="2000" dirty="0">
                <a:solidFill>
                  <a:srgbClr val="000000"/>
                </a:solidFill>
              </a:rPr>
              <a:t>Analyze real-world challenges and justify the best strategy for scalability</a:t>
            </a:r>
            <a:endParaRPr lang="en-US" sz="2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731520"/>
          </a:xfrm>
          <a:prstGeom prst="rect">
            <a:avLst/>
          </a:prstGeom>
          <a:noFill/>
          <a:ln/>
        </p:spPr>
        <p:txBody>
          <a:bodyPr wrap="square" rtlCol="0" anchor="ctr"/>
          <a:lstStyle/>
          <a:p>
            <a:pPr marL="0" indent="0" algn="ctr">
              <a:buNone/>
            </a:pPr>
            <a:r>
              <a:rPr lang="en-US" sz="2800" b="1" dirty="0">
                <a:solidFill>
                  <a:schemeClr val="tx1"/>
                </a:solidFill>
              </a:rPr>
              <a:t>Answer 4: Exam Timetable CSP (i–ii)</a:t>
            </a:r>
            <a:endParaRPr lang="en-US" sz="2800" dirty="0"/>
          </a:p>
        </p:txBody>
      </p:sp>
      <p:sp>
        <p:nvSpPr>
          <p:cNvPr id="3" name="Answer body"/>
          <p:cNvSpPr txBox="1"/>
          <p:nvPr/>
        </p:nvSpPr>
        <p:spPr>
          <a:xfrm>
            <a:off x="548640" y="1280160"/>
            <a:ext cx="11091672" cy="4983480"/>
          </a:xfrm>
          <a:prstGeom prst="rect">
            <a:avLst/>
          </a:prstGeom>
          <a:noFill/>
          <a:ln/>
        </p:spPr>
        <p:txBody>
          <a:bodyPr wrap="square" lIns="0" tIns="0" rIns="0" bIns="0" rtlCol="0" anchor="t"/>
          <a:lstStyle/>
          <a:p>
            <a:pPr marL="0" indent="0">
              <a:spcAft>
                <a:spcPts val="400"/>
              </a:spcAft>
              <a:buNone/>
            </a:pPr>
            <a:r>
              <a:rPr lang="en-US" sz="2300" b="1" dirty="0">
                <a:solidFill>
                  <a:srgbClr val="000000"/>
                </a:solidFill>
              </a:rPr>
              <a:t>i.  Variables, domains and constraints</a:t>
            </a:r>
            <a:endParaRPr lang="en-US" sz="2000" dirty="0"/>
          </a:p>
          <a:p>
            <a:pPr marL="254000" indent="-254000">
              <a:spcAft>
                <a:spcPts val="300"/>
              </a:spcAft>
              <a:buSzPct val="100000"/>
              <a:buChar char="•"/>
            </a:pPr>
            <a:r>
              <a:rPr lang="en-US" sz="2000" dirty="0">
                <a:solidFill>
                  <a:srgbClr val="000000"/>
                </a:solidFill>
              </a:rPr>
              <a:t>Variables: each exam Ei.</a:t>
            </a:r>
            <a:endParaRPr lang="en-US" sz="2000" dirty="0"/>
          </a:p>
          <a:p>
            <a:pPr marL="254000" indent="-254000">
              <a:spcAft>
                <a:spcPts val="300"/>
              </a:spcAft>
              <a:buSzPct val="100000"/>
              <a:buChar char="•"/>
            </a:pPr>
            <a:r>
              <a:rPr lang="en-US" sz="2000" dirty="0">
                <a:solidFill>
                  <a:srgbClr val="000000"/>
                </a:solidFill>
              </a:rPr>
              <a:t>Domains: the possible (time slot, hall) pairs for that exam.</a:t>
            </a:r>
            <a:endParaRPr lang="en-US" sz="2000" dirty="0"/>
          </a:p>
          <a:p>
            <a:pPr marL="254000" indent="-254000">
              <a:spcAft>
                <a:spcPts val="300"/>
              </a:spcAft>
              <a:buSzPct val="100000"/>
              <a:buChar char="•"/>
            </a:pPr>
            <a:r>
              <a:rPr lang="en-US" sz="2000" dirty="0">
                <a:solidFill>
                  <a:srgbClr val="000000"/>
                </a:solidFill>
              </a:rPr>
              <a:t>Constraints: no student has two exams in one slot; exams per slot ≤ halls and hall capacity ≥ students; precedence, slot(A) &lt; slot(B); faculty and invigilator availability; accommodations (extra time, special rooms).</a:t>
            </a:r>
            <a:endParaRPr lang="en-US" sz="2000" dirty="0"/>
          </a:p>
          <a:p>
            <a:pPr marL="0" indent="0">
              <a:spcBef>
                <a:spcPts val="1400"/>
              </a:spcBef>
              <a:spcAft>
                <a:spcPts val="400"/>
              </a:spcAft>
              <a:buNone/>
            </a:pPr>
            <a:r>
              <a:rPr lang="en-US" sz="2300" b="1" dirty="0">
                <a:solidFill>
                  <a:srgbClr val="000000"/>
                </a:solidFill>
              </a:rPr>
              <a:t>ii.  Backtracking search</a:t>
            </a:r>
            <a:endParaRPr lang="en-US" sz="2000" dirty="0"/>
          </a:p>
          <a:p>
            <a:pPr marL="254000" indent="-254000">
              <a:spcAft>
                <a:spcPts val="300"/>
              </a:spcAft>
              <a:buSzPct val="100000"/>
              <a:buChar char="•"/>
            </a:pPr>
            <a:r>
              <a:rPr lang="en-US" sz="2000" dirty="0">
                <a:solidFill>
                  <a:srgbClr val="000000"/>
                </a:solidFill>
              </a:rPr>
              <a:t>Assign exams one at a time (depth-first); if an assignment violates a constraint, undo it and try another value.</a:t>
            </a:r>
            <a:endParaRPr lang="en-US" sz="2000" dirty="0"/>
          </a:p>
          <a:p>
            <a:pPr marL="254000" indent="-254000">
              <a:spcAft>
                <a:spcPts val="300"/>
              </a:spcAft>
              <a:buSzPct val="100000"/>
              <a:buChar char="•"/>
            </a:pPr>
            <a:r>
              <a:rPr lang="en-US" sz="2000" dirty="0">
                <a:solidFill>
                  <a:srgbClr val="000000"/>
                </a:solidFill>
              </a:rPr>
              <a:t>Heuristics: MRV (most constrained exam first), degree heuristic, and LCV (least constraining value first) make it practical.</a:t>
            </a:r>
            <a:endParaRPr lang="en-US" sz="2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Answer body"/>
          <p:cNvSpPr txBox="1"/>
          <p:nvPr/>
        </p:nvSpPr>
        <p:spPr>
          <a:xfrm>
            <a:off x="548640" y="1280160"/>
            <a:ext cx="11091672" cy="4983480"/>
          </a:xfrm>
          <a:prstGeom prst="rect">
            <a:avLst/>
          </a:prstGeom>
          <a:noFill/>
          <a:ln/>
        </p:spPr>
        <p:txBody>
          <a:bodyPr wrap="square" lIns="0" tIns="0" rIns="0" bIns="0" rtlCol="0" anchor="t"/>
          <a:lstStyle/>
          <a:p>
            <a:pPr marL="0" indent="0">
              <a:spcAft>
                <a:spcPts val="400"/>
              </a:spcAft>
              <a:buNone/>
            </a:pPr>
            <a:r>
              <a:rPr lang="en-US" sz="2300" b="1" dirty="0">
                <a:solidFill>
                  <a:srgbClr val="000000"/>
                </a:solidFill>
              </a:rPr>
              <a:t>iii.  Constraint propagation</a:t>
            </a:r>
            <a:endParaRPr lang="en-US" sz="2000" dirty="0"/>
          </a:p>
          <a:p>
            <a:pPr marL="254000" indent="-254000">
              <a:spcAft>
                <a:spcPts val="300"/>
              </a:spcAft>
              <a:buSzPct val="100000"/>
              <a:buChar char="•"/>
            </a:pPr>
            <a:r>
              <a:rPr lang="en-US" sz="2000" dirty="0">
                <a:solidFill>
                  <a:srgbClr val="000000"/>
                </a:solidFill>
              </a:rPr>
              <a:t>Forward checking: removes values from the domains of unassigned exams as soon as an exam is assigned. If Exam A takes slot 1, no exam sharing students with A can use slot 1.</a:t>
            </a:r>
            <a:endParaRPr lang="en-US" sz="2000" dirty="0"/>
          </a:p>
          <a:p>
            <a:pPr marL="254000" indent="-254000">
              <a:spcAft>
                <a:spcPts val="300"/>
              </a:spcAft>
              <a:buSzPct val="100000"/>
              <a:buChar char="•"/>
            </a:pPr>
            <a:r>
              <a:rPr lang="en-US" sz="2000" dirty="0">
                <a:solidFill>
                  <a:srgbClr val="000000"/>
                </a:solidFill>
              </a:rPr>
              <a:t>If any domain becomes empty, backtrack immediately; arc consistency (AC-3) prunes even more.</a:t>
            </a:r>
            <a:endParaRPr lang="en-US" sz="2000" dirty="0"/>
          </a:p>
          <a:p>
            <a:pPr marL="254000" indent="-254000">
              <a:spcAft>
                <a:spcPts val="300"/>
              </a:spcAft>
              <a:buSzPct val="100000"/>
              <a:buChar char="•"/>
            </a:pPr>
            <a:r>
              <a:rPr lang="en-US" sz="2000" dirty="0">
                <a:solidFill>
                  <a:srgbClr val="000000"/>
                </a:solidFill>
              </a:rPr>
              <a:t>Failures are detected early, which shrinks the search tree.</a:t>
            </a:r>
            <a:endParaRPr lang="en-US" sz="2000" dirty="0"/>
          </a:p>
          <a:p>
            <a:pPr marL="0" indent="0">
              <a:spcBef>
                <a:spcPts val="1400"/>
              </a:spcBef>
              <a:spcAft>
                <a:spcPts val="400"/>
              </a:spcAft>
              <a:buNone/>
            </a:pPr>
            <a:r>
              <a:rPr lang="en-US" sz="2300" b="1" dirty="0">
                <a:solidFill>
                  <a:srgbClr val="000000"/>
                </a:solidFill>
              </a:rPr>
              <a:t>iv.  Real-world challenges and best strategy</a:t>
            </a:r>
            <a:endParaRPr lang="en-US" sz="2000" dirty="0"/>
          </a:p>
          <a:p>
            <a:pPr marL="254000" indent="-254000">
              <a:spcAft>
                <a:spcPts val="300"/>
              </a:spcAft>
              <a:buSzPct val="100000"/>
              <a:buChar char="•"/>
            </a:pPr>
            <a:r>
              <a:rPr lang="en-US" sz="2000" dirty="0">
                <a:solidFill>
                  <a:srgbClr val="000000"/>
                </a:solidFill>
              </a:rPr>
              <a:t>Challenges: the problem is NP-hard and grows with students and courses; soft preferences conflict; last-minute changes occur.</a:t>
            </a:r>
            <a:endParaRPr lang="en-US" sz="2000" dirty="0"/>
          </a:p>
          <a:p>
            <a:pPr marL="254000" indent="-254000">
              <a:spcAft>
                <a:spcPts val="300"/>
              </a:spcAft>
              <a:buSzPct val="100000"/>
              <a:buChar char="•"/>
            </a:pPr>
            <a:r>
              <a:rPr lang="en-US" sz="2000" dirty="0">
                <a:solidFill>
                  <a:srgbClr val="000000"/>
                </a:solidFill>
              </a:rPr>
              <a:t>Strategy: backtracking + MRV/LCV + forward checking/AC-3, with min-conflicts local search to repair schedules and soft preferences treated as costs to optimise.</a:t>
            </a:r>
            <a:endParaRPr lang="en-US" sz="2000" dirty="0"/>
          </a:p>
          <a:p>
            <a:pPr marL="254000" indent="-254000">
              <a:spcAft>
                <a:spcPts val="300"/>
              </a:spcAft>
              <a:buSzPct val="100000"/>
              <a:buChar char="•"/>
            </a:pPr>
            <a:r>
              <a:rPr lang="en-US" sz="2000" dirty="0">
                <a:solidFill>
                  <a:srgbClr val="000000"/>
                </a:solidFill>
              </a:rPr>
              <a:t>Complete for feasibility and scalable in practice.</a:t>
            </a:r>
            <a:endParaRPr lang="en-US" sz="2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13</a:t>
            </a:fld>
            <a:endParaRPr lang="en-US"/>
          </a:p>
        </p:txBody>
      </p:sp>
      <p:sp>
        <p:nvSpPr>
          <p:cNvPr id="5" name="Title 4">
            <a:extLst>
              <a:ext uri="{FF2B5EF4-FFF2-40B4-BE49-F238E27FC236}">
                <a16:creationId xmlns:a16="http://schemas.microsoft.com/office/drawing/2014/main" id="{A6C0CA88-5C6A-2AAC-9D4D-E85D3220D2AC}"/>
              </a:ext>
            </a:extLst>
          </p:cNvPr>
          <p:cNvSpPr>
            <a:spLocks noGrp="1"/>
          </p:cNvSpPr>
          <p:nvPr>
            <p:ph type="title" idx="100"/>
          </p:nvPr>
        </p:nvSpPr>
        <p:spPr/>
        <p:txBody>
          <a:bodyPr/>
          <a:lstStyle/>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731520"/>
          </a:xfrm>
          <a:prstGeom prst="rect">
            <a:avLst/>
          </a:prstGeom>
          <a:noFill/>
          <a:ln/>
        </p:spPr>
        <p:txBody>
          <a:bodyPr wrap="square" rtlCol="0" anchor="ctr"/>
          <a:lstStyle/>
          <a:p>
            <a:pPr marL="0" indent="0" algn="ctr">
              <a:buNone/>
            </a:pPr>
            <a:r>
              <a:rPr lang="en-US" sz="2800" b="1" dirty="0">
                <a:solidFill>
                  <a:schemeClr val="tx1"/>
                </a:solidFill>
              </a:rPr>
              <a:t>Scenario Based Assignment</a:t>
            </a:r>
            <a:endParaRPr lang="en-US" sz="2800" dirty="0"/>
          </a:p>
        </p:txBody>
      </p:sp>
      <p:sp>
        <p:nvSpPr>
          <p:cNvPr id="3" name="Annexure label"/>
          <p:cNvSpPr txBox="1"/>
          <p:nvPr/>
        </p:nvSpPr>
        <p:spPr>
          <a:xfrm>
            <a:off x="548640" y="164592"/>
            <a:ext cx="11091672" cy="274320"/>
          </a:xfrm>
          <a:prstGeom prst="rect">
            <a:avLst/>
          </a:prstGeom>
          <a:noFill/>
          <a:ln/>
        </p:spPr>
        <p:txBody>
          <a:bodyPr wrap="square" lIns="0" tIns="0" rIns="0" bIns="0" rtlCol="0" anchor="ctr"/>
          <a:lstStyle/>
          <a:p>
            <a:pPr marL="0" indent="0" algn="ctr">
              <a:buNone/>
            </a:pPr>
            <a:r>
              <a:rPr lang="en-US" sz="1200" dirty="0">
                <a:solidFill>
                  <a:srgbClr val="000000"/>
                </a:solidFill>
              </a:rPr>
              <a:t>Annexure A</a:t>
            </a:r>
            <a:endParaRPr lang="en-US" sz="1200" dirty="0"/>
          </a:p>
        </p:txBody>
      </p:sp>
      <p:sp>
        <p:nvSpPr>
          <p:cNvPr id="4" name="Scenario and tasks"/>
          <p:cNvSpPr txBox="1"/>
          <p:nvPr/>
        </p:nvSpPr>
        <p:spPr>
          <a:xfrm>
            <a:off x="548640" y="1280160"/>
            <a:ext cx="11091672" cy="4983480"/>
          </a:xfrm>
          <a:prstGeom prst="rect">
            <a:avLst/>
          </a:prstGeom>
          <a:noFill/>
          <a:ln/>
        </p:spPr>
        <p:txBody>
          <a:bodyPr wrap="square" lIns="0" tIns="0" rIns="0" bIns="0" rtlCol="0" anchor="t"/>
          <a:lstStyle/>
          <a:p>
            <a:pPr marL="0" indent="0">
              <a:buNone/>
            </a:pPr>
            <a:r>
              <a:rPr lang="en-US" sz="2000" b="1" dirty="0">
                <a:solidFill>
                  <a:srgbClr val="000000"/>
                </a:solidFill>
              </a:rPr>
              <a:t>5. Scenario: </a:t>
            </a:r>
            <a:r>
              <a:rPr lang="en-US" sz="2000" dirty="0">
                <a:solidFill>
                  <a:srgbClr val="000000"/>
                </a:solidFill>
              </a:rPr>
              <a:t>Strategic Game AI for Real-Time Decision Making (Minimax &amp; Alpha-Beta Pruning). A gaming company is developing an AI opponent for a real-time strategy game. The AI must compete against human players, make decisions within strict time limits, and evaluate complex game states with multiple possible moves. The decision tree is extremely large, making computation expensive.</a:t>
            </a:r>
            <a:endParaRPr lang="en-US" sz="2000" dirty="0"/>
          </a:p>
          <a:p>
            <a:pPr marL="0" indent="0">
              <a:spcAft>
                <a:spcPts val="400"/>
              </a:spcAft>
              <a:buNone/>
            </a:pPr>
            <a:r>
              <a:rPr lang="en-US" sz="2000" dirty="0">
                <a:solidFill>
                  <a:srgbClr val="000000"/>
                </a:solidFill>
              </a:rPr>
              <a:t>Tasks:</a:t>
            </a:r>
            <a:endParaRPr lang="en-US" sz="2000" dirty="0"/>
          </a:p>
          <a:p>
            <a:pPr marL="406400" indent="-406400">
              <a:spcAft>
                <a:spcPts val="400"/>
              </a:spcAft>
              <a:buSzPct val="100000"/>
              <a:buFont typeface="+mj-lt"/>
              <a:buAutoNum type="romanLcPeriod"/>
            </a:pPr>
            <a:r>
              <a:rPr lang="en-US" sz="2000" dirty="0">
                <a:solidFill>
                  <a:srgbClr val="000000"/>
                </a:solidFill>
              </a:rPr>
              <a:t>Explain how the Minimax algorithm models this problem</a:t>
            </a:r>
            <a:endParaRPr lang="en-US" sz="2000" dirty="0"/>
          </a:p>
          <a:p>
            <a:pPr marL="406400" indent="-406400">
              <a:spcAft>
                <a:spcPts val="400"/>
              </a:spcAft>
              <a:buSzPct val="100000"/>
              <a:buFont typeface="+mj-lt"/>
              <a:buAutoNum type="romanLcPeriod"/>
            </a:pPr>
            <a:r>
              <a:rPr lang="en-US" sz="2000" dirty="0">
                <a:solidFill>
                  <a:srgbClr val="000000"/>
                </a:solidFill>
              </a:rPr>
              <a:t>Analyze the computational challenges of large game trees</a:t>
            </a:r>
            <a:endParaRPr lang="en-US" sz="2000" dirty="0"/>
          </a:p>
          <a:p>
            <a:pPr marL="406400" indent="-406400">
              <a:spcAft>
                <a:spcPts val="400"/>
              </a:spcAft>
              <a:buSzPct val="100000"/>
              <a:buFont typeface="+mj-lt"/>
              <a:buAutoNum type="romanLcPeriod"/>
            </a:pPr>
            <a:r>
              <a:rPr lang="en-US" sz="2000" dirty="0">
                <a:solidFill>
                  <a:srgbClr val="000000"/>
                </a:solidFill>
              </a:rPr>
              <a:t>Explain how Alpha-Beta pruning improves efficiency with detailed reasoning</a:t>
            </a:r>
            <a:endParaRPr lang="en-US" sz="2000" dirty="0"/>
          </a:p>
          <a:p>
            <a:pPr marL="406400" indent="-406400">
              <a:spcAft>
                <a:spcPts val="400"/>
              </a:spcAft>
              <a:buSzPct val="100000"/>
              <a:buFont typeface="+mj-lt"/>
              <a:buAutoNum type="romanLcPeriod"/>
            </a:pPr>
            <a:r>
              <a:rPr lang="en-US" sz="2000" dirty="0">
                <a:solidFill>
                  <a:srgbClr val="000000"/>
                </a:solidFill>
              </a:rPr>
              <a:t>Design an evaluation function and justify the factors considered</a:t>
            </a:r>
            <a:endParaRPr lang="en-US" sz="2000" dirty="0"/>
          </a:p>
          <a:p>
            <a:pPr marL="406400" indent="-406400">
              <a:spcAft>
                <a:spcPts val="400"/>
              </a:spcAft>
              <a:buSzPct val="100000"/>
              <a:buFont typeface="+mj-lt"/>
              <a:buAutoNum type="romanLcPeriod"/>
            </a:pPr>
            <a:r>
              <a:rPr lang="en-US" sz="2000" dirty="0">
                <a:solidFill>
                  <a:srgbClr val="000000"/>
                </a:solidFill>
              </a:rPr>
              <a:t>Recommend a strategy for balancing optimality and real-time performance</a:t>
            </a:r>
            <a:endParaRPr lang="en-US" sz="2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731520"/>
          </a:xfrm>
          <a:prstGeom prst="rect">
            <a:avLst/>
          </a:prstGeom>
          <a:noFill/>
          <a:ln/>
        </p:spPr>
        <p:txBody>
          <a:bodyPr wrap="square" rtlCol="0" anchor="ctr"/>
          <a:lstStyle/>
          <a:p>
            <a:pPr marL="0" indent="0" algn="ctr">
              <a:buNone/>
            </a:pPr>
            <a:r>
              <a:rPr lang="en-US" sz="2800" b="1" dirty="0">
                <a:solidFill>
                  <a:schemeClr val="tx1"/>
                </a:solidFill>
              </a:rPr>
              <a:t>Answer 5: Strategic Game AI (i–iii)</a:t>
            </a:r>
            <a:endParaRPr lang="en-US" sz="2800" dirty="0"/>
          </a:p>
        </p:txBody>
      </p:sp>
      <p:sp>
        <p:nvSpPr>
          <p:cNvPr id="3" name="Answer body"/>
          <p:cNvSpPr txBox="1"/>
          <p:nvPr/>
        </p:nvSpPr>
        <p:spPr>
          <a:xfrm>
            <a:off x="548640" y="1280160"/>
            <a:ext cx="11091672" cy="4983480"/>
          </a:xfrm>
          <a:prstGeom prst="rect">
            <a:avLst/>
          </a:prstGeom>
          <a:noFill/>
          <a:ln/>
        </p:spPr>
        <p:txBody>
          <a:bodyPr wrap="square" lIns="0" tIns="0" rIns="0" bIns="0" rtlCol="0" anchor="t"/>
          <a:lstStyle/>
          <a:p>
            <a:pPr marL="0" indent="0">
              <a:spcAft>
                <a:spcPts val="400"/>
              </a:spcAft>
              <a:buNone/>
            </a:pPr>
            <a:r>
              <a:rPr lang="en-US" sz="2100" b="1" dirty="0">
                <a:solidFill>
                  <a:srgbClr val="000000"/>
                </a:solidFill>
              </a:rPr>
              <a:t>i.  Minimax</a:t>
            </a:r>
            <a:endParaRPr lang="en-US" sz="1800" dirty="0"/>
          </a:p>
          <a:p>
            <a:pPr marL="254000" indent="-254000">
              <a:spcAft>
                <a:spcPts val="300"/>
              </a:spcAft>
              <a:buSzPct val="100000"/>
              <a:buChar char="•"/>
            </a:pPr>
            <a:r>
              <a:rPr lang="en-US" sz="1800" dirty="0">
                <a:solidFill>
                  <a:srgbClr val="000000"/>
                </a:solidFill>
              </a:rPr>
              <a:t>Models the game as a two-player zero-sum tree: MAX (the AI) picks the highest value, MIN (the human) picks the lowest.</a:t>
            </a:r>
            <a:endParaRPr lang="en-US" sz="1800" dirty="0"/>
          </a:p>
          <a:p>
            <a:pPr marL="254000" indent="-254000">
              <a:spcAft>
                <a:spcPts val="300"/>
              </a:spcAft>
              <a:buSzPct val="100000"/>
              <a:buChar char="•"/>
            </a:pPr>
            <a:r>
              <a:rPr lang="en-US" sz="1800" dirty="0">
                <a:solidFill>
                  <a:srgbClr val="000000"/>
                </a:solidFill>
              </a:rPr>
              <a:t>Values propagate up from the leaves (terminal states or evaluated positions).</a:t>
            </a:r>
            <a:endParaRPr lang="en-US" sz="1800" dirty="0"/>
          </a:p>
          <a:p>
            <a:pPr marL="0" indent="0">
              <a:spcBef>
                <a:spcPts val="1400"/>
              </a:spcBef>
              <a:spcAft>
                <a:spcPts val="400"/>
              </a:spcAft>
              <a:buNone/>
            </a:pPr>
            <a:r>
              <a:rPr lang="en-US" sz="2100" b="1" dirty="0">
                <a:solidFill>
                  <a:srgbClr val="000000"/>
                </a:solidFill>
              </a:rPr>
              <a:t>ii.  Computational challenges</a:t>
            </a:r>
            <a:endParaRPr lang="en-US" sz="1800" dirty="0"/>
          </a:p>
          <a:p>
            <a:pPr marL="254000" indent="-254000">
              <a:spcAft>
                <a:spcPts val="300"/>
              </a:spcAft>
              <a:buSzPct val="100000"/>
              <a:buChar char="•"/>
            </a:pPr>
            <a:r>
              <a:rPr lang="en-US" sz="1800" dirty="0">
                <a:solidFill>
                  <a:srgbClr val="000000"/>
                </a:solidFill>
              </a:rPr>
              <a:t>The tree has b^d nodes (branching factor b, depth d); large b and d make full search impossible under time limits.</a:t>
            </a:r>
            <a:endParaRPr lang="en-US" sz="1800" dirty="0"/>
          </a:p>
          <a:p>
            <a:pPr marL="254000" indent="-254000">
              <a:spcAft>
                <a:spcPts val="300"/>
              </a:spcAft>
              <a:buSzPct val="100000"/>
              <a:buChar char="•"/>
            </a:pPr>
            <a:r>
              <a:rPr lang="en-US" sz="1800" dirty="0">
                <a:solidFill>
                  <a:srgbClr val="000000"/>
                </a:solidFill>
              </a:rPr>
              <a:t>Real-time play adds hidden information and continuous actions.</a:t>
            </a:r>
            <a:endParaRPr lang="en-US" sz="1800" dirty="0"/>
          </a:p>
          <a:p>
            <a:pPr marL="0" indent="0">
              <a:spcBef>
                <a:spcPts val="1400"/>
              </a:spcBef>
              <a:spcAft>
                <a:spcPts val="400"/>
              </a:spcAft>
              <a:buNone/>
            </a:pPr>
            <a:r>
              <a:rPr lang="en-US" sz="2100" b="1" dirty="0">
                <a:solidFill>
                  <a:srgbClr val="000000"/>
                </a:solidFill>
              </a:rPr>
              <a:t>iii.  Alpha-Beta pruning</a:t>
            </a:r>
            <a:endParaRPr lang="en-US" sz="1800" dirty="0"/>
          </a:p>
          <a:p>
            <a:pPr marL="254000" indent="-254000">
              <a:spcAft>
                <a:spcPts val="300"/>
              </a:spcAft>
              <a:buSzPct val="100000"/>
              <a:buChar char="•"/>
            </a:pPr>
            <a:r>
              <a:rPr lang="en-US" sz="1800" dirty="0">
                <a:solidFill>
                  <a:srgbClr val="000000"/>
                </a:solidFill>
              </a:rPr>
              <a:t>Keeps α (best value MAX can already guarantee) and β (best value MIN can guarantee); when α ≥ β the remaining children cannot change the decision and are pruned.</a:t>
            </a:r>
            <a:endParaRPr lang="en-US" sz="1800" dirty="0"/>
          </a:p>
          <a:p>
            <a:pPr marL="254000" indent="-254000">
              <a:spcAft>
                <a:spcPts val="300"/>
              </a:spcAft>
              <a:buSzPct val="100000"/>
              <a:buChar char="•"/>
            </a:pPr>
            <a:r>
              <a:rPr lang="en-US" sz="1800" dirty="0">
                <a:solidFill>
                  <a:srgbClr val="000000"/>
                </a:solidFill>
              </a:rPr>
              <a:t>Returns the same result as Minimax; with good move ordering, work drops from O(b^d) to about O(b^(d/2)), roughly doubling the searchable depth.</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Answer body"/>
          <p:cNvSpPr txBox="1"/>
          <p:nvPr/>
        </p:nvSpPr>
        <p:spPr>
          <a:xfrm>
            <a:off x="548640" y="1280160"/>
            <a:ext cx="11091672" cy="4983480"/>
          </a:xfrm>
          <a:prstGeom prst="rect">
            <a:avLst/>
          </a:prstGeom>
          <a:noFill/>
          <a:ln/>
        </p:spPr>
        <p:txBody>
          <a:bodyPr wrap="square" lIns="0" tIns="0" rIns="0" bIns="0" rtlCol="0" anchor="t"/>
          <a:lstStyle/>
          <a:p>
            <a:pPr marL="0" indent="0">
              <a:spcAft>
                <a:spcPts val="400"/>
              </a:spcAft>
              <a:buNone/>
            </a:pPr>
            <a:r>
              <a:rPr lang="en-US" sz="2300" b="1" dirty="0">
                <a:solidFill>
                  <a:srgbClr val="000000"/>
                </a:solidFill>
              </a:rPr>
              <a:t>iv.  Evaluation function</a:t>
            </a:r>
            <a:endParaRPr lang="en-US" sz="2000" dirty="0"/>
          </a:p>
          <a:p>
            <a:pPr marL="254000" indent="-254000">
              <a:spcAft>
                <a:spcPts val="300"/>
              </a:spcAft>
              <a:buSzPct val="100000"/>
              <a:buChar char="•"/>
            </a:pPr>
            <a:r>
              <a:rPr lang="en-US" sz="2000" dirty="0">
                <a:solidFill>
                  <a:srgbClr val="000000"/>
                </a:solidFill>
              </a:rPr>
              <a:t>Eval = w1·(unit/material difference) + w2·(resource income) + w3·(territory control) + w4·(tech/upgrade level) + w5·(base health/safety).</a:t>
            </a:r>
            <a:endParaRPr lang="en-US" sz="2000" dirty="0"/>
          </a:p>
          <a:p>
            <a:pPr marL="254000" indent="-254000">
              <a:spcAft>
                <a:spcPts val="300"/>
              </a:spcAft>
              <a:buSzPct val="100000"/>
              <a:buChar char="•"/>
            </a:pPr>
            <a:r>
              <a:rPr lang="en-US" sz="2000" dirty="0">
                <a:solidFill>
                  <a:srgbClr val="000000"/>
                </a:solidFill>
              </a:rPr>
              <a:t>Material and resources show strength, territory shows position, tech shows potential, and safety guards against defeat; weights are tuned by testing or learning.</a:t>
            </a:r>
            <a:endParaRPr lang="en-US" sz="2000" dirty="0"/>
          </a:p>
          <a:p>
            <a:pPr marL="0" indent="0">
              <a:spcBef>
                <a:spcPts val="1400"/>
              </a:spcBef>
              <a:spcAft>
                <a:spcPts val="400"/>
              </a:spcAft>
              <a:buNone/>
            </a:pPr>
            <a:r>
              <a:rPr lang="en-US" sz="2300" b="1" dirty="0">
                <a:solidFill>
                  <a:srgbClr val="000000"/>
                </a:solidFill>
              </a:rPr>
              <a:t>v.  Recommendation: iterative-deepening Alpha-Beta</a:t>
            </a:r>
            <a:endParaRPr lang="en-US" sz="2000" dirty="0"/>
          </a:p>
          <a:p>
            <a:pPr marL="254000" indent="-254000">
              <a:spcAft>
                <a:spcPts val="300"/>
              </a:spcAft>
              <a:buSzPct val="100000"/>
              <a:buChar char="•"/>
            </a:pPr>
            <a:r>
              <a:rPr lang="en-US" sz="2000" dirty="0">
                <a:solidFill>
                  <a:srgbClr val="000000"/>
                </a:solidFill>
              </a:rPr>
              <a:t>Use move ordering, a depth limit and a time cutoff, always keeping the best result found so far.</a:t>
            </a:r>
            <a:endParaRPr lang="en-US" sz="2000" dirty="0"/>
          </a:p>
          <a:p>
            <a:pPr marL="254000" indent="-254000">
              <a:spcAft>
                <a:spcPts val="300"/>
              </a:spcAft>
              <a:buSzPct val="100000"/>
              <a:buChar char="•"/>
            </a:pPr>
            <a:r>
              <a:rPr lang="en-US" sz="2000" dirty="0">
                <a:solidFill>
                  <a:srgbClr val="000000"/>
                </a:solidFill>
              </a:rPr>
              <a:t>Add a transposition table to avoid re-evaluating repeated states.</a:t>
            </a:r>
            <a:endParaRPr lang="en-US" sz="2000" dirty="0"/>
          </a:p>
          <a:p>
            <a:pPr marL="254000" indent="-254000">
              <a:spcAft>
                <a:spcPts val="300"/>
              </a:spcAft>
              <a:buSzPct val="100000"/>
              <a:buChar char="•"/>
            </a:pPr>
            <a:r>
              <a:rPr lang="en-US" sz="2000" dirty="0">
                <a:solidFill>
                  <a:srgbClr val="000000"/>
                </a:solidFill>
              </a:rPr>
              <a:t>Trades some optimality for responsiveness within the time limit.</a:t>
            </a:r>
            <a:endParaRPr lang="en-US" sz="2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16</a:t>
            </a:fld>
            <a:endParaRPr lang="en-US"/>
          </a:p>
        </p:txBody>
      </p:sp>
      <p:sp>
        <p:nvSpPr>
          <p:cNvPr id="5" name="Title 4">
            <a:extLst>
              <a:ext uri="{FF2B5EF4-FFF2-40B4-BE49-F238E27FC236}">
                <a16:creationId xmlns:a16="http://schemas.microsoft.com/office/drawing/2014/main" id="{6EB9AA04-E48A-8325-B53B-407206D57143}"/>
              </a:ext>
            </a:extLst>
          </p:cNvPr>
          <p:cNvSpPr>
            <a:spLocks noGrp="1"/>
          </p:cNvSpPr>
          <p:nvPr>
            <p:ph type="title" idx="100"/>
          </p:nvPr>
        </p:nvSpPr>
        <p:spPr/>
        <p:txBody>
          <a:bodyPr/>
          <a:lstStyle/>
          <a:p>
            <a:endParaRPr lang="en-US" dirty="0"/>
          </a:p>
        </p:txBody>
      </p:sp>
    </p:spTree>
  </p:cSld>
  <p:clrMapOvr>
    <a:masterClrMapping/>
  </p:clrMapOvr>
</p:sld>
</file>

<file path=ppt/theme/theme1.xml><?xml version="1.0" encoding="utf-8"?>
<a:theme xmlns:a="http://schemas.openxmlformats.org/drawingml/2006/main" name="SIMATS Assessment">
  <a:themeElements>
    <a:clrScheme name="SIMATS Assessment">
      <a:dk1>
        <a:srgbClr val="000000"/>
      </a:dk1>
      <a:lt1>
        <a:srgbClr val="FFFFFF"/>
      </a:lt1>
      <a:dk2>
        <a:srgbClr val="404040"/>
      </a:dk2>
      <a:lt2>
        <a:srgbClr val="F2F2F2"/>
      </a:lt2>
      <a:accent1>
        <a:srgbClr val="000000"/>
      </a:accent1>
      <a:accent2>
        <a:srgbClr val="404040"/>
      </a:accent2>
      <a:accent3>
        <a:srgbClr val="7F7F7F"/>
      </a:accent3>
      <a:accent4>
        <a:srgbClr val="A6A6A6"/>
      </a:accent4>
      <a:accent5>
        <a:srgbClr val="595959"/>
      </a:accent5>
      <a:accent6>
        <a:srgbClr val="BFBFBF"/>
      </a:accent6>
      <a:hlink>
        <a:srgbClr val="000000"/>
      </a:hlink>
      <a:folHlink>
        <a:srgbClr val="404040"/>
      </a:folHlink>
    </a:clrScheme>
    <a:fontScheme name="SIMATS Assessment">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SIMATS Assessment</vt:lpstr>
      <vt:lpstr>PowerPoint Presentation</vt:lpstr>
      <vt:lpstr>Scenario Based Assignment</vt:lpstr>
      <vt:lpstr>Answer 1: Drone Medicine Delivery (i–iii)</vt:lpstr>
      <vt:lpstr>PowerPoint Presentation</vt:lpstr>
      <vt:lpstr>Scenario Based Assignment</vt:lpstr>
      <vt:lpstr>Answer 2: Traffic Signal Optimization (Formulation, i–ii)</vt:lpstr>
      <vt:lpstr>PowerPoint Presentation</vt:lpstr>
      <vt:lpstr>Scenario Based Assignment</vt:lpstr>
      <vt:lpstr>Answer 3: Mars Rover (i–iii)</vt:lpstr>
      <vt:lpstr>PowerPoint Presentation</vt:lpstr>
      <vt:lpstr>Scenario Based Assignment</vt:lpstr>
      <vt:lpstr>Answer 4: Exam Timetable CSP (i–ii)</vt:lpstr>
      <vt:lpstr>PowerPoint Presentation</vt:lpstr>
      <vt:lpstr>Scenario Based Assignment</vt:lpstr>
      <vt:lpstr>Answer 5: Strategic Game AI (i–iii)</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CO2 Scenario Based Assignment - Answers</dc:title>
  <dc:subject>PptxGenJS Presentation</dc:subject>
  <dc:creator>Student</dc:creator>
  <cp:lastModifiedBy>Charith reddy Ankireddy</cp:lastModifiedBy>
  <cp:revision>2</cp:revision>
  <dcterms:created xsi:type="dcterms:W3CDTF">2026-10-22T01:13:21Z</dcterms:created>
  <dcterms:modified xsi:type="dcterms:W3CDTF">2026-10-22T08:30:12Z</dcterms:modified>
</cp:coreProperties>
</file>