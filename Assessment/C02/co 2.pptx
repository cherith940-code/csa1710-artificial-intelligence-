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1154" y="570991"/>
            <a:ext cx="1991360" cy="602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SIMATS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ENGINEERING</a:t>
            </a:r>
            <a:endParaRPr sz="140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1180"/>
              </a:spcBef>
            </a:pPr>
            <a:r>
              <a:rPr sz="1400" b="1" dirty="0">
                <a:latin typeface="Arial"/>
                <a:cs typeface="Arial"/>
              </a:rPr>
              <a:t>ASSESSMENT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TOOL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593850"/>
            <a:ext cx="5046980" cy="1692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32205" algn="l"/>
              </a:tabLst>
            </a:pPr>
            <a:r>
              <a:rPr sz="1000" b="1" dirty="0">
                <a:latin typeface="Arial"/>
                <a:cs typeface="Arial"/>
              </a:rPr>
              <a:t>COURSE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NAME:</a:t>
            </a:r>
            <a:r>
              <a:rPr sz="1000" b="1" dirty="0">
                <a:latin typeface="Arial"/>
                <a:cs typeface="Arial"/>
              </a:rPr>
              <a:t>	Artificial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Intelligence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COURSE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CODE: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CSA17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00" b="1" dirty="0">
                <a:latin typeface="Arial"/>
                <a:cs typeface="Arial"/>
              </a:rPr>
              <a:t>COURSE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OUTCOME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COVERED</a:t>
            </a:r>
            <a:endParaRPr sz="1000">
              <a:latin typeface="Arial"/>
              <a:cs typeface="Arial"/>
            </a:endParaRPr>
          </a:p>
          <a:p>
            <a:pPr marL="12700" marR="5080" algn="just">
              <a:lnSpc>
                <a:spcPct val="110000"/>
              </a:lnSpc>
              <a:spcBef>
                <a:spcPts val="1010"/>
              </a:spcBef>
            </a:pPr>
            <a:r>
              <a:rPr sz="1000" b="1" i="1" dirty="0">
                <a:latin typeface="Arial"/>
                <a:cs typeface="Arial"/>
              </a:rPr>
              <a:t>CO2:</a:t>
            </a:r>
            <a:r>
              <a:rPr sz="1000" b="1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Experiment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search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game-</a:t>
            </a:r>
            <a:r>
              <a:rPr sz="1000" i="1" dirty="0">
                <a:latin typeface="Arial"/>
                <a:cs typeface="Arial"/>
              </a:rPr>
              <a:t>solving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techniques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such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as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Greedy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Search,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A*,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CSP, </a:t>
            </a:r>
            <a:r>
              <a:rPr sz="1000" i="1" dirty="0">
                <a:latin typeface="Arial"/>
                <a:cs typeface="Arial"/>
              </a:rPr>
              <a:t>Minimax,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Alpha-</a:t>
            </a:r>
            <a:r>
              <a:rPr sz="1000" i="1" dirty="0">
                <a:latin typeface="Arial"/>
                <a:cs typeface="Arial"/>
              </a:rPr>
              <a:t>Beta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pruning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with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heuristic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functions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for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solving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complex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AI</a:t>
            </a:r>
            <a:r>
              <a:rPr sz="1000" i="1" spc="-10" dirty="0">
                <a:latin typeface="Arial"/>
                <a:cs typeface="Arial"/>
              </a:rPr>
              <a:t> problems </a:t>
            </a:r>
            <a:r>
              <a:rPr sz="1000" i="1" dirty="0">
                <a:latin typeface="Arial"/>
                <a:cs typeface="Arial"/>
              </a:rPr>
              <a:t>efficiently.</a:t>
            </a:r>
            <a:r>
              <a:rPr sz="1000" i="1" spc="-3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(BL3)</a:t>
            </a:r>
            <a:endParaRPr sz="1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125"/>
              </a:spcBef>
            </a:pPr>
            <a:r>
              <a:rPr sz="1000" i="1" dirty="0">
                <a:latin typeface="Arial"/>
                <a:cs typeface="Arial"/>
              </a:rPr>
              <a:t>Assessment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Tool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Weightage: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40%</a:t>
            </a:r>
            <a:endParaRPr sz="1000">
              <a:latin typeface="Arial"/>
              <a:cs typeface="Arial"/>
            </a:endParaRPr>
          </a:p>
          <a:p>
            <a:pPr marL="1153795">
              <a:lnSpc>
                <a:spcPct val="100000"/>
              </a:lnSpc>
              <a:spcBef>
                <a:spcPts val="1120"/>
              </a:spcBef>
            </a:pPr>
            <a:r>
              <a:rPr sz="1000" b="1" dirty="0">
                <a:latin typeface="Arial"/>
                <a:cs typeface="Arial"/>
              </a:rPr>
              <a:t>Duration: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</a:t>
            </a:r>
            <a:r>
              <a:rPr sz="1000" b="1" spc="-20" dirty="0">
                <a:latin typeface="Arial"/>
                <a:cs typeface="Arial"/>
              </a:rPr>
              <a:t> Hour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3698875"/>
            <a:ext cx="920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QUESTIONS: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5539" y="3698875"/>
            <a:ext cx="914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Total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Marks:30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3994530"/>
            <a:ext cx="687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Annexure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604" y="4584319"/>
            <a:ext cx="5295900" cy="1525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Dry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Run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Evaluation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00" b="1" i="1" dirty="0">
                <a:latin typeface="Arial"/>
                <a:cs typeface="Arial"/>
              </a:rPr>
              <a:t>Code</a:t>
            </a:r>
            <a:r>
              <a:rPr sz="1000" b="1" i="1" spc="-25" dirty="0">
                <a:latin typeface="Arial"/>
                <a:cs typeface="Arial"/>
              </a:rPr>
              <a:t> </a:t>
            </a:r>
            <a:r>
              <a:rPr sz="1000" b="1" i="1" dirty="0">
                <a:latin typeface="Arial"/>
                <a:cs typeface="Arial"/>
              </a:rPr>
              <a:t>of</a:t>
            </a:r>
            <a:r>
              <a:rPr sz="1000" b="1" i="1" spc="-20" dirty="0">
                <a:latin typeface="Arial"/>
                <a:cs typeface="Arial"/>
              </a:rPr>
              <a:t> </a:t>
            </a:r>
            <a:r>
              <a:rPr sz="1000" b="1" i="1" spc="-10" dirty="0">
                <a:latin typeface="Arial"/>
                <a:cs typeface="Arial"/>
              </a:rPr>
              <a:t>Conduct:</a:t>
            </a: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10"/>
              </a:spcBef>
            </a:pP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lang="en-US" sz="1000" i="1" spc="-30" dirty="0">
                <a:latin typeface="Arial"/>
                <a:cs typeface="Arial"/>
              </a:rPr>
              <a:t>A . </a:t>
            </a:r>
            <a:r>
              <a:rPr lang="en-US" sz="1000" i="1" spc="-30" dirty="0" err="1">
                <a:latin typeface="Arial"/>
                <a:cs typeface="Arial"/>
              </a:rPr>
              <a:t>Charith</a:t>
            </a:r>
            <a:r>
              <a:rPr lang="en-US" sz="1000" i="1" spc="-30" dirty="0">
                <a:latin typeface="Arial"/>
                <a:cs typeface="Arial"/>
              </a:rPr>
              <a:t> Reddy</a:t>
            </a:r>
            <a:r>
              <a:rPr sz="1000" i="1" dirty="0">
                <a:latin typeface="Arial"/>
                <a:cs typeface="Arial"/>
              </a:rPr>
              <a:t>(1</a:t>
            </a:r>
            <a:r>
              <a:rPr lang="en-US" sz="1000" i="1" dirty="0">
                <a:latin typeface="Arial"/>
                <a:cs typeface="Arial"/>
              </a:rPr>
              <a:t>965260111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(Name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/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Reg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No)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certify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that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this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submission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is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my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original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work</a:t>
            </a:r>
            <a:r>
              <a:rPr sz="1000" i="1" spc="-25" dirty="0">
                <a:latin typeface="Arial"/>
                <a:cs typeface="Arial"/>
              </a:rPr>
              <a:t> and </a:t>
            </a:r>
            <a:r>
              <a:rPr sz="1000" i="1" dirty="0">
                <a:latin typeface="Arial"/>
                <a:cs typeface="Arial"/>
              </a:rPr>
              <a:t>that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have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adhered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to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the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guidelines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specified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for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this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assessment.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understand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that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any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violation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of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academic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integrity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rules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will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result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in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disciplinary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action.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00" b="1" i="1" dirty="0">
                <a:latin typeface="Arial"/>
                <a:cs typeface="Arial"/>
              </a:rPr>
              <a:t>Signature</a:t>
            </a:r>
            <a:r>
              <a:rPr sz="1000" b="1" i="1" spc="-20" dirty="0">
                <a:latin typeface="Arial"/>
                <a:cs typeface="Arial"/>
              </a:rPr>
              <a:t> </a:t>
            </a:r>
            <a:r>
              <a:rPr sz="1000" b="1" i="1" dirty="0">
                <a:latin typeface="Arial"/>
                <a:cs typeface="Arial"/>
              </a:rPr>
              <a:t>of</a:t>
            </a:r>
            <a:r>
              <a:rPr sz="1000" b="1" i="1" spc="-15" dirty="0">
                <a:latin typeface="Arial"/>
                <a:cs typeface="Arial"/>
              </a:rPr>
              <a:t> </a:t>
            </a:r>
            <a:r>
              <a:rPr sz="1000" b="1" i="1" dirty="0">
                <a:latin typeface="Arial"/>
                <a:cs typeface="Arial"/>
              </a:rPr>
              <a:t>the</a:t>
            </a:r>
            <a:r>
              <a:rPr sz="1000" b="1" i="1" spc="-25" dirty="0">
                <a:latin typeface="Arial"/>
                <a:cs typeface="Arial"/>
              </a:rPr>
              <a:t> </a:t>
            </a:r>
            <a:r>
              <a:rPr sz="1000" b="1" i="1" spc="-10" dirty="0">
                <a:latin typeface="Arial"/>
                <a:cs typeface="Arial"/>
              </a:rPr>
              <a:t>student</a:t>
            </a:r>
            <a:r>
              <a:rPr lang="en-US" sz="1000" b="1" i="1" spc="-10" dirty="0">
                <a:latin typeface="Arial"/>
                <a:cs typeface="Arial"/>
              </a:rPr>
              <a:t>: A. </a:t>
            </a:r>
            <a:r>
              <a:rPr lang="en-US" sz="1000" b="1" i="1" spc="-10" dirty="0" err="1">
                <a:latin typeface="Arial"/>
                <a:cs typeface="Arial"/>
              </a:rPr>
              <a:t>Charith</a:t>
            </a:r>
            <a:r>
              <a:rPr lang="en-US" sz="1000" b="1" i="1" spc="-10" dirty="0">
                <a:latin typeface="Arial"/>
                <a:cs typeface="Arial"/>
              </a:rPr>
              <a:t> Reddy 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519667"/>
            <a:ext cx="5009515" cy="48196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Question</a:t>
            </a:r>
            <a:r>
              <a:rPr sz="1400" b="1" spc="-1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1</a:t>
            </a:r>
            <a:r>
              <a:rPr sz="1400" b="1" spc="-2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–</a:t>
            </a:r>
            <a:r>
              <a:rPr sz="1400" b="1" spc="-2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65F91"/>
                </a:solidFill>
                <a:latin typeface="Calibri"/>
                <a:cs typeface="Calibri"/>
              </a:rPr>
              <a:t>Breadth-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First</a:t>
            </a:r>
            <a:r>
              <a:rPr sz="1400" b="1" spc="-1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Search</a:t>
            </a:r>
            <a:r>
              <a:rPr sz="1400" b="1" spc="-1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365F91"/>
                </a:solidFill>
                <a:latin typeface="Calibri"/>
                <a:cs typeface="Calibri"/>
              </a:rPr>
              <a:t>(BFS)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latin typeface="Arial"/>
                <a:cs typeface="Arial"/>
              </a:rPr>
              <a:t>Graph: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(B,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C),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(D,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E),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(F,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G).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Assume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children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visited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left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right.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40256" y="1138682"/>
          <a:ext cx="557022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Iteration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Queue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(front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→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rear)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Visited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Node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[B,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C]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[C,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D,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E]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[D,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E,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F,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[E,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F,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[F,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Arial"/>
                          <a:cs typeface="Arial"/>
                        </a:rPr>
                        <a:t>[G]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Arial"/>
                          <a:cs typeface="Arial"/>
                        </a:rPr>
                        <a:t>[]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30604" y="2343657"/>
            <a:ext cx="5335270" cy="153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2400" algn="l"/>
              </a:tabLst>
            </a:pPr>
            <a:r>
              <a:rPr sz="1000" dirty="0">
                <a:latin typeface="Arial"/>
                <a:cs typeface="Arial"/>
              </a:rPr>
              <a:t>BFS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traversal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A, B,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D, E,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G.</a:t>
            </a:r>
            <a:endParaRPr sz="1000">
              <a:latin typeface="Arial"/>
              <a:cs typeface="Arial"/>
            </a:endParaRPr>
          </a:p>
          <a:p>
            <a:pPr marL="12700" marR="5080" indent="139700">
              <a:lnSpc>
                <a:spcPct val="110000"/>
              </a:lnSpc>
              <a:spcBef>
                <a:spcPts val="1010"/>
              </a:spcBef>
              <a:buAutoNum type="arabicPeriod"/>
              <a:tabLst>
                <a:tab pos="152400" algn="l"/>
              </a:tabLst>
            </a:pPr>
            <a:r>
              <a:rPr sz="1000" dirty="0">
                <a:latin typeface="Arial"/>
                <a:cs typeface="Arial"/>
              </a:rPr>
              <a:t>Queue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contents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iteration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table.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queue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FIFO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(First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First Out).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Question</a:t>
            </a:r>
            <a:r>
              <a:rPr sz="1400" b="1" spc="-1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2</a:t>
            </a:r>
            <a:r>
              <a:rPr sz="1400" b="1" spc="-2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–</a:t>
            </a:r>
            <a:r>
              <a:rPr sz="1400" b="1" spc="-2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65F91"/>
                </a:solidFill>
                <a:latin typeface="Calibri"/>
                <a:cs typeface="Calibri"/>
              </a:rPr>
              <a:t>Depth-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First</a:t>
            </a:r>
            <a:r>
              <a:rPr sz="1400" b="1" spc="-1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Search</a:t>
            </a:r>
            <a:r>
              <a:rPr sz="1400" b="1" spc="-1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365F91"/>
                </a:solidFill>
                <a:latin typeface="Calibri"/>
                <a:cs typeface="Calibri"/>
              </a:rPr>
              <a:t>(DFS)</a:t>
            </a:r>
            <a:endParaRPr sz="1400">
              <a:latin typeface="Calibri"/>
              <a:cs typeface="Calibri"/>
            </a:endParaRPr>
          </a:p>
          <a:p>
            <a:pPr marL="12700" marR="610235">
              <a:lnSpc>
                <a:spcPct val="110000"/>
              </a:lnSpc>
              <a:spcBef>
                <a:spcPts val="160"/>
              </a:spcBef>
            </a:pPr>
            <a:r>
              <a:rPr sz="1000" dirty="0">
                <a:latin typeface="Arial"/>
                <a:cs typeface="Arial"/>
              </a:rPr>
              <a:t>Using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left-to-</a:t>
            </a:r>
            <a:r>
              <a:rPr sz="1000" dirty="0">
                <a:latin typeface="Arial"/>
                <a:cs typeface="Arial"/>
              </a:rPr>
              <a:t>right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traversal,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DFS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explores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branch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deeply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 possible</a:t>
            </a:r>
            <a:r>
              <a:rPr sz="1000" spc="-10" dirty="0">
                <a:latin typeface="Arial"/>
                <a:cs typeface="Arial"/>
              </a:rPr>
              <a:t> before backtracking.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71676" y="4013326"/>
          <a:ext cx="557022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Arial"/>
                          <a:cs typeface="Arial"/>
                        </a:rPr>
                        <a:t>Step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Node</a:t>
                      </a:r>
                      <a:r>
                        <a:rPr sz="10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visited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Stack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(top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right;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simplified)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Arial"/>
                          <a:cs typeface="Arial"/>
                        </a:rPr>
                        <a:t>[A]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[A,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B]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[A,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D]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[A,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B, E]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after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backtracking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[A,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C] after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backtracking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[A,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C,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F]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[A,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C,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30604" y="5218557"/>
            <a:ext cx="5412740" cy="3087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DFS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traversal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order: A,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E, C,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G.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Question</a:t>
            </a:r>
            <a:r>
              <a:rPr sz="1400" b="1" spc="-2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3</a:t>
            </a:r>
            <a:r>
              <a:rPr sz="1400" b="1" spc="-3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–</a:t>
            </a:r>
            <a:r>
              <a:rPr sz="1400" b="1" spc="-3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65F91"/>
                </a:solidFill>
                <a:latin typeface="Calibri"/>
                <a:cs typeface="Calibri"/>
              </a:rPr>
              <a:t>8-</a:t>
            </a:r>
            <a:r>
              <a:rPr sz="1400" b="1" dirty="0">
                <a:solidFill>
                  <a:srgbClr val="365F91"/>
                </a:solidFill>
                <a:latin typeface="Calibri"/>
                <a:cs typeface="Calibri"/>
              </a:rPr>
              <a:t>Puzzle:</a:t>
            </a:r>
            <a:r>
              <a:rPr sz="1400" b="1" spc="-3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65F91"/>
                </a:solidFill>
                <a:latin typeface="Calibri"/>
                <a:cs typeface="Calibri"/>
              </a:rPr>
              <a:t>BFS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Arial"/>
                <a:cs typeface="Arial"/>
              </a:rPr>
              <a:t>Initial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state: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Arial"/>
                <a:cs typeface="Arial"/>
              </a:rPr>
              <a:t>1</a:t>
            </a:r>
            <a:r>
              <a:rPr sz="1000" spc="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dirty="0">
                <a:latin typeface="Arial"/>
                <a:cs typeface="Arial"/>
              </a:rPr>
              <a:t>5</a:t>
            </a:r>
            <a:r>
              <a:rPr sz="1000" spc="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Arial"/>
                <a:cs typeface="Arial"/>
              </a:rPr>
              <a:t>4</a:t>
            </a:r>
            <a:r>
              <a:rPr sz="1000" spc="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7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Arial"/>
                <a:cs typeface="Arial"/>
              </a:rPr>
              <a:t>Goal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state: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000" dirty="0">
                <a:latin typeface="Arial"/>
                <a:cs typeface="Arial"/>
              </a:rPr>
              <a:t>1</a:t>
            </a:r>
            <a:r>
              <a:rPr sz="1000" spc="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Arial"/>
                <a:cs typeface="Arial"/>
              </a:rPr>
              <a:t>4</a:t>
            </a:r>
            <a:r>
              <a:rPr sz="1000" spc="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Arial"/>
                <a:cs typeface="Arial"/>
              </a:rPr>
              <a:t>7</a:t>
            </a:r>
            <a:r>
              <a:rPr sz="1000" spc="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0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five-</a:t>
            </a:r>
            <a:r>
              <a:rPr sz="1000" dirty="0">
                <a:latin typeface="Arial"/>
                <a:cs typeface="Arial"/>
              </a:rPr>
              <a:t>row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table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question 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enough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goal: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 </a:t>
            </a:r>
            <a:r>
              <a:rPr sz="1000" dirty="0">
                <a:latin typeface="Arial"/>
                <a:cs typeface="Arial"/>
              </a:rPr>
              <a:t>(eight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moves).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five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removed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BFS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queue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listed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below.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Queue </a:t>
            </a:r>
            <a:r>
              <a:rPr sz="1000" dirty="0">
                <a:latin typeface="Arial"/>
                <a:cs typeface="Arial"/>
              </a:rPr>
              <a:t>contents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abbreviated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avoid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listing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hundreds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BFS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stores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FIFO</a:t>
            </a:r>
            <a:r>
              <a:rPr sz="1000" spc="-10" dirty="0">
                <a:latin typeface="Arial"/>
                <a:cs typeface="Arial"/>
              </a:rPr>
              <a:t> order.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71676" y="8444230"/>
          <a:ext cx="5570220" cy="894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Iteration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Current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expanded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46990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Queue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after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expansion (summary)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5 0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09550">
                        <a:lnSpc>
                          <a:spcPct val="955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New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states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moving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blank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Up,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Down, Left,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Right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(valid</a:t>
                      </a:r>
                      <a:r>
                        <a:rPr sz="1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moves</a:t>
                      </a:r>
                      <a:r>
                        <a:rPr sz="1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only)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5 2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Previously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queued</a:t>
                      </a:r>
                      <a:r>
                        <a:rPr sz="1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states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71676" y="594359"/>
          <a:ext cx="5570220" cy="1484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2446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remain</a:t>
                      </a:r>
                      <a:r>
                        <a:rPr sz="10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first;</a:t>
                      </a:r>
                      <a:r>
                        <a:rPr sz="10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newly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generated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states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appended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5 2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441325" algn="just">
                        <a:lnSpc>
                          <a:spcPct val="955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FIFO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order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maintained;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repeated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states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not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added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again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5 2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03505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Unexpanded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states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remain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front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newly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generated states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5 0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36525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Successors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appended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3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rear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queue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30604" y="2066289"/>
            <a:ext cx="5506720" cy="5019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39700" algn="just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2400" algn="l"/>
              </a:tabLst>
            </a:pPr>
            <a:r>
              <a:rPr sz="1000" dirty="0">
                <a:latin typeface="Arial"/>
                <a:cs typeface="Arial"/>
              </a:rPr>
              <a:t>Nodes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expanded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iterations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five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current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table.</a:t>
            </a:r>
            <a:endParaRPr sz="1000">
              <a:latin typeface="Arial"/>
              <a:cs typeface="Arial"/>
            </a:endParaRPr>
          </a:p>
          <a:p>
            <a:pPr marL="12700" marR="28575" indent="139700" algn="just">
              <a:lnSpc>
                <a:spcPct val="110000"/>
              </a:lnSpc>
              <a:spcBef>
                <a:spcPts val="1010"/>
              </a:spcBef>
              <a:buAutoNum type="arabicPeriod"/>
              <a:tabLst>
                <a:tab pos="15240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expanding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311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left/up/down/right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neighbor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ordering; </a:t>
            </a:r>
            <a:r>
              <a:rPr sz="1000" dirty="0">
                <a:latin typeface="Arial"/>
                <a:cs typeface="Arial"/>
              </a:rPr>
              <a:t>500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distinct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 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discovered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(including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initial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before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dequeued.</a:t>
            </a:r>
            <a:r>
              <a:rPr sz="1000" spc="-10" dirty="0">
                <a:latin typeface="Arial"/>
                <a:cs typeface="Arial"/>
              </a:rPr>
              <a:t> Counts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legal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moves 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changed.</a:t>
            </a:r>
            <a:endParaRPr sz="1000">
              <a:latin typeface="Arial"/>
              <a:cs typeface="Arial"/>
            </a:endParaRPr>
          </a:p>
          <a:p>
            <a:pPr marL="12700" marR="63500" indent="139700" algn="just">
              <a:lnSpc>
                <a:spcPct val="110000"/>
              </a:lnSpc>
              <a:spcBef>
                <a:spcPts val="1010"/>
              </a:spcBef>
              <a:buAutoNum type="arabicPeriod"/>
              <a:tabLst>
                <a:tab pos="152400" algn="l"/>
              </a:tabLst>
            </a:pPr>
            <a:r>
              <a:rPr sz="1000" dirty="0">
                <a:latin typeface="Arial"/>
                <a:cs typeface="Arial"/>
              </a:rPr>
              <a:t>One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shortest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(blank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movement):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Right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Up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Left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Left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→ </a:t>
            </a:r>
            <a:r>
              <a:rPr sz="1000" dirty="0">
                <a:latin typeface="Arial"/>
                <a:cs typeface="Arial"/>
              </a:rPr>
              <a:t>Right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→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Right.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Arial"/>
                <a:cs typeface="Arial"/>
              </a:rPr>
              <a:t>Initial: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5 0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 4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7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000" dirty="0">
                <a:latin typeface="Arial"/>
                <a:cs typeface="Arial"/>
              </a:rPr>
              <a:t>Step 1: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3 6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 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4 7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Arial"/>
                <a:cs typeface="Arial"/>
              </a:rPr>
              <a:t>Step 2: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3 0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 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4 7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000" dirty="0">
                <a:latin typeface="Arial"/>
                <a:cs typeface="Arial"/>
              </a:rPr>
              <a:t>Step 3: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0 3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 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4 7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000" dirty="0">
                <a:latin typeface="Arial"/>
                <a:cs typeface="Arial"/>
              </a:rPr>
              <a:t>Step 4: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2 3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 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4 7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000" dirty="0">
                <a:latin typeface="Arial"/>
                <a:cs typeface="Arial"/>
              </a:rPr>
              <a:t>Step 5: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2 3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 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4 7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000" dirty="0">
                <a:latin typeface="Arial"/>
                <a:cs typeface="Arial"/>
              </a:rPr>
              <a:t>Step 6: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2 3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 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0 7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000" dirty="0">
                <a:latin typeface="Arial"/>
                <a:cs typeface="Arial"/>
              </a:rPr>
              <a:t>Step 7: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2 3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 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7 0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000" dirty="0">
                <a:latin typeface="Arial"/>
                <a:cs typeface="Arial"/>
              </a:rPr>
              <a:t>Goal: 1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2 3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7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marL="12700" marR="300990" indent="139700">
              <a:lnSpc>
                <a:spcPct val="110000"/>
              </a:lnSpc>
              <a:spcBef>
                <a:spcPts val="994"/>
              </a:spcBef>
              <a:buAutoNum type="arabicPeriod" startAt="4"/>
              <a:tabLst>
                <a:tab pos="152400" algn="l"/>
              </a:tabLst>
            </a:pPr>
            <a:r>
              <a:rPr sz="1000" dirty="0">
                <a:latin typeface="Arial"/>
                <a:cs typeface="Arial"/>
              </a:rPr>
              <a:t>BFS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finds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shortest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solution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unweighted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8-puzzle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because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explores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in </a:t>
            </a:r>
            <a:r>
              <a:rPr sz="1000" dirty="0">
                <a:latin typeface="Arial"/>
                <a:cs typeface="Arial"/>
              </a:rPr>
              <a:t>increasing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depth.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move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equal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minimum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moves.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10"/>
              </a:spcBef>
            </a:pPr>
            <a:r>
              <a:rPr sz="1000" dirty="0">
                <a:latin typeface="Arial"/>
                <a:cs typeface="Arial"/>
              </a:rPr>
              <a:t>Note: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8-</a:t>
            </a:r>
            <a:r>
              <a:rPr sz="1000" dirty="0">
                <a:latin typeface="Arial"/>
                <a:cs typeface="Arial"/>
              </a:rPr>
              <a:t>puzzle,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original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worksheet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provides only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table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rows,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although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requires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expansions.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full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shortest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explanation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included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here.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python-docx</dc:creator>
  <cp:lastModifiedBy>Charith reddy Ankireddy</cp:lastModifiedBy>
  <cp:revision>1</cp:revision>
  <dcterms:created xsi:type="dcterms:W3CDTF">2026-10-22T11:38:13Z</dcterms:created>
  <dcterms:modified xsi:type="dcterms:W3CDTF">2026-10-24T02:10:12Z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2026-10-21T00:00:00Z</vt:filetime>
  </property>
  <property fmtid="{D5CDD505-2E9C-101B-9397-08002B2CF9AE}" pid="4" name="Creator">
    <vt:lpwstr>Microsoft® Word 2024</vt:lpwstr>
  </property>
  <property fmtid="{D5CDD505-2E9C-101B-9397-08002B2CF9AE}" pid="5" name="LastSaved">
    <vt:filetime>2026-10-22T00:00:00Z</vt:filetime>
  </property>
  <property fmtid="{D5CDD505-2E9C-101B-9397-08002B2CF9AE}" pid="6" name="Producer">
    <vt:lpwstr>Microsoft® Word 2024</vt:lpwstr>
  </property>
</Properties>
</file>